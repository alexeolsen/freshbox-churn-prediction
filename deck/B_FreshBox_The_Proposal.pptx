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3.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4.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5.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notesSlides/notesSlide6.xml" ContentType="application/vnd.openxmlformats-officedocument.presentationml.notesSlide+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handoutMasterIdLst>
    <p:handoutMasterId r:id="rId10"/>
  </p:handoutMasterIdLst>
  <p:sldIdLst>
    <p:sldId id="256" r:id="rId2"/>
    <p:sldId id="257" r:id="rId3"/>
    <p:sldId id="263" r:id="rId4"/>
    <p:sldId id="259" r:id="rId5"/>
    <p:sldId id="260" r:id="rId6"/>
    <p:sldId id="258" r:id="rId7"/>
    <p:sldId id="264"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663"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1D0BA3-3CEF-1A26-6900-3B95FF67EACF}"/>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044E74F4-BDB4-BBAD-6A72-24887976571F}"/>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3EB9B450-CE3A-4A96-82F3-6345A01A9888}" type="datetimeFigureOut">
              <a:rPr lang="en-GB" smtClean="0"/>
              <a:t>28/04/2026</a:t>
            </a:fld>
            <a:endParaRPr lang="en-GB"/>
          </a:p>
        </p:txBody>
      </p:sp>
      <p:sp>
        <p:nvSpPr>
          <p:cNvPr id="4" name="Footer Placeholder 3">
            <a:extLst>
              <a:ext uri="{FF2B5EF4-FFF2-40B4-BE49-F238E27FC236}">
                <a16:creationId xmlns:a16="http://schemas.microsoft.com/office/drawing/2014/main" id="{F1786E4A-4460-0F64-B7B5-66C03AAA295E}"/>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66437500-FBF1-7C72-0689-BEE341348AC6}"/>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B732258D-3F92-420B-B55A-15825FF51336}" type="slidenum">
              <a:rPr lang="en-GB" smtClean="0"/>
              <a:t>‹#›</a:t>
            </a:fld>
            <a:endParaRPr lang="en-GB"/>
          </a:p>
        </p:txBody>
      </p:sp>
    </p:spTree>
    <p:extLst>
      <p:ext uri="{BB962C8B-B14F-4D97-AF65-F5344CB8AC3E}">
        <p14:creationId xmlns:p14="http://schemas.microsoft.com/office/powerpoint/2010/main" val="8057421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940576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PROBLEM STATEMENT - SPEAKER NOTES
Business Context (30 seconds):
FreshBox has ~80,000 active subscribers across three plan tiers (Classic, Family, Veggie). Growth has been driven by aggressive discounted acquisition, but churn of 65-70% within six months is undermining unit economics. Currently running blanket retention campaigns with no ability to distinguish recoverable from unrecoverable churn.
Data Inputs Required:
- Customer master data: sign-up date, acquisition channel, initial discount tier, demographics
- Subscription data: plan type, meals per week, price tier, invoice history
- Behavioural data: skip/pause frequency, recipe ratings, menu customisation, support tickets, delivery complaints
- Financial data: average order value, discount dependency, total lifetime revenue
- Churn labels: cancellation date and reason (where captured)
Delivery tip: Structure as 30s business context, 60s key questions, 45s data inputs, 45s success criteria.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COMMERCIAL IMPACT - SPEAKER NOTES
Unit metric to memorise: £320k per 1pp churn improvement.
If challenged on the 8-week assumption: "This is the conservative floor. If even a portion of these customers convert to the loyal segment that stays 2+ years, the actual value is multiples of this."
If challenged on margin: "Revenue figures are gross. At 35% contribution margin the impact is roughly a third. We'd validate the exact margin with your finance team in the Map phase."
Benchmark context: HelloFresh 6-month churn ~83-85%, Gousto ~70-75%, Riverford ~20%+ 12-month retention. A 5-10pp improvement is realistic, not aspirational.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SOLUTION OVERVIEW - SPEAKER NOTES
Map-Identify-Build-Deploy philosophy: Being strategic about what you build matters more than the ability to build it.
Technical detail for Q&amp;A:
- Why both logistic regression AND XGBoost? Interpretability vs. accuracy trade-off.
- Why time-based split? Prevents data leakage from temporal patterns.
- What are SHAP values? They show which factors pushed each customer's score up or down.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DELIVERY PLAN - SPEAKER NOTES
Key framing: Phase 1 proves the model works with real customers. Phase 2 embeds it permanently. The CFO gets a go/no-go decision point between phases.
Retention Pilot (Weeks 4-6) is half the engagement. This signals that proving commercial value matters more than building the model.
Phase 2 (CRM Integration) is conditional on Phase 1 results. If save rates don't hit targets, you iterate on the model rather than scaling something that doesn't work.
Sprint rhythm: Planning Monday, working sessions Tue-Thu, demo Friday.
Key Risks (back pocket for Q&amp;A):
1. Data access delays (Medium) - engage FD in Week 0
2. Churn reason data incomplete (High) - use behavioural proxies
3. Low model performance (Low) - reframe as segmentation tool
4. Low adoption (Medium) - Ops Lead involved from Week 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ROLES &amp; RESPONSIBILITIES - SPEAKER NOTES
Key message: Governance is lightweight but structured.
Finance Director is the make-or-break relationship day-to-day.
Weekly steering with CFO ensures senior buy-in stays active throughout.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CLOSING - SPEAKER NOTES
Questions to ask:
1. How does QuantSpark handle handoff from prototype to production?
2. What does a successful first 90 days look like?
3. How do you balance strategic consulting with pressure to build quickly?
4. What's the typical split between Labs Discovery and Full Build?
5. How do you measure engagement success beyond technical deliverables?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notesSlide" Target="../notesSlides/notesSlide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1.xml"/><Relationship Id="rId5" Type="http://schemas.openxmlformats.org/officeDocument/2006/relationships/tags" Target="../tags/tag5.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18" Type="http://schemas.openxmlformats.org/officeDocument/2006/relationships/tags" Target="../tags/tag23.xml"/><Relationship Id="rId3" Type="http://schemas.openxmlformats.org/officeDocument/2006/relationships/tags" Target="../tags/tag8.xml"/><Relationship Id="rId21" Type="http://schemas.openxmlformats.org/officeDocument/2006/relationships/slideLayout" Target="../slideLayouts/slideLayout1.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tags" Target="../tags/tag22.xml"/><Relationship Id="rId25" Type="http://schemas.openxmlformats.org/officeDocument/2006/relationships/image" Target="../media/image3.png"/><Relationship Id="rId2" Type="http://schemas.openxmlformats.org/officeDocument/2006/relationships/tags" Target="../tags/tag7.xml"/><Relationship Id="rId16" Type="http://schemas.openxmlformats.org/officeDocument/2006/relationships/tags" Target="../tags/tag21.xml"/><Relationship Id="rId20" Type="http://schemas.openxmlformats.org/officeDocument/2006/relationships/tags" Target="../tags/tag25.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24" Type="http://schemas.openxmlformats.org/officeDocument/2006/relationships/image" Target="../media/image2.png"/><Relationship Id="rId5" Type="http://schemas.openxmlformats.org/officeDocument/2006/relationships/tags" Target="../tags/tag10.xml"/><Relationship Id="rId15" Type="http://schemas.openxmlformats.org/officeDocument/2006/relationships/tags" Target="../tags/tag20.xml"/><Relationship Id="rId23" Type="http://schemas.openxmlformats.org/officeDocument/2006/relationships/image" Target="../media/image1.png"/><Relationship Id="rId10" Type="http://schemas.openxmlformats.org/officeDocument/2006/relationships/tags" Target="../tags/tag15.xml"/><Relationship Id="rId19" Type="http://schemas.openxmlformats.org/officeDocument/2006/relationships/tags" Target="../tags/tag24.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tags" Target="../tags/tag38.xml"/><Relationship Id="rId18" Type="http://schemas.openxmlformats.org/officeDocument/2006/relationships/notesSlide" Target="../notesSlides/notesSlide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tags" Target="../tags/tag37.xml"/><Relationship Id="rId17" Type="http://schemas.openxmlformats.org/officeDocument/2006/relationships/slideLayout" Target="../slideLayouts/slideLayout1.xml"/><Relationship Id="rId2" Type="http://schemas.openxmlformats.org/officeDocument/2006/relationships/tags" Target="../tags/tag27.xml"/><Relationship Id="rId16" Type="http://schemas.openxmlformats.org/officeDocument/2006/relationships/tags" Target="../tags/tag41.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5" Type="http://schemas.openxmlformats.org/officeDocument/2006/relationships/tags" Target="../tags/tag30.xml"/><Relationship Id="rId15" Type="http://schemas.openxmlformats.org/officeDocument/2006/relationships/tags" Target="../tags/tag40.xml"/><Relationship Id="rId10" Type="http://schemas.openxmlformats.org/officeDocument/2006/relationships/tags" Target="../tags/tag35.xml"/><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tags" Target="../tags/tag39.xml"/></Relationships>
</file>

<file path=ppt/slides/_rels/slide4.xml.rels><?xml version="1.0" encoding="UTF-8" standalone="yes"?>
<Relationships xmlns="http://schemas.openxmlformats.org/package/2006/relationships"><Relationship Id="rId13" Type="http://schemas.openxmlformats.org/officeDocument/2006/relationships/tags" Target="../tags/tag54.xml"/><Relationship Id="rId18" Type="http://schemas.openxmlformats.org/officeDocument/2006/relationships/tags" Target="../tags/tag59.xml"/><Relationship Id="rId26" Type="http://schemas.openxmlformats.org/officeDocument/2006/relationships/tags" Target="../tags/tag67.xml"/><Relationship Id="rId3" Type="http://schemas.openxmlformats.org/officeDocument/2006/relationships/tags" Target="../tags/tag44.xml"/><Relationship Id="rId21" Type="http://schemas.openxmlformats.org/officeDocument/2006/relationships/tags" Target="../tags/tag62.xml"/><Relationship Id="rId34" Type="http://schemas.openxmlformats.org/officeDocument/2006/relationships/image" Target="../media/image5.png"/><Relationship Id="rId7" Type="http://schemas.openxmlformats.org/officeDocument/2006/relationships/tags" Target="../tags/tag48.xml"/><Relationship Id="rId12" Type="http://schemas.openxmlformats.org/officeDocument/2006/relationships/tags" Target="../tags/tag53.xml"/><Relationship Id="rId17" Type="http://schemas.openxmlformats.org/officeDocument/2006/relationships/tags" Target="../tags/tag58.xml"/><Relationship Id="rId25" Type="http://schemas.openxmlformats.org/officeDocument/2006/relationships/tags" Target="../tags/tag66.xml"/><Relationship Id="rId33" Type="http://schemas.openxmlformats.org/officeDocument/2006/relationships/image" Target="../media/image4.png"/><Relationship Id="rId2" Type="http://schemas.openxmlformats.org/officeDocument/2006/relationships/tags" Target="../tags/tag43.xml"/><Relationship Id="rId16" Type="http://schemas.openxmlformats.org/officeDocument/2006/relationships/tags" Target="../tags/tag57.xml"/><Relationship Id="rId20" Type="http://schemas.openxmlformats.org/officeDocument/2006/relationships/tags" Target="../tags/tag61.xml"/><Relationship Id="rId29" Type="http://schemas.openxmlformats.org/officeDocument/2006/relationships/tags" Target="../tags/tag70.xml"/><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tags" Target="../tags/tag52.xml"/><Relationship Id="rId24" Type="http://schemas.openxmlformats.org/officeDocument/2006/relationships/tags" Target="../tags/tag65.xml"/><Relationship Id="rId32" Type="http://schemas.openxmlformats.org/officeDocument/2006/relationships/notesSlide" Target="../notesSlides/notesSlide4.xml"/><Relationship Id="rId5" Type="http://schemas.openxmlformats.org/officeDocument/2006/relationships/tags" Target="../tags/tag46.xml"/><Relationship Id="rId15" Type="http://schemas.openxmlformats.org/officeDocument/2006/relationships/tags" Target="../tags/tag56.xml"/><Relationship Id="rId23" Type="http://schemas.openxmlformats.org/officeDocument/2006/relationships/tags" Target="../tags/tag64.xml"/><Relationship Id="rId28" Type="http://schemas.openxmlformats.org/officeDocument/2006/relationships/tags" Target="../tags/tag69.xml"/><Relationship Id="rId36" Type="http://schemas.openxmlformats.org/officeDocument/2006/relationships/image" Target="../media/image7.png"/><Relationship Id="rId10" Type="http://schemas.openxmlformats.org/officeDocument/2006/relationships/tags" Target="../tags/tag51.xml"/><Relationship Id="rId19" Type="http://schemas.openxmlformats.org/officeDocument/2006/relationships/tags" Target="../tags/tag60.xml"/><Relationship Id="rId31" Type="http://schemas.openxmlformats.org/officeDocument/2006/relationships/slideLayout" Target="../slideLayouts/slideLayout1.xml"/><Relationship Id="rId4" Type="http://schemas.openxmlformats.org/officeDocument/2006/relationships/tags" Target="../tags/tag45.xml"/><Relationship Id="rId9" Type="http://schemas.openxmlformats.org/officeDocument/2006/relationships/tags" Target="../tags/tag50.xml"/><Relationship Id="rId14" Type="http://schemas.openxmlformats.org/officeDocument/2006/relationships/tags" Target="../tags/tag55.xml"/><Relationship Id="rId22" Type="http://schemas.openxmlformats.org/officeDocument/2006/relationships/tags" Target="../tags/tag63.xml"/><Relationship Id="rId27" Type="http://schemas.openxmlformats.org/officeDocument/2006/relationships/tags" Target="../tags/tag68.xml"/><Relationship Id="rId30" Type="http://schemas.openxmlformats.org/officeDocument/2006/relationships/tags" Target="../tags/tag71.xml"/><Relationship Id="rId35" Type="http://schemas.openxmlformats.org/officeDocument/2006/relationships/image" Target="../media/image6.png"/><Relationship Id="rId8" Type="http://schemas.openxmlformats.org/officeDocument/2006/relationships/tags" Target="../tags/tag49.xml"/></Relationships>
</file>

<file path=ppt/slides/_rels/slide5.xml.rels><?xml version="1.0" encoding="UTF-8" standalone="yes"?>
<Relationships xmlns="http://schemas.openxmlformats.org/package/2006/relationships"><Relationship Id="rId8" Type="http://schemas.openxmlformats.org/officeDocument/2006/relationships/tags" Target="../tags/tag79.xml"/><Relationship Id="rId13" Type="http://schemas.openxmlformats.org/officeDocument/2006/relationships/tags" Target="../tags/tag84.xml"/><Relationship Id="rId18" Type="http://schemas.openxmlformats.org/officeDocument/2006/relationships/tags" Target="../tags/tag89.xml"/><Relationship Id="rId26" Type="http://schemas.openxmlformats.org/officeDocument/2006/relationships/tags" Target="../tags/tag97.xml"/><Relationship Id="rId3" Type="http://schemas.openxmlformats.org/officeDocument/2006/relationships/tags" Target="../tags/tag74.xml"/><Relationship Id="rId21" Type="http://schemas.openxmlformats.org/officeDocument/2006/relationships/tags" Target="../tags/tag92.xml"/><Relationship Id="rId7" Type="http://schemas.openxmlformats.org/officeDocument/2006/relationships/tags" Target="../tags/tag78.xml"/><Relationship Id="rId12" Type="http://schemas.openxmlformats.org/officeDocument/2006/relationships/tags" Target="../tags/tag83.xml"/><Relationship Id="rId17" Type="http://schemas.openxmlformats.org/officeDocument/2006/relationships/tags" Target="../tags/tag88.xml"/><Relationship Id="rId25" Type="http://schemas.openxmlformats.org/officeDocument/2006/relationships/tags" Target="../tags/tag96.xml"/><Relationship Id="rId2" Type="http://schemas.openxmlformats.org/officeDocument/2006/relationships/tags" Target="../tags/tag73.xml"/><Relationship Id="rId16" Type="http://schemas.openxmlformats.org/officeDocument/2006/relationships/tags" Target="../tags/tag87.xml"/><Relationship Id="rId20" Type="http://schemas.openxmlformats.org/officeDocument/2006/relationships/tags" Target="../tags/tag91.xml"/><Relationship Id="rId1" Type="http://schemas.openxmlformats.org/officeDocument/2006/relationships/tags" Target="../tags/tag72.xml"/><Relationship Id="rId6" Type="http://schemas.openxmlformats.org/officeDocument/2006/relationships/tags" Target="../tags/tag77.xml"/><Relationship Id="rId11" Type="http://schemas.openxmlformats.org/officeDocument/2006/relationships/tags" Target="../tags/tag82.xml"/><Relationship Id="rId24" Type="http://schemas.openxmlformats.org/officeDocument/2006/relationships/tags" Target="../tags/tag95.xml"/><Relationship Id="rId5" Type="http://schemas.openxmlformats.org/officeDocument/2006/relationships/tags" Target="../tags/tag76.xml"/><Relationship Id="rId15" Type="http://schemas.openxmlformats.org/officeDocument/2006/relationships/tags" Target="../tags/tag86.xml"/><Relationship Id="rId23" Type="http://schemas.openxmlformats.org/officeDocument/2006/relationships/tags" Target="../tags/tag94.xml"/><Relationship Id="rId28" Type="http://schemas.openxmlformats.org/officeDocument/2006/relationships/notesSlide" Target="../notesSlides/notesSlide5.xml"/><Relationship Id="rId10" Type="http://schemas.openxmlformats.org/officeDocument/2006/relationships/tags" Target="../tags/tag81.xml"/><Relationship Id="rId19" Type="http://schemas.openxmlformats.org/officeDocument/2006/relationships/tags" Target="../tags/tag90.xml"/><Relationship Id="rId4" Type="http://schemas.openxmlformats.org/officeDocument/2006/relationships/tags" Target="../tags/tag75.xml"/><Relationship Id="rId9" Type="http://schemas.openxmlformats.org/officeDocument/2006/relationships/tags" Target="../tags/tag80.xml"/><Relationship Id="rId14" Type="http://schemas.openxmlformats.org/officeDocument/2006/relationships/tags" Target="../tags/tag85.xml"/><Relationship Id="rId22" Type="http://schemas.openxmlformats.org/officeDocument/2006/relationships/tags" Target="../tags/tag93.xml"/><Relationship Id="rId27"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3" Type="http://schemas.openxmlformats.org/officeDocument/2006/relationships/tags" Target="../tags/tag110.xml"/><Relationship Id="rId18" Type="http://schemas.openxmlformats.org/officeDocument/2006/relationships/tags" Target="../tags/tag115.xml"/><Relationship Id="rId26" Type="http://schemas.openxmlformats.org/officeDocument/2006/relationships/tags" Target="../tags/tag123.xml"/><Relationship Id="rId3" Type="http://schemas.openxmlformats.org/officeDocument/2006/relationships/tags" Target="../tags/tag100.xml"/><Relationship Id="rId21" Type="http://schemas.openxmlformats.org/officeDocument/2006/relationships/tags" Target="../tags/tag118.xml"/><Relationship Id="rId34" Type="http://schemas.openxmlformats.org/officeDocument/2006/relationships/image" Target="../media/image9.png"/><Relationship Id="rId7" Type="http://schemas.openxmlformats.org/officeDocument/2006/relationships/tags" Target="../tags/tag104.xml"/><Relationship Id="rId12" Type="http://schemas.openxmlformats.org/officeDocument/2006/relationships/tags" Target="../tags/tag109.xml"/><Relationship Id="rId17" Type="http://schemas.openxmlformats.org/officeDocument/2006/relationships/tags" Target="../tags/tag114.xml"/><Relationship Id="rId25" Type="http://schemas.openxmlformats.org/officeDocument/2006/relationships/tags" Target="../tags/tag122.xml"/><Relationship Id="rId33" Type="http://schemas.openxmlformats.org/officeDocument/2006/relationships/image" Target="../media/image8.png"/><Relationship Id="rId2" Type="http://schemas.openxmlformats.org/officeDocument/2006/relationships/tags" Target="../tags/tag99.xml"/><Relationship Id="rId16" Type="http://schemas.openxmlformats.org/officeDocument/2006/relationships/tags" Target="../tags/tag113.xml"/><Relationship Id="rId20" Type="http://schemas.openxmlformats.org/officeDocument/2006/relationships/tags" Target="../tags/tag117.xml"/><Relationship Id="rId29" Type="http://schemas.openxmlformats.org/officeDocument/2006/relationships/tags" Target="../tags/tag126.xml"/><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tags" Target="../tags/tag108.xml"/><Relationship Id="rId24" Type="http://schemas.openxmlformats.org/officeDocument/2006/relationships/tags" Target="../tags/tag121.xml"/><Relationship Id="rId32" Type="http://schemas.openxmlformats.org/officeDocument/2006/relationships/notesSlide" Target="../notesSlides/notesSlide6.xml"/><Relationship Id="rId5" Type="http://schemas.openxmlformats.org/officeDocument/2006/relationships/tags" Target="../tags/tag102.xml"/><Relationship Id="rId15" Type="http://schemas.openxmlformats.org/officeDocument/2006/relationships/tags" Target="../tags/tag112.xml"/><Relationship Id="rId23" Type="http://schemas.openxmlformats.org/officeDocument/2006/relationships/tags" Target="../tags/tag120.xml"/><Relationship Id="rId28" Type="http://schemas.openxmlformats.org/officeDocument/2006/relationships/tags" Target="../tags/tag125.xml"/><Relationship Id="rId10" Type="http://schemas.openxmlformats.org/officeDocument/2006/relationships/tags" Target="../tags/tag107.xml"/><Relationship Id="rId19" Type="http://schemas.openxmlformats.org/officeDocument/2006/relationships/tags" Target="../tags/tag116.xml"/><Relationship Id="rId31" Type="http://schemas.openxmlformats.org/officeDocument/2006/relationships/slideLayout" Target="../slideLayouts/slideLayout1.xml"/><Relationship Id="rId4" Type="http://schemas.openxmlformats.org/officeDocument/2006/relationships/tags" Target="../tags/tag101.xml"/><Relationship Id="rId9" Type="http://schemas.openxmlformats.org/officeDocument/2006/relationships/tags" Target="../tags/tag106.xml"/><Relationship Id="rId14" Type="http://schemas.openxmlformats.org/officeDocument/2006/relationships/tags" Target="../tags/tag111.xml"/><Relationship Id="rId22" Type="http://schemas.openxmlformats.org/officeDocument/2006/relationships/tags" Target="../tags/tag119.xml"/><Relationship Id="rId27" Type="http://schemas.openxmlformats.org/officeDocument/2006/relationships/tags" Target="../tags/tag124.xml"/><Relationship Id="rId30" Type="http://schemas.openxmlformats.org/officeDocument/2006/relationships/tags" Target="../tags/tag127.xml"/><Relationship Id="rId35" Type="http://schemas.openxmlformats.org/officeDocument/2006/relationships/image" Target="../media/image10.png"/><Relationship Id="rId8" Type="http://schemas.openxmlformats.org/officeDocument/2006/relationships/tags" Target="../tags/tag105.xml"/></Relationships>
</file>

<file path=ppt/slides/_rels/slide7.xml.rels><?xml version="1.0" encoding="UTF-8" standalone="yes"?>
<Relationships xmlns="http://schemas.openxmlformats.org/package/2006/relationships"><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 Id="rId5" Type="http://schemas.openxmlformats.org/officeDocument/2006/relationships/notesSlide" Target="../notesSlides/notesSlide7.xml"/><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629"/>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1097280"/>
            <a:ext cx="7680960" cy="365760"/>
          </a:xfrm>
          <a:prstGeom prst="rect">
            <a:avLst/>
          </a:prstGeom>
          <a:noFill/>
          <a:ln/>
        </p:spPr>
        <p:txBody>
          <a:bodyPr wrap="square" lIns="0" tIns="0" rIns="0" bIns="0" rtlCol="0" anchor="ctr"/>
          <a:lstStyle/>
          <a:p>
            <a:pPr marL="0" indent="0" algn="l">
              <a:buNone/>
            </a:pPr>
            <a:r>
              <a:rPr lang="en-US" sz="1200" kern="0" spc="400" dirty="0">
                <a:solidFill>
                  <a:srgbClr val="0EA5E9"/>
                </a:solidFill>
                <a:latin typeface="Calibri" pitchFamily="34" charset="0"/>
                <a:ea typeface="Calibri" pitchFamily="34" charset="-122"/>
                <a:cs typeface="Calibri" pitchFamily="34" charset="-120"/>
              </a:rPr>
              <a:t>THE PROPOSAL</a:t>
            </a:r>
            <a:endParaRPr lang="en-US" sz="1200" dirty="0"/>
          </a:p>
        </p:txBody>
      </p:sp>
      <p:sp>
        <p:nvSpPr>
          <p:cNvPr id="3" name="Text 1"/>
          <p:cNvSpPr/>
          <p:nvPr>
            <p:custDataLst>
              <p:tags r:id="rId3"/>
            </p:custDataLst>
          </p:nvPr>
        </p:nvSpPr>
        <p:spPr>
          <a:xfrm>
            <a:off x="731520" y="1554480"/>
            <a:ext cx="7680960" cy="1828800"/>
          </a:xfrm>
          <a:prstGeom prst="rect">
            <a:avLst/>
          </a:prstGeom>
          <a:noFill/>
          <a:ln/>
        </p:spPr>
        <p:txBody>
          <a:bodyPr wrap="square" lIns="0" tIns="0" rIns="0" bIns="0"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FreshBox: Predicting and</a:t>
            </a:r>
            <a:endParaRPr lang="en-US" sz="3600" dirty="0"/>
          </a:p>
          <a:p>
            <a:pPr marL="0" indent="0" algn="l">
              <a:buNone/>
            </a:pPr>
            <a:r>
              <a:rPr lang="en-US" sz="3600" b="1" dirty="0">
                <a:solidFill>
                  <a:srgbClr val="FFFFFF"/>
                </a:solidFill>
                <a:latin typeface="Calibri" pitchFamily="34" charset="0"/>
                <a:ea typeface="Calibri" pitchFamily="34" charset="-122"/>
                <a:cs typeface="Calibri" pitchFamily="34" charset="-120"/>
              </a:rPr>
              <a:t>Preventing Subscriber </a:t>
            </a:r>
            <a:endParaRPr lang="en-US" sz="3600" dirty="0"/>
          </a:p>
          <a:p>
            <a:pPr marL="0" indent="0" algn="l">
              <a:buNone/>
            </a:pPr>
            <a:r>
              <a:rPr lang="en-US" sz="3600" b="1" dirty="0">
                <a:solidFill>
                  <a:srgbClr val="0EA5E9"/>
                </a:solidFill>
                <a:latin typeface="Calibri" pitchFamily="34" charset="0"/>
                <a:ea typeface="Calibri" pitchFamily="34" charset="-122"/>
                <a:cs typeface="Calibri" pitchFamily="34" charset="-120"/>
              </a:rPr>
              <a:t>Churn</a:t>
            </a:r>
            <a:endParaRPr lang="en-US" sz="3600" dirty="0"/>
          </a:p>
        </p:txBody>
      </p:sp>
      <p:sp>
        <p:nvSpPr>
          <p:cNvPr id="4" name="Text 2"/>
          <p:cNvSpPr/>
          <p:nvPr>
            <p:custDataLst>
              <p:tags r:id="rId4"/>
            </p:custDataLst>
          </p:nvPr>
        </p:nvSpPr>
        <p:spPr>
          <a:xfrm>
            <a:off x="731520" y="3474720"/>
            <a:ext cx="6400800" cy="731520"/>
          </a:xfrm>
          <a:prstGeom prst="rect">
            <a:avLst/>
          </a:prstGeom>
          <a:noFill/>
          <a:ln/>
        </p:spPr>
        <p:txBody>
          <a:bodyPr wrap="square" lIns="0" tIns="0" rIns="0" bIns="0" rtlCol="0" anchor="ctr"/>
          <a:lstStyle/>
          <a:p>
            <a:pPr marL="0" indent="0" algn="l">
              <a:buNone/>
            </a:pPr>
            <a:r>
              <a:rPr lang="en-US" sz="1300" dirty="0">
                <a:solidFill>
                  <a:srgbClr val="94A3B8"/>
                </a:solidFill>
                <a:latin typeface="Calibri Light" pitchFamily="34" charset="0"/>
                <a:ea typeface="Calibri Light" pitchFamily="34" charset="-122"/>
                <a:cs typeface="Calibri Light" pitchFamily="34" charset="-120"/>
              </a:rPr>
              <a:t>A predictive churn model to help FreshBox identify at-risk subscribers,</a:t>
            </a:r>
            <a:endParaRPr lang="en-US" sz="1300" dirty="0"/>
          </a:p>
          <a:p>
            <a:pPr marL="0" indent="0" algn="l">
              <a:buNone/>
            </a:pPr>
            <a:r>
              <a:rPr lang="en-US" sz="1300" dirty="0">
                <a:solidFill>
                  <a:srgbClr val="94A3B8"/>
                </a:solidFill>
                <a:latin typeface="Calibri Light" pitchFamily="34" charset="0"/>
                <a:ea typeface="Calibri Light" pitchFamily="34" charset="-122"/>
                <a:cs typeface="Calibri Light" pitchFamily="34" charset="-120"/>
              </a:rPr>
              <a:t>understand why they leave and take targeted action to retain them.</a:t>
            </a:r>
            <a:endParaRPr lang="en-US" sz="1300" dirty="0"/>
          </a:p>
        </p:txBody>
      </p:sp>
      <p:sp>
        <p:nvSpPr>
          <p:cNvPr id="5" name="Text 3"/>
          <p:cNvSpPr/>
          <p:nvPr>
            <p:custDataLst>
              <p:tags r:id="rId5"/>
            </p:custDataLst>
          </p:nvPr>
        </p:nvSpPr>
        <p:spPr>
          <a:xfrm>
            <a:off x="731520" y="4480560"/>
            <a:ext cx="2743200" cy="320040"/>
          </a:xfrm>
          <a:prstGeom prst="rect">
            <a:avLst/>
          </a:prstGeom>
          <a:noFill/>
          <a:ln/>
        </p:spPr>
        <p:txBody>
          <a:bodyPr wrap="square" lIns="0" tIns="0" rIns="0" bIns="0" rtlCol="0" anchor="ctr"/>
          <a:lstStyle/>
          <a:p>
            <a:pPr marL="0" indent="0" algn="l">
              <a:buNone/>
            </a:pPr>
            <a:r>
              <a:rPr lang="en-US" sz="1100" dirty="0">
                <a:solidFill>
                  <a:srgbClr val="94A3B8"/>
                </a:solidFill>
                <a:latin typeface="Calibri Light" pitchFamily="34" charset="0"/>
                <a:ea typeface="Calibri Light" pitchFamily="34" charset="-122"/>
                <a:cs typeface="Calibri Light" pitchFamily="34" charset="-120"/>
              </a:rPr>
              <a:t>April 2026</a:t>
            </a:r>
            <a:endParaRPr lang="en-US" sz="1100" dirty="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Problem Statement</a:t>
            </a:r>
            <a:endParaRPr lang="en-US" sz="2800" dirty="0"/>
          </a:p>
        </p:txBody>
      </p:sp>
      <p:sp>
        <p:nvSpPr>
          <p:cNvPr id="3" name="Text 1"/>
          <p:cNvSpPr/>
          <p:nvPr>
            <p:custDataLst>
              <p:tags r:id="rId3"/>
            </p:custDataLst>
          </p:nvPr>
        </p:nvSpPr>
        <p:spPr>
          <a:xfrm>
            <a:off x="731520" y="868680"/>
            <a:ext cx="7680960" cy="502920"/>
          </a:xfrm>
          <a:prstGeom prst="rect">
            <a:avLst/>
          </a:prstGeom>
          <a:noFill/>
          <a:ln/>
        </p:spPr>
        <p:txBody>
          <a:bodyPr wrap="square" lIns="0" tIns="0" rIns="0" bIns="0" rtlCol="0" anchor="ctr"/>
          <a:lstStyle/>
          <a:p>
            <a:pPr marL="0" indent="0">
              <a:buNone/>
            </a:pPr>
            <a:r>
              <a:rPr lang="en-US" sz="1200" dirty="0">
                <a:solidFill>
                  <a:srgbClr val="475569"/>
                </a:solidFill>
                <a:latin typeface="Calibri Light" pitchFamily="34" charset="0"/>
                <a:ea typeface="Calibri Light" pitchFamily="34" charset="-122"/>
                <a:cs typeface="Calibri Light" pitchFamily="34" charset="-120"/>
              </a:rPr>
              <a:t>FreshBox is a UK meal kit subscription company with ~80,000 subscribers. Rapid growth through discounted acquisition has driven volume, but retention is undermining unit economics.</a:t>
            </a:r>
            <a:endParaRPr lang="en-US" sz="1200" dirty="0"/>
          </a:p>
        </p:txBody>
      </p:sp>
      <p:sp>
        <p:nvSpPr>
          <p:cNvPr id="4" name="Shape 2"/>
          <p:cNvSpPr/>
          <p:nvPr>
            <p:custDataLst>
              <p:tags r:id="rId4"/>
            </p:custDataLst>
          </p:nvPr>
        </p:nvSpPr>
        <p:spPr>
          <a:xfrm>
            <a:off x="731520" y="1508760"/>
            <a:ext cx="2377440" cy="118872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pic>
        <p:nvPicPr>
          <p:cNvPr id="5" name="Image 0" descr="preencoded.png"/>
          <p:cNvPicPr>
            <a:picLocks noChangeAspect="1"/>
          </p:cNvPicPr>
          <p:nvPr>
            <p:custDataLst>
              <p:tags r:id="rId5"/>
            </p:custDataLst>
          </p:nvPr>
        </p:nvPicPr>
        <p:blipFill>
          <a:blip r:embed="rId23"/>
          <a:stretch>
            <a:fillRect/>
          </a:stretch>
        </p:blipFill>
        <p:spPr>
          <a:xfrm>
            <a:off x="914400" y="1691640"/>
            <a:ext cx="320040" cy="320040"/>
          </a:xfrm>
          <a:prstGeom prst="rect">
            <a:avLst/>
          </a:prstGeom>
        </p:spPr>
      </p:pic>
      <p:sp>
        <p:nvSpPr>
          <p:cNvPr id="6" name="Text 3"/>
          <p:cNvSpPr/>
          <p:nvPr>
            <p:custDataLst>
              <p:tags r:id="rId6"/>
            </p:custDataLst>
          </p:nvPr>
        </p:nvSpPr>
        <p:spPr>
          <a:xfrm>
            <a:off x="1325880" y="1627632"/>
            <a:ext cx="1600200" cy="41148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80k</a:t>
            </a:r>
            <a:endParaRPr lang="en-US" sz="2400" dirty="0"/>
          </a:p>
        </p:txBody>
      </p:sp>
      <p:sp>
        <p:nvSpPr>
          <p:cNvPr id="7" name="Text 4"/>
          <p:cNvSpPr/>
          <p:nvPr>
            <p:custDataLst>
              <p:tags r:id="rId7"/>
            </p:custDataLst>
          </p:nvPr>
        </p:nvSpPr>
        <p:spPr>
          <a:xfrm>
            <a:off x="1325880" y="2128283"/>
            <a:ext cx="1600200" cy="320040"/>
          </a:xfrm>
          <a:prstGeom prst="rect">
            <a:avLst/>
          </a:prstGeom>
          <a:noFill/>
          <a:ln/>
        </p:spPr>
        <p:txBody>
          <a:bodyPr wrap="square" lIns="0" tIns="0" rIns="0" bIns="0" rtlCol="0" anchor="t"/>
          <a:lstStyle/>
          <a:p>
            <a:pPr marL="0" indent="0">
              <a:buNone/>
            </a:pPr>
            <a:r>
              <a:rPr lang="en-US" sz="1100" dirty="0">
                <a:solidFill>
                  <a:srgbClr val="475569"/>
                </a:solidFill>
                <a:latin typeface="Calibri Light" pitchFamily="34" charset="0"/>
                <a:ea typeface="Calibri Light" pitchFamily="34" charset="-122"/>
                <a:cs typeface="Calibri Light" pitchFamily="34" charset="-120"/>
              </a:rPr>
              <a:t>Active subscribers</a:t>
            </a:r>
            <a:endParaRPr lang="en-US" sz="1100" dirty="0"/>
          </a:p>
        </p:txBody>
      </p:sp>
      <p:sp>
        <p:nvSpPr>
          <p:cNvPr id="8" name="Shape 5"/>
          <p:cNvSpPr/>
          <p:nvPr>
            <p:custDataLst>
              <p:tags r:id="rId8"/>
            </p:custDataLst>
          </p:nvPr>
        </p:nvSpPr>
        <p:spPr>
          <a:xfrm>
            <a:off x="3383280" y="1508760"/>
            <a:ext cx="2377440" cy="118872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pic>
        <p:nvPicPr>
          <p:cNvPr id="9" name="Image 1" descr="preencoded.png"/>
          <p:cNvPicPr>
            <a:picLocks noChangeAspect="1"/>
          </p:cNvPicPr>
          <p:nvPr>
            <p:custDataLst>
              <p:tags r:id="rId9"/>
            </p:custDataLst>
          </p:nvPr>
        </p:nvPicPr>
        <p:blipFill>
          <a:blip r:embed="rId24"/>
          <a:stretch>
            <a:fillRect/>
          </a:stretch>
        </p:blipFill>
        <p:spPr>
          <a:xfrm>
            <a:off x="3566160" y="1691640"/>
            <a:ext cx="320040" cy="320040"/>
          </a:xfrm>
          <a:prstGeom prst="rect">
            <a:avLst/>
          </a:prstGeom>
        </p:spPr>
      </p:pic>
      <p:sp>
        <p:nvSpPr>
          <p:cNvPr id="10" name="Text 6"/>
          <p:cNvSpPr/>
          <p:nvPr>
            <p:custDataLst>
              <p:tags r:id="rId10"/>
            </p:custDataLst>
          </p:nvPr>
        </p:nvSpPr>
        <p:spPr>
          <a:xfrm>
            <a:off x="3977640" y="1627632"/>
            <a:ext cx="1600200" cy="41148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65-70%</a:t>
            </a:r>
            <a:endParaRPr lang="en-US" sz="2400" dirty="0"/>
          </a:p>
        </p:txBody>
      </p:sp>
      <p:sp>
        <p:nvSpPr>
          <p:cNvPr id="11" name="Text 7"/>
          <p:cNvSpPr/>
          <p:nvPr>
            <p:custDataLst>
              <p:tags r:id="rId11"/>
            </p:custDataLst>
          </p:nvPr>
        </p:nvSpPr>
        <p:spPr>
          <a:xfrm>
            <a:off x="3977640" y="2128283"/>
            <a:ext cx="1600200" cy="320040"/>
          </a:xfrm>
          <a:prstGeom prst="rect">
            <a:avLst/>
          </a:prstGeom>
          <a:noFill/>
          <a:ln/>
        </p:spPr>
        <p:txBody>
          <a:bodyPr wrap="square" lIns="0" tIns="0" rIns="0" bIns="0" rtlCol="0" anchor="t"/>
          <a:lstStyle/>
          <a:p>
            <a:pPr marL="0" indent="0">
              <a:buNone/>
            </a:pPr>
            <a:r>
              <a:rPr lang="en-US" sz="1100" dirty="0">
                <a:solidFill>
                  <a:srgbClr val="475569"/>
                </a:solidFill>
                <a:latin typeface="Calibri Light" pitchFamily="34" charset="0"/>
                <a:ea typeface="Calibri Light" pitchFamily="34" charset="-122"/>
                <a:cs typeface="Calibri Light" pitchFamily="34" charset="-120"/>
              </a:rPr>
              <a:t>Churn within 6 months</a:t>
            </a:r>
            <a:endParaRPr lang="en-US" sz="1100" dirty="0"/>
          </a:p>
        </p:txBody>
      </p:sp>
      <p:sp>
        <p:nvSpPr>
          <p:cNvPr id="12" name="Shape 8"/>
          <p:cNvSpPr/>
          <p:nvPr>
            <p:custDataLst>
              <p:tags r:id="rId12"/>
            </p:custDataLst>
          </p:nvPr>
        </p:nvSpPr>
        <p:spPr>
          <a:xfrm>
            <a:off x="6035040" y="1508760"/>
            <a:ext cx="2377440" cy="118872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pic>
        <p:nvPicPr>
          <p:cNvPr id="13" name="Image 2" descr="preencoded.png"/>
          <p:cNvPicPr>
            <a:picLocks noChangeAspect="1"/>
          </p:cNvPicPr>
          <p:nvPr>
            <p:custDataLst>
              <p:tags r:id="rId13"/>
            </p:custDataLst>
          </p:nvPr>
        </p:nvPicPr>
        <p:blipFill>
          <a:blip r:embed="rId25"/>
          <a:stretch>
            <a:fillRect/>
          </a:stretch>
        </p:blipFill>
        <p:spPr>
          <a:xfrm>
            <a:off x="6217920" y="1691640"/>
            <a:ext cx="320040" cy="320040"/>
          </a:xfrm>
          <a:prstGeom prst="rect">
            <a:avLst/>
          </a:prstGeom>
        </p:spPr>
      </p:pic>
      <p:sp>
        <p:nvSpPr>
          <p:cNvPr id="14" name="Text 9"/>
          <p:cNvSpPr/>
          <p:nvPr>
            <p:custDataLst>
              <p:tags r:id="rId14"/>
            </p:custDataLst>
          </p:nvPr>
        </p:nvSpPr>
        <p:spPr>
          <a:xfrm>
            <a:off x="6629400" y="1627632"/>
            <a:ext cx="1600200" cy="41148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£0.8m</a:t>
            </a:r>
            <a:endParaRPr lang="en-US" sz="2400" dirty="0"/>
          </a:p>
        </p:txBody>
      </p:sp>
      <p:sp>
        <p:nvSpPr>
          <p:cNvPr id="15" name="Text 10"/>
          <p:cNvSpPr/>
          <p:nvPr>
            <p:custDataLst>
              <p:tags r:id="rId15"/>
            </p:custDataLst>
          </p:nvPr>
        </p:nvSpPr>
        <p:spPr>
          <a:xfrm>
            <a:off x="6629400" y="2128283"/>
            <a:ext cx="1600200" cy="320040"/>
          </a:xfrm>
          <a:prstGeom prst="rect">
            <a:avLst/>
          </a:prstGeom>
          <a:noFill/>
          <a:ln/>
        </p:spPr>
        <p:txBody>
          <a:bodyPr wrap="square" lIns="0" tIns="0" rIns="0" bIns="0" rtlCol="0" anchor="ctr"/>
          <a:lstStyle/>
          <a:p>
            <a:pPr marL="0" indent="0">
              <a:buNone/>
            </a:pPr>
            <a:r>
              <a:rPr lang="en-US" sz="1100" dirty="0">
                <a:solidFill>
                  <a:srgbClr val="475569"/>
                </a:solidFill>
                <a:latin typeface="Calibri Light" pitchFamily="34" charset="0"/>
                <a:ea typeface="Calibri Light" pitchFamily="34" charset="-122"/>
                <a:cs typeface="Calibri Light" pitchFamily="34" charset="-120"/>
              </a:rPr>
              <a:t>Revenue protection opportunity</a:t>
            </a:r>
            <a:endParaRPr lang="en-US" sz="1100" dirty="0"/>
          </a:p>
        </p:txBody>
      </p:sp>
      <p:sp>
        <p:nvSpPr>
          <p:cNvPr id="16" name="Text 11"/>
          <p:cNvSpPr/>
          <p:nvPr>
            <p:custDataLst>
              <p:tags r:id="rId16"/>
            </p:custDataLst>
          </p:nvPr>
        </p:nvSpPr>
        <p:spPr>
          <a:xfrm>
            <a:off x="731520" y="2880360"/>
            <a:ext cx="3703320"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Key Questions</a:t>
            </a:r>
            <a:endParaRPr lang="en-US" sz="1600" dirty="0"/>
          </a:p>
        </p:txBody>
      </p:sp>
      <p:sp>
        <p:nvSpPr>
          <p:cNvPr id="17" name="Text 12"/>
          <p:cNvSpPr/>
          <p:nvPr>
            <p:custDataLst>
              <p:tags r:id="rId17"/>
            </p:custDataLst>
          </p:nvPr>
        </p:nvSpPr>
        <p:spPr>
          <a:xfrm>
            <a:off x="731520" y="3271282"/>
            <a:ext cx="3703320" cy="16459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Which customers are most likely to churn?</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What are the primary drivers of churn by plan type and channel?</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Which at-risk customers are worth retaining (positive ROI)?</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What specific actions should be triggered for each churn driver?</a:t>
            </a:r>
            <a:endParaRPr lang="en-US" sz="1100" dirty="0"/>
          </a:p>
        </p:txBody>
      </p:sp>
      <p:sp>
        <p:nvSpPr>
          <p:cNvPr id="18" name="Text 13"/>
          <p:cNvSpPr/>
          <p:nvPr>
            <p:custDataLst>
              <p:tags r:id="rId18"/>
            </p:custDataLst>
          </p:nvPr>
        </p:nvSpPr>
        <p:spPr>
          <a:xfrm>
            <a:off x="4709160" y="2880360"/>
            <a:ext cx="3703320"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Success Criteria</a:t>
            </a:r>
            <a:endParaRPr lang="en-US" sz="1600" dirty="0"/>
          </a:p>
        </p:txBody>
      </p:sp>
      <p:sp>
        <p:nvSpPr>
          <p:cNvPr id="19" name="Text 14"/>
          <p:cNvSpPr/>
          <p:nvPr>
            <p:custDataLst>
              <p:tags r:id="rId19"/>
            </p:custDataLst>
          </p:nvPr>
        </p:nvSpPr>
        <p:spPr>
          <a:xfrm>
            <a:off x="4709160" y="3271282"/>
            <a:ext cx="4009538" cy="16459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Model correctly identifies at-risk customers 75%+ of the time</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Weekly scored customer lists integrated into CRM</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Intervention playbook adopted by retention team</a:t>
            </a:r>
            <a:endParaRPr lang="en-DK" sz="1100" dirty="0">
              <a:solidFill>
                <a:srgbClr val="475569"/>
              </a:solidFill>
              <a:latin typeface="Calibri Light" pitchFamily="34" charset="0"/>
              <a:ea typeface="Calibri Light" pitchFamily="34" charset="-122"/>
              <a:cs typeface="Calibri Light" pitchFamily="34" charset="-120"/>
            </a:endParaRPr>
          </a:p>
          <a:p>
            <a:pPr marL="342900" indent="-342900">
              <a:spcAft>
                <a:spcPts val="600"/>
              </a:spcAft>
              <a:buSzPct val="100000"/>
              <a:buFontTx/>
              <a:buChar char="•"/>
            </a:pPr>
            <a:r>
              <a:rPr lang="en-US" sz="1100" dirty="0">
                <a:solidFill>
                  <a:srgbClr val="475569"/>
                </a:solidFill>
                <a:latin typeface="Calibri Light" pitchFamily="34" charset="0"/>
                <a:ea typeface="Calibri Light" pitchFamily="34" charset="-122"/>
                <a:cs typeface="Calibri Light" pitchFamily="34" charset="-120"/>
              </a:rPr>
              <a:t>Measurable churn reduction in high-risk cohort vs. </a:t>
            </a:r>
            <a:r>
              <a:rPr lang="en-DK" sz="1100" dirty="0">
                <a:solidFill>
                  <a:srgbClr val="475569"/>
                </a:solidFill>
                <a:latin typeface="Calibri Light" pitchFamily="34" charset="0"/>
                <a:ea typeface="Calibri Light" pitchFamily="34" charset="-122"/>
                <a:cs typeface="Calibri Light" pitchFamily="34" charset="-120"/>
              </a:rPr>
              <a:t>control group</a:t>
            </a:r>
            <a:endParaRPr lang="en-US" sz="1100" dirty="0"/>
          </a:p>
        </p:txBody>
      </p:sp>
      <p:sp>
        <p:nvSpPr>
          <p:cNvPr id="21" name="TextBox 20">
            <a:extLst>
              <a:ext uri="{FF2B5EF4-FFF2-40B4-BE49-F238E27FC236}">
                <a16:creationId xmlns:a16="http://schemas.microsoft.com/office/drawing/2014/main" id="{857A3607-801C-8FFC-6CF2-88CD6DB21DF1}"/>
              </a:ext>
            </a:extLst>
          </p:cNvPr>
          <p:cNvSpPr txBox="1"/>
          <p:nvPr>
            <p:custDataLst>
              <p:tags r:id="rId20"/>
            </p:custDataLst>
          </p:nvPr>
        </p:nvSpPr>
        <p:spPr>
          <a:xfrm>
            <a:off x="639371" y="4744603"/>
            <a:ext cx="3176300" cy="246221"/>
          </a:xfrm>
          <a:prstGeom prst="rect">
            <a:avLst/>
          </a:prstGeom>
          <a:noFill/>
        </p:spPr>
        <p:txBody>
          <a:bodyPr wrap="square" rtlCol="0">
            <a:spAutoFit/>
          </a:bodyPr>
          <a:lstStyle/>
          <a:p>
            <a:r>
              <a:rPr lang="en-DK" sz="1000" dirty="0">
                <a:solidFill>
                  <a:srgbClr val="475569"/>
                </a:solidFill>
                <a:latin typeface="Calibri Light" pitchFamily="34" charset="0"/>
                <a:ea typeface="Calibri Light" pitchFamily="34" charset="-122"/>
                <a:cs typeface="Calibri Light" pitchFamily="34" charset="-120"/>
              </a:rPr>
              <a:t>FreshBox – Churn Prediction | 1</a:t>
            </a:r>
            <a:endParaRPr lang="en-GB" sz="1000" dirty="0">
              <a:solidFill>
                <a:srgbClr val="475569"/>
              </a:solidFill>
              <a:latin typeface="Calibri Light" pitchFamily="34" charset="0"/>
              <a:ea typeface="Calibri Light" pitchFamily="34" charset="-122"/>
              <a:cs typeface="Calibri Light" pitchFamily="34" charset="-12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Commercial Impact</a:t>
            </a:r>
            <a:endParaRPr lang="en-US" sz="2800" dirty="0"/>
          </a:p>
        </p:txBody>
      </p:sp>
      <p:sp>
        <p:nvSpPr>
          <p:cNvPr id="3" name="Text 1"/>
          <p:cNvSpPr/>
          <p:nvPr>
            <p:custDataLst>
              <p:tags r:id="rId3"/>
            </p:custDataLst>
          </p:nvPr>
        </p:nvSpPr>
        <p:spPr>
          <a:xfrm>
            <a:off x="731520" y="777240"/>
            <a:ext cx="768096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Light" pitchFamily="34" charset="0"/>
                <a:ea typeface="Calibri Light" pitchFamily="34" charset="-122"/>
                <a:cs typeface="Calibri Light" pitchFamily="34" charset="-120"/>
              </a:rPr>
              <a:t>Quantified impact of reducing 6-month churn from the current rate of 67.5%</a:t>
            </a:r>
            <a:endParaRPr lang="en-US" sz="1200" dirty="0"/>
          </a:p>
        </p:txBody>
      </p:sp>
      <p:sp>
        <p:nvSpPr>
          <p:cNvPr id="4" name="Shape 2"/>
          <p:cNvSpPr/>
          <p:nvPr>
            <p:custDataLst>
              <p:tags r:id="rId4"/>
            </p:custDataLst>
          </p:nvPr>
        </p:nvSpPr>
        <p:spPr>
          <a:xfrm>
            <a:off x="731520" y="1188720"/>
            <a:ext cx="2404872" cy="77724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5" name="Text 3"/>
          <p:cNvSpPr/>
          <p:nvPr>
            <p:custDataLst>
              <p:tags r:id="rId5"/>
            </p:custDataLst>
          </p:nvPr>
        </p:nvSpPr>
        <p:spPr>
          <a:xfrm>
            <a:off x="868680" y="1252728"/>
            <a:ext cx="2130552" cy="201168"/>
          </a:xfrm>
          <a:prstGeom prst="rect">
            <a:avLst/>
          </a:prstGeom>
          <a:noFill/>
          <a:ln/>
        </p:spPr>
        <p:txBody>
          <a:bodyPr wrap="square" lIns="0" tIns="0" rIns="0" bIns="0" rtlCol="0" anchor="ctr"/>
          <a:lstStyle/>
          <a:p>
            <a:pPr marL="0" indent="0">
              <a:buNone/>
            </a:pPr>
            <a:r>
              <a:rPr lang="en-US" sz="1000" b="1" dirty="0">
                <a:solidFill>
                  <a:srgbClr val="0EA5E9"/>
                </a:solidFill>
                <a:latin typeface="Calibri" pitchFamily="34" charset="0"/>
                <a:ea typeface="Calibri" pitchFamily="34" charset="-122"/>
                <a:cs typeface="Calibri" pitchFamily="34" charset="-120"/>
              </a:rPr>
              <a:t>Avg. Order Value</a:t>
            </a:r>
            <a:endParaRPr lang="en-US" sz="1000" dirty="0"/>
          </a:p>
        </p:txBody>
      </p:sp>
      <p:sp>
        <p:nvSpPr>
          <p:cNvPr id="6" name="Text 4"/>
          <p:cNvSpPr/>
          <p:nvPr>
            <p:custDataLst>
              <p:tags r:id="rId6"/>
            </p:custDataLst>
          </p:nvPr>
        </p:nvSpPr>
        <p:spPr>
          <a:xfrm>
            <a:off x="868680" y="1481328"/>
            <a:ext cx="2130552"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£50 per customer</a:t>
            </a:r>
            <a:endParaRPr lang="en-US" sz="1600" dirty="0"/>
          </a:p>
        </p:txBody>
      </p:sp>
      <p:sp>
        <p:nvSpPr>
          <p:cNvPr id="7" name="Shape 5"/>
          <p:cNvSpPr/>
          <p:nvPr>
            <p:custDataLst>
              <p:tags r:id="rId7"/>
            </p:custDataLst>
          </p:nvPr>
        </p:nvSpPr>
        <p:spPr>
          <a:xfrm>
            <a:off x="3410712" y="1188720"/>
            <a:ext cx="2404872" cy="77724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8" name="Text 6"/>
          <p:cNvSpPr/>
          <p:nvPr>
            <p:custDataLst>
              <p:tags r:id="rId8"/>
            </p:custDataLst>
          </p:nvPr>
        </p:nvSpPr>
        <p:spPr>
          <a:xfrm>
            <a:off x="3547872" y="1252728"/>
            <a:ext cx="2130552" cy="201168"/>
          </a:xfrm>
          <a:prstGeom prst="rect">
            <a:avLst/>
          </a:prstGeom>
          <a:noFill/>
          <a:ln/>
        </p:spPr>
        <p:txBody>
          <a:bodyPr wrap="square" lIns="0" tIns="0" rIns="0" bIns="0" rtlCol="0" anchor="ctr"/>
          <a:lstStyle/>
          <a:p>
            <a:pPr marL="0" indent="0">
              <a:buNone/>
            </a:pPr>
            <a:r>
              <a:rPr lang="en-US" sz="1000" b="1" dirty="0">
                <a:solidFill>
                  <a:srgbClr val="0EA5E9"/>
                </a:solidFill>
                <a:latin typeface="Calibri" pitchFamily="34" charset="0"/>
                <a:ea typeface="Calibri" pitchFamily="34" charset="-122"/>
                <a:cs typeface="Calibri" pitchFamily="34" charset="-120"/>
              </a:rPr>
              <a:t>Contribution Margin</a:t>
            </a:r>
            <a:endParaRPr lang="en-US" sz="1000" dirty="0"/>
          </a:p>
        </p:txBody>
      </p:sp>
      <p:sp>
        <p:nvSpPr>
          <p:cNvPr id="9" name="Text 7"/>
          <p:cNvSpPr/>
          <p:nvPr>
            <p:custDataLst>
              <p:tags r:id="rId9"/>
            </p:custDataLst>
          </p:nvPr>
        </p:nvSpPr>
        <p:spPr>
          <a:xfrm>
            <a:off x="3547872" y="1481328"/>
            <a:ext cx="2130552"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35% per customer</a:t>
            </a:r>
            <a:endParaRPr lang="en-US" sz="1600" dirty="0"/>
          </a:p>
        </p:txBody>
      </p:sp>
      <p:sp>
        <p:nvSpPr>
          <p:cNvPr id="10" name="Shape 8"/>
          <p:cNvSpPr/>
          <p:nvPr>
            <p:custDataLst>
              <p:tags r:id="rId10"/>
            </p:custDataLst>
          </p:nvPr>
        </p:nvSpPr>
        <p:spPr>
          <a:xfrm>
            <a:off x="6089904" y="1188720"/>
            <a:ext cx="2404872" cy="77724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1" name="Text 9"/>
          <p:cNvSpPr/>
          <p:nvPr>
            <p:custDataLst>
              <p:tags r:id="rId11"/>
            </p:custDataLst>
          </p:nvPr>
        </p:nvSpPr>
        <p:spPr>
          <a:xfrm>
            <a:off x="6227064" y="1252728"/>
            <a:ext cx="2130552" cy="201168"/>
          </a:xfrm>
          <a:prstGeom prst="rect">
            <a:avLst/>
          </a:prstGeom>
          <a:noFill/>
          <a:ln/>
        </p:spPr>
        <p:txBody>
          <a:bodyPr wrap="square" lIns="0" tIns="0" rIns="0" bIns="0" rtlCol="0" anchor="ctr"/>
          <a:lstStyle/>
          <a:p>
            <a:pPr marL="0" indent="0">
              <a:buNone/>
            </a:pPr>
            <a:r>
              <a:rPr lang="en-US" sz="1000" b="1" dirty="0">
                <a:solidFill>
                  <a:srgbClr val="0EA5E9"/>
                </a:solidFill>
                <a:latin typeface="Calibri" pitchFamily="34" charset="0"/>
                <a:ea typeface="Calibri" pitchFamily="34" charset="-122"/>
                <a:cs typeface="Calibri" pitchFamily="34" charset="-120"/>
              </a:rPr>
              <a:t>Additional Retention</a:t>
            </a:r>
            <a:endParaRPr lang="en-US" sz="1000" dirty="0"/>
          </a:p>
        </p:txBody>
      </p:sp>
      <p:sp>
        <p:nvSpPr>
          <p:cNvPr id="12" name="Text 10"/>
          <p:cNvSpPr/>
          <p:nvPr>
            <p:custDataLst>
              <p:tags r:id="rId12"/>
            </p:custDataLst>
          </p:nvPr>
        </p:nvSpPr>
        <p:spPr>
          <a:xfrm>
            <a:off x="6227064" y="1481328"/>
            <a:ext cx="2130552"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8 weeks (conservative)</a:t>
            </a:r>
            <a:endParaRPr lang="en-US" sz="1600" dirty="0"/>
          </a:p>
        </p:txBody>
      </p:sp>
      <p:graphicFrame>
        <p:nvGraphicFramePr>
          <p:cNvPr id="13" name="Table 0"/>
          <p:cNvGraphicFramePr>
            <a:graphicFrameLocks noGrp="1"/>
          </p:cNvGraphicFramePr>
          <p:nvPr>
            <p:custDataLst>
              <p:tags r:id="rId13"/>
            </p:custDataLst>
            <p:extLst>
              <p:ext uri="{D42A27DB-BD31-4B8C-83A1-F6EECF244321}">
                <p14:modId xmlns:p14="http://schemas.microsoft.com/office/powerpoint/2010/main" val="4152355523"/>
              </p:ext>
            </p:extLst>
          </p:nvPr>
        </p:nvGraphicFramePr>
        <p:xfrm>
          <a:off x="731520" y="2240280"/>
          <a:ext cx="7680960" cy="1219200"/>
        </p:xfrm>
        <a:graphic>
          <a:graphicData uri="http://schemas.openxmlformats.org/drawingml/2006/table">
            <a:tbl>
              <a:tblPr/>
              <a:tblGrid>
                <a:gridCol w="1536192">
                  <a:extLst>
                    <a:ext uri="{9D8B030D-6E8A-4147-A177-3AD203B41FA5}">
                      <a16:colId xmlns:a16="http://schemas.microsoft.com/office/drawing/2014/main" val="20000"/>
                    </a:ext>
                  </a:extLst>
                </a:gridCol>
                <a:gridCol w="1536192">
                  <a:extLst>
                    <a:ext uri="{9D8B030D-6E8A-4147-A177-3AD203B41FA5}">
                      <a16:colId xmlns:a16="http://schemas.microsoft.com/office/drawing/2014/main" val="20001"/>
                    </a:ext>
                  </a:extLst>
                </a:gridCol>
                <a:gridCol w="1536192">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gridCol w="1536192">
                  <a:extLst>
                    <a:ext uri="{9D8B030D-6E8A-4147-A177-3AD203B41FA5}">
                      <a16:colId xmlns:a16="http://schemas.microsoft.com/office/drawing/2014/main" val="20004"/>
                    </a:ext>
                  </a:extLst>
                </a:gridCol>
              </a:tblGrid>
              <a:tr h="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Churn Rate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Improvement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Additional Customers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Incremental Revenue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Contribution </a:t>
                      </a:r>
                      <a:r>
                        <a:rPr lang="en-DK" sz="1000" b="1" dirty="0">
                          <a:solidFill>
                            <a:srgbClr val="FFFFFF"/>
                          </a:solidFill>
                          <a:latin typeface="Calibri" pitchFamily="34" charset="0"/>
                          <a:ea typeface="Calibri" pitchFamily="34" charset="-122"/>
                          <a:cs typeface="Calibri" pitchFamily="34" charset="-120"/>
                        </a:rPr>
                        <a:t>Profit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65.0%</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2.5pp</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2,000</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£0.8m</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£0.3m</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62.5%</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5.0pp</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4,000</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£1.6m</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£0.6m</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60.0%</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7.5pp</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6,000</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£2.4m</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£0.8m</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57.5%</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10.0pp</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8,000</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£3.2m</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£1.1m</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4" name="Shape 11"/>
          <p:cNvSpPr/>
          <p:nvPr>
            <p:custDataLst>
              <p:tags r:id="rId14"/>
            </p:custDataLst>
          </p:nvPr>
        </p:nvSpPr>
        <p:spPr>
          <a:xfrm>
            <a:off x="731520" y="3840480"/>
            <a:ext cx="7680960" cy="640080"/>
          </a:xfrm>
          <a:prstGeom prst="rect">
            <a:avLst/>
          </a:prstGeom>
          <a:solidFill>
            <a:srgbClr val="0F1629"/>
          </a:solidFill>
          <a:ln/>
        </p:spPr>
        <p:txBody>
          <a:bodyPr/>
          <a:lstStyle/>
          <a:p>
            <a:endParaRPr lang="en-GB"/>
          </a:p>
        </p:txBody>
      </p:sp>
      <p:sp>
        <p:nvSpPr>
          <p:cNvPr id="15" name="Text 12"/>
          <p:cNvSpPr/>
          <p:nvPr>
            <p:custDataLst>
              <p:tags r:id="rId15"/>
            </p:custDataLst>
          </p:nvPr>
        </p:nvSpPr>
        <p:spPr>
          <a:xfrm>
            <a:off x="914400" y="3840480"/>
            <a:ext cx="7315200" cy="640080"/>
          </a:xfrm>
          <a:prstGeom prst="rect">
            <a:avLst/>
          </a:prstGeom>
          <a:noFill/>
          <a:ln/>
        </p:spPr>
        <p:txBody>
          <a:bodyPr wrap="square" lIns="0" tIns="0" rIns="0" bIns="0" rtlCol="0" anchor="ctr"/>
          <a:lstStyle/>
          <a:p>
            <a:pPr marL="0" indent="0">
              <a:buNone/>
            </a:pPr>
            <a:r>
              <a:rPr lang="en-US" sz="1800" b="1" dirty="0">
                <a:solidFill>
                  <a:srgbClr val="0EA5E9"/>
                </a:solidFill>
                <a:latin typeface="Calibri" pitchFamily="34" charset="0"/>
                <a:ea typeface="Calibri" pitchFamily="34" charset="-122"/>
                <a:cs typeface="Calibri" pitchFamily="34" charset="-120"/>
              </a:rPr>
              <a:t>£320k </a:t>
            </a:r>
            <a:r>
              <a:rPr lang="en-US" sz="1300" dirty="0">
                <a:solidFill>
                  <a:srgbClr val="FFFFFF"/>
                </a:solidFill>
                <a:latin typeface="Calibri Light" pitchFamily="34" charset="0"/>
                <a:ea typeface="Calibri Light" pitchFamily="34" charset="-122"/>
                <a:cs typeface="Calibri Light" pitchFamily="34" charset="-120"/>
              </a:rPr>
              <a:t>incremental revenue  and  </a:t>
            </a:r>
            <a:r>
              <a:rPr lang="en-US" sz="1800" b="1" dirty="0">
                <a:solidFill>
                  <a:srgbClr val="0EA5E9"/>
                </a:solidFill>
                <a:latin typeface="Calibri" pitchFamily="34" charset="0"/>
                <a:ea typeface="Calibri" pitchFamily="34" charset="-122"/>
                <a:cs typeface="Calibri" pitchFamily="34" charset="-120"/>
              </a:rPr>
              <a:t>£112k </a:t>
            </a:r>
            <a:r>
              <a:rPr lang="en-US" sz="1300" dirty="0">
                <a:solidFill>
                  <a:srgbClr val="FFFFFF"/>
                </a:solidFill>
                <a:latin typeface="Calibri Light" pitchFamily="34" charset="0"/>
                <a:ea typeface="Calibri Light" pitchFamily="34" charset="-122"/>
                <a:cs typeface="Calibri Light" pitchFamily="34" charset="-120"/>
              </a:rPr>
              <a:t>incremental margin  per 1 ppt churn reduction</a:t>
            </a:r>
            <a:endParaRPr lang="en-US" sz="1800" dirty="0"/>
          </a:p>
        </p:txBody>
      </p:sp>
      <p:sp>
        <p:nvSpPr>
          <p:cNvPr id="16" name="TextBox 15">
            <a:extLst>
              <a:ext uri="{FF2B5EF4-FFF2-40B4-BE49-F238E27FC236}">
                <a16:creationId xmlns:a16="http://schemas.microsoft.com/office/drawing/2014/main" id="{A705A004-CB45-E6B7-D5CC-53117A90F039}"/>
              </a:ext>
            </a:extLst>
          </p:cNvPr>
          <p:cNvSpPr txBox="1"/>
          <p:nvPr>
            <p:custDataLst>
              <p:tags r:id="rId16"/>
            </p:custDataLst>
          </p:nvPr>
        </p:nvSpPr>
        <p:spPr>
          <a:xfrm>
            <a:off x="639371" y="4744603"/>
            <a:ext cx="3176300" cy="246221"/>
          </a:xfrm>
          <a:prstGeom prst="rect">
            <a:avLst/>
          </a:prstGeom>
          <a:noFill/>
        </p:spPr>
        <p:txBody>
          <a:bodyPr wrap="square" rtlCol="0">
            <a:spAutoFit/>
          </a:bodyPr>
          <a:lstStyle/>
          <a:p>
            <a:r>
              <a:rPr lang="en-DK" sz="1000" dirty="0">
                <a:solidFill>
                  <a:srgbClr val="475569"/>
                </a:solidFill>
                <a:latin typeface="Calibri Light" pitchFamily="34" charset="0"/>
                <a:ea typeface="Calibri Light" pitchFamily="34" charset="-122"/>
                <a:cs typeface="Calibri Light" pitchFamily="34" charset="-120"/>
              </a:rPr>
              <a:t>FreshBox – Churn Prediction | 2</a:t>
            </a:r>
            <a:endParaRPr lang="en-GB" sz="1000" dirty="0">
              <a:solidFill>
                <a:srgbClr val="475569"/>
              </a:solidFill>
              <a:latin typeface="Calibri Light" pitchFamily="34" charset="0"/>
              <a:ea typeface="Calibri Light" pitchFamily="34" charset="-122"/>
              <a:cs typeface="Calibri Light" pitchFamily="34" charset="-120"/>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Solution Overview</a:t>
            </a:r>
            <a:endParaRPr lang="en-US" sz="2800" dirty="0"/>
          </a:p>
        </p:txBody>
      </p:sp>
      <p:sp>
        <p:nvSpPr>
          <p:cNvPr id="3" name="Shape 1"/>
          <p:cNvSpPr/>
          <p:nvPr>
            <p:custDataLst>
              <p:tags r:id="rId3"/>
            </p:custDataLst>
          </p:nvPr>
        </p:nvSpPr>
        <p:spPr>
          <a:xfrm>
            <a:off x="731520" y="934960"/>
            <a:ext cx="1783080" cy="150876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4" name="Shape 2"/>
          <p:cNvSpPr/>
          <p:nvPr>
            <p:custDataLst>
              <p:tags r:id="rId4"/>
            </p:custDataLst>
          </p:nvPr>
        </p:nvSpPr>
        <p:spPr>
          <a:xfrm>
            <a:off x="731520" y="934960"/>
            <a:ext cx="1783080" cy="54864"/>
          </a:xfrm>
          <a:prstGeom prst="rect">
            <a:avLst/>
          </a:prstGeom>
          <a:solidFill>
            <a:srgbClr val="0EA5E9"/>
          </a:solidFill>
          <a:ln/>
        </p:spPr>
        <p:txBody>
          <a:bodyPr/>
          <a:lstStyle/>
          <a:p>
            <a:endParaRPr lang="en-GB"/>
          </a:p>
        </p:txBody>
      </p:sp>
      <p:pic>
        <p:nvPicPr>
          <p:cNvPr id="5" name="Image 0" descr="preencoded.png"/>
          <p:cNvPicPr>
            <a:picLocks noChangeAspect="1"/>
          </p:cNvPicPr>
          <p:nvPr>
            <p:custDataLst>
              <p:tags r:id="rId5"/>
            </p:custDataLst>
          </p:nvPr>
        </p:nvPicPr>
        <p:blipFill>
          <a:blip r:embed="rId33"/>
          <a:stretch>
            <a:fillRect/>
          </a:stretch>
        </p:blipFill>
        <p:spPr>
          <a:xfrm>
            <a:off x="868680" y="1163560"/>
            <a:ext cx="320040" cy="320040"/>
          </a:xfrm>
          <a:prstGeom prst="rect">
            <a:avLst/>
          </a:prstGeom>
        </p:spPr>
      </p:pic>
      <p:sp>
        <p:nvSpPr>
          <p:cNvPr id="6" name="Text 3"/>
          <p:cNvSpPr/>
          <p:nvPr>
            <p:custDataLst>
              <p:tags r:id="rId6"/>
            </p:custDataLst>
          </p:nvPr>
        </p:nvSpPr>
        <p:spPr>
          <a:xfrm>
            <a:off x="1280160" y="1163560"/>
            <a:ext cx="1097280"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Map</a:t>
            </a:r>
            <a:endParaRPr lang="en-US" sz="1600" dirty="0"/>
          </a:p>
        </p:txBody>
      </p:sp>
      <p:sp>
        <p:nvSpPr>
          <p:cNvPr id="7" name="Text 4"/>
          <p:cNvSpPr/>
          <p:nvPr>
            <p:custDataLst>
              <p:tags r:id="rId7"/>
            </p:custDataLst>
          </p:nvPr>
        </p:nvSpPr>
        <p:spPr>
          <a:xfrm>
            <a:off x="868680" y="1620760"/>
            <a:ext cx="1508760" cy="731520"/>
          </a:xfrm>
          <a:prstGeom prst="rect">
            <a:avLst/>
          </a:prstGeom>
          <a:noFill/>
          <a:ln/>
        </p:spPr>
        <p:txBody>
          <a:bodyPr wrap="square" lIns="0" tIns="0" rIns="0" bIns="0" rtlCol="0" anchor="ctr"/>
          <a:lstStyle/>
          <a:p>
            <a:pPr marL="0" indent="0">
              <a:buNone/>
            </a:pPr>
            <a:r>
              <a:rPr lang="en-US" sz="1000" dirty="0">
                <a:solidFill>
                  <a:srgbClr val="475569"/>
                </a:solidFill>
                <a:latin typeface="Calibri Light" pitchFamily="34" charset="0"/>
                <a:ea typeface="Calibri Light" pitchFamily="34" charset="-122"/>
                <a:cs typeface="Calibri Light" pitchFamily="34" charset="-120"/>
              </a:rPr>
              <a:t>Understand how FreshBox uses information to make retention decisions</a:t>
            </a:r>
            <a:endParaRPr lang="en-US" sz="1000" dirty="0"/>
          </a:p>
        </p:txBody>
      </p:sp>
      <p:sp>
        <p:nvSpPr>
          <p:cNvPr id="8" name="Text 5"/>
          <p:cNvSpPr/>
          <p:nvPr>
            <p:custDataLst>
              <p:tags r:id="rId8"/>
            </p:custDataLst>
          </p:nvPr>
        </p:nvSpPr>
        <p:spPr>
          <a:xfrm>
            <a:off x="2532888" y="1483600"/>
            <a:ext cx="146304" cy="365760"/>
          </a:xfrm>
          <a:prstGeom prst="rect">
            <a:avLst/>
          </a:prstGeom>
          <a:noFill/>
          <a:ln/>
        </p:spPr>
        <p:txBody>
          <a:bodyPr wrap="square" lIns="0" tIns="0" rIns="0" bIns="0" rtlCol="0" anchor="ctr"/>
          <a:lstStyle/>
          <a:p>
            <a:pPr marL="0" indent="0" algn="ctr">
              <a:buNone/>
            </a:pPr>
            <a:r>
              <a:rPr lang="en-US" sz="1400" dirty="0">
                <a:solidFill>
                  <a:srgbClr val="0EA5E9"/>
                </a:solidFill>
                <a:latin typeface="Calibri" pitchFamily="34" charset="0"/>
                <a:ea typeface="Calibri" pitchFamily="34" charset="-122"/>
                <a:cs typeface="Calibri" pitchFamily="34" charset="-120"/>
              </a:rPr>
              <a:t>▶</a:t>
            </a:r>
            <a:endParaRPr lang="en-US" sz="1400" dirty="0"/>
          </a:p>
        </p:txBody>
      </p:sp>
      <p:sp>
        <p:nvSpPr>
          <p:cNvPr id="9" name="Shape 6"/>
          <p:cNvSpPr/>
          <p:nvPr>
            <p:custDataLst>
              <p:tags r:id="rId9"/>
            </p:custDataLst>
          </p:nvPr>
        </p:nvSpPr>
        <p:spPr>
          <a:xfrm>
            <a:off x="2697480" y="934960"/>
            <a:ext cx="1783080" cy="150876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0" name="Shape 7"/>
          <p:cNvSpPr/>
          <p:nvPr>
            <p:custDataLst>
              <p:tags r:id="rId10"/>
            </p:custDataLst>
          </p:nvPr>
        </p:nvSpPr>
        <p:spPr>
          <a:xfrm>
            <a:off x="2697480" y="934960"/>
            <a:ext cx="1783080" cy="54864"/>
          </a:xfrm>
          <a:prstGeom prst="rect">
            <a:avLst/>
          </a:prstGeom>
          <a:solidFill>
            <a:srgbClr val="0EA5E9"/>
          </a:solidFill>
          <a:ln/>
        </p:spPr>
        <p:txBody>
          <a:bodyPr/>
          <a:lstStyle/>
          <a:p>
            <a:endParaRPr lang="en-GB"/>
          </a:p>
        </p:txBody>
      </p:sp>
      <p:pic>
        <p:nvPicPr>
          <p:cNvPr id="11" name="Image 1" descr="preencoded.png"/>
          <p:cNvPicPr>
            <a:picLocks noChangeAspect="1"/>
          </p:cNvPicPr>
          <p:nvPr>
            <p:custDataLst>
              <p:tags r:id="rId11"/>
            </p:custDataLst>
          </p:nvPr>
        </p:nvPicPr>
        <p:blipFill>
          <a:blip r:embed="rId34"/>
          <a:stretch>
            <a:fillRect/>
          </a:stretch>
        </p:blipFill>
        <p:spPr>
          <a:xfrm>
            <a:off x="2834640" y="1163560"/>
            <a:ext cx="320040" cy="320040"/>
          </a:xfrm>
          <a:prstGeom prst="rect">
            <a:avLst/>
          </a:prstGeom>
        </p:spPr>
      </p:pic>
      <p:sp>
        <p:nvSpPr>
          <p:cNvPr id="12" name="Text 8"/>
          <p:cNvSpPr/>
          <p:nvPr>
            <p:custDataLst>
              <p:tags r:id="rId12"/>
            </p:custDataLst>
          </p:nvPr>
        </p:nvSpPr>
        <p:spPr>
          <a:xfrm>
            <a:off x="3246120" y="1163560"/>
            <a:ext cx="1097280"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Identify</a:t>
            </a:r>
            <a:endParaRPr lang="en-US" sz="1600" dirty="0"/>
          </a:p>
        </p:txBody>
      </p:sp>
      <p:sp>
        <p:nvSpPr>
          <p:cNvPr id="13" name="Text 9"/>
          <p:cNvSpPr/>
          <p:nvPr>
            <p:custDataLst>
              <p:tags r:id="rId13"/>
            </p:custDataLst>
          </p:nvPr>
        </p:nvSpPr>
        <p:spPr>
          <a:xfrm>
            <a:off x="2834640" y="1620760"/>
            <a:ext cx="1508760" cy="731520"/>
          </a:xfrm>
          <a:prstGeom prst="rect">
            <a:avLst/>
          </a:prstGeom>
          <a:noFill/>
          <a:ln/>
        </p:spPr>
        <p:txBody>
          <a:bodyPr wrap="square" lIns="0" tIns="0" rIns="0" bIns="0" rtlCol="0" anchor="ctr"/>
          <a:lstStyle/>
          <a:p>
            <a:pPr marL="0" indent="0">
              <a:buNone/>
            </a:pPr>
            <a:r>
              <a:rPr lang="en-US" sz="1000" dirty="0">
                <a:solidFill>
                  <a:srgbClr val="475569"/>
                </a:solidFill>
                <a:latin typeface="Calibri Light" pitchFamily="34" charset="0"/>
                <a:ea typeface="Calibri Light" pitchFamily="34" charset="-122"/>
                <a:cs typeface="Calibri Light" pitchFamily="34" charset="-120"/>
              </a:rPr>
              <a:t>Validate churn prediction as the right focus and confirm data readiness</a:t>
            </a:r>
            <a:endParaRPr lang="en-US" sz="1000" dirty="0"/>
          </a:p>
        </p:txBody>
      </p:sp>
      <p:sp>
        <p:nvSpPr>
          <p:cNvPr id="14" name="Text 10"/>
          <p:cNvSpPr/>
          <p:nvPr>
            <p:custDataLst>
              <p:tags r:id="rId14"/>
            </p:custDataLst>
          </p:nvPr>
        </p:nvSpPr>
        <p:spPr>
          <a:xfrm>
            <a:off x="4498848" y="1483600"/>
            <a:ext cx="146304" cy="365760"/>
          </a:xfrm>
          <a:prstGeom prst="rect">
            <a:avLst/>
          </a:prstGeom>
          <a:noFill/>
          <a:ln/>
        </p:spPr>
        <p:txBody>
          <a:bodyPr wrap="square" lIns="0" tIns="0" rIns="0" bIns="0" rtlCol="0" anchor="ctr"/>
          <a:lstStyle/>
          <a:p>
            <a:pPr marL="0" indent="0" algn="ctr">
              <a:buNone/>
            </a:pPr>
            <a:r>
              <a:rPr lang="en-US" sz="1400" dirty="0">
                <a:solidFill>
                  <a:srgbClr val="0EA5E9"/>
                </a:solidFill>
                <a:latin typeface="Calibri" pitchFamily="34" charset="0"/>
                <a:ea typeface="Calibri" pitchFamily="34" charset="-122"/>
                <a:cs typeface="Calibri" pitchFamily="34" charset="-120"/>
              </a:rPr>
              <a:t>▶</a:t>
            </a:r>
            <a:endParaRPr lang="en-US" sz="1400" dirty="0"/>
          </a:p>
        </p:txBody>
      </p:sp>
      <p:sp>
        <p:nvSpPr>
          <p:cNvPr id="15" name="Shape 11"/>
          <p:cNvSpPr/>
          <p:nvPr>
            <p:custDataLst>
              <p:tags r:id="rId15"/>
            </p:custDataLst>
          </p:nvPr>
        </p:nvSpPr>
        <p:spPr>
          <a:xfrm>
            <a:off x="4663440" y="934960"/>
            <a:ext cx="1783080" cy="150876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6" name="Shape 12"/>
          <p:cNvSpPr/>
          <p:nvPr>
            <p:custDataLst>
              <p:tags r:id="rId16"/>
            </p:custDataLst>
          </p:nvPr>
        </p:nvSpPr>
        <p:spPr>
          <a:xfrm>
            <a:off x="4663440" y="934960"/>
            <a:ext cx="1783080" cy="54864"/>
          </a:xfrm>
          <a:prstGeom prst="rect">
            <a:avLst/>
          </a:prstGeom>
          <a:solidFill>
            <a:srgbClr val="0EA5E9"/>
          </a:solidFill>
          <a:ln/>
        </p:spPr>
        <p:txBody>
          <a:bodyPr/>
          <a:lstStyle/>
          <a:p>
            <a:endParaRPr lang="en-GB"/>
          </a:p>
        </p:txBody>
      </p:sp>
      <p:pic>
        <p:nvPicPr>
          <p:cNvPr id="17" name="Image 2" descr="preencoded.png"/>
          <p:cNvPicPr>
            <a:picLocks noChangeAspect="1"/>
          </p:cNvPicPr>
          <p:nvPr>
            <p:custDataLst>
              <p:tags r:id="rId17"/>
            </p:custDataLst>
          </p:nvPr>
        </p:nvPicPr>
        <p:blipFill>
          <a:blip r:embed="rId35"/>
          <a:stretch>
            <a:fillRect/>
          </a:stretch>
        </p:blipFill>
        <p:spPr>
          <a:xfrm>
            <a:off x="4800600" y="1163560"/>
            <a:ext cx="320040" cy="320040"/>
          </a:xfrm>
          <a:prstGeom prst="rect">
            <a:avLst/>
          </a:prstGeom>
        </p:spPr>
      </p:pic>
      <p:sp>
        <p:nvSpPr>
          <p:cNvPr id="18" name="Text 13"/>
          <p:cNvSpPr/>
          <p:nvPr>
            <p:custDataLst>
              <p:tags r:id="rId18"/>
            </p:custDataLst>
          </p:nvPr>
        </p:nvSpPr>
        <p:spPr>
          <a:xfrm>
            <a:off x="5212080" y="1163560"/>
            <a:ext cx="1097280"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Build</a:t>
            </a:r>
            <a:endParaRPr lang="en-US" sz="1600" dirty="0"/>
          </a:p>
        </p:txBody>
      </p:sp>
      <p:sp>
        <p:nvSpPr>
          <p:cNvPr id="19" name="Text 14"/>
          <p:cNvSpPr/>
          <p:nvPr>
            <p:custDataLst>
              <p:tags r:id="rId19"/>
            </p:custDataLst>
          </p:nvPr>
        </p:nvSpPr>
        <p:spPr>
          <a:xfrm>
            <a:off x="4800600" y="1620760"/>
            <a:ext cx="1508760" cy="731520"/>
          </a:xfrm>
          <a:prstGeom prst="rect">
            <a:avLst/>
          </a:prstGeom>
          <a:noFill/>
          <a:ln/>
        </p:spPr>
        <p:txBody>
          <a:bodyPr wrap="square" lIns="0" tIns="0" rIns="0" bIns="0" rtlCol="0" anchor="ctr"/>
          <a:lstStyle/>
          <a:p>
            <a:pPr marL="0" indent="0">
              <a:buNone/>
            </a:pPr>
            <a:r>
              <a:rPr lang="en-US" sz="1000" dirty="0">
                <a:solidFill>
                  <a:srgbClr val="475569"/>
                </a:solidFill>
                <a:latin typeface="Calibri Light" pitchFamily="34" charset="0"/>
                <a:ea typeface="Calibri Light" pitchFamily="34" charset="-122"/>
                <a:cs typeface="Calibri Light" pitchFamily="34" charset="-120"/>
              </a:rPr>
              <a:t>Build prototype model, identify churn drivers and create intervention playbook</a:t>
            </a:r>
            <a:endParaRPr lang="en-US" sz="1000" dirty="0"/>
          </a:p>
        </p:txBody>
      </p:sp>
      <p:sp>
        <p:nvSpPr>
          <p:cNvPr id="20" name="Text 15"/>
          <p:cNvSpPr/>
          <p:nvPr>
            <p:custDataLst>
              <p:tags r:id="rId20"/>
            </p:custDataLst>
          </p:nvPr>
        </p:nvSpPr>
        <p:spPr>
          <a:xfrm>
            <a:off x="6464808" y="1483600"/>
            <a:ext cx="146304" cy="365760"/>
          </a:xfrm>
          <a:prstGeom prst="rect">
            <a:avLst/>
          </a:prstGeom>
          <a:noFill/>
          <a:ln/>
        </p:spPr>
        <p:txBody>
          <a:bodyPr wrap="square" lIns="0" tIns="0" rIns="0" bIns="0" rtlCol="0" anchor="ctr"/>
          <a:lstStyle/>
          <a:p>
            <a:pPr marL="0" indent="0" algn="ctr">
              <a:buNone/>
            </a:pPr>
            <a:r>
              <a:rPr lang="en-US" sz="1400" dirty="0">
                <a:solidFill>
                  <a:srgbClr val="0EA5E9"/>
                </a:solidFill>
                <a:latin typeface="Calibri" pitchFamily="34" charset="0"/>
                <a:ea typeface="Calibri" pitchFamily="34" charset="-122"/>
                <a:cs typeface="Calibri" pitchFamily="34" charset="-120"/>
              </a:rPr>
              <a:t>▶</a:t>
            </a:r>
            <a:endParaRPr lang="en-US" sz="1400" dirty="0"/>
          </a:p>
        </p:txBody>
      </p:sp>
      <p:sp>
        <p:nvSpPr>
          <p:cNvPr id="21" name="Shape 16"/>
          <p:cNvSpPr/>
          <p:nvPr>
            <p:custDataLst>
              <p:tags r:id="rId21"/>
            </p:custDataLst>
          </p:nvPr>
        </p:nvSpPr>
        <p:spPr>
          <a:xfrm>
            <a:off x="6629400" y="934960"/>
            <a:ext cx="1783080" cy="150876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22" name="Shape 17"/>
          <p:cNvSpPr/>
          <p:nvPr>
            <p:custDataLst>
              <p:tags r:id="rId22"/>
            </p:custDataLst>
          </p:nvPr>
        </p:nvSpPr>
        <p:spPr>
          <a:xfrm>
            <a:off x="6629400" y="934960"/>
            <a:ext cx="1783080" cy="54864"/>
          </a:xfrm>
          <a:prstGeom prst="rect">
            <a:avLst/>
          </a:prstGeom>
          <a:solidFill>
            <a:srgbClr val="0EA5E9"/>
          </a:solidFill>
          <a:ln/>
        </p:spPr>
        <p:txBody>
          <a:bodyPr/>
          <a:lstStyle/>
          <a:p>
            <a:endParaRPr lang="en-GB"/>
          </a:p>
        </p:txBody>
      </p:sp>
      <p:pic>
        <p:nvPicPr>
          <p:cNvPr id="23" name="Image 3" descr="preencoded.png"/>
          <p:cNvPicPr>
            <a:picLocks noChangeAspect="1"/>
          </p:cNvPicPr>
          <p:nvPr>
            <p:custDataLst>
              <p:tags r:id="rId23"/>
            </p:custDataLst>
          </p:nvPr>
        </p:nvPicPr>
        <p:blipFill>
          <a:blip r:embed="rId36"/>
          <a:stretch>
            <a:fillRect/>
          </a:stretch>
        </p:blipFill>
        <p:spPr>
          <a:xfrm>
            <a:off x="6766560" y="1163560"/>
            <a:ext cx="320040" cy="320040"/>
          </a:xfrm>
          <a:prstGeom prst="rect">
            <a:avLst/>
          </a:prstGeom>
        </p:spPr>
      </p:pic>
      <p:sp>
        <p:nvSpPr>
          <p:cNvPr id="24" name="Text 18"/>
          <p:cNvSpPr/>
          <p:nvPr>
            <p:custDataLst>
              <p:tags r:id="rId24"/>
            </p:custDataLst>
          </p:nvPr>
        </p:nvSpPr>
        <p:spPr>
          <a:xfrm>
            <a:off x="7178040" y="1163560"/>
            <a:ext cx="1097280"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Deploy</a:t>
            </a:r>
            <a:endParaRPr lang="en-US" sz="1600" dirty="0"/>
          </a:p>
        </p:txBody>
      </p:sp>
      <p:sp>
        <p:nvSpPr>
          <p:cNvPr id="25" name="Text 19"/>
          <p:cNvSpPr/>
          <p:nvPr>
            <p:custDataLst>
              <p:tags r:id="rId25"/>
            </p:custDataLst>
          </p:nvPr>
        </p:nvSpPr>
        <p:spPr>
          <a:xfrm>
            <a:off x="6766560" y="1620760"/>
            <a:ext cx="1508760" cy="731520"/>
          </a:xfrm>
          <a:prstGeom prst="rect">
            <a:avLst/>
          </a:prstGeom>
          <a:noFill/>
          <a:ln/>
        </p:spPr>
        <p:txBody>
          <a:bodyPr wrap="square" lIns="0" tIns="0" rIns="0" bIns="0" rtlCol="0" anchor="ctr"/>
          <a:lstStyle/>
          <a:p>
            <a:pPr marL="0" indent="0">
              <a:buNone/>
            </a:pPr>
            <a:r>
              <a:rPr lang="en-US" sz="1000" dirty="0">
                <a:solidFill>
                  <a:srgbClr val="475569"/>
                </a:solidFill>
                <a:latin typeface="Calibri Light" pitchFamily="34" charset="0"/>
                <a:ea typeface="Calibri Light" pitchFamily="34" charset="-122"/>
                <a:cs typeface="Calibri Light" pitchFamily="34" charset="-120"/>
              </a:rPr>
              <a:t>Integrate into systems, train the team, establish measurement framework</a:t>
            </a:r>
            <a:endParaRPr lang="en-US" sz="1000" dirty="0"/>
          </a:p>
        </p:txBody>
      </p:sp>
      <p:sp>
        <p:nvSpPr>
          <p:cNvPr id="26" name="Text 20"/>
          <p:cNvSpPr/>
          <p:nvPr>
            <p:custDataLst>
              <p:tags r:id="rId26"/>
            </p:custDataLst>
          </p:nvPr>
        </p:nvSpPr>
        <p:spPr>
          <a:xfrm>
            <a:off x="731520" y="2629792"/>
            <a:ext cx="3703320"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Modelling Approach</a:t>
            </a:r>
            <a:endParaRPr lang="en-US" sz="1600" dirty="0"/>
          </a:p>
        </p:txBody>
      </p:sp>
      <p:sp>
        <p:nvSpPr>
          <p:cNvPr id="27" name="Text 21"/>
          <p:cNvSpPr/>
          <p:nvPr>
            <p:custDataLst>
              <p:tags r:id="rId27"/>
            </p:custDataLst>
          </p:nvPr>
        </p:nvSpPr>
        <p:spPr>
          <a:xfrm>
            <a:off x="731520" y="3034892"/>
            <a:ext cx="3703320" cy="1463040"/>
          </a:xfrm>
          <a:prstGeom prst="rect">
            <a:avLst/>
          </a:prstGeom>
          <a:noFill/>
          <a:ln/>
        </p:spPr>
        <p:txBody>
          <a:bodyPr wrap="square" lIns="0" tIns="0" rIns="0" bIns="0" rtlCol="0" anchor="t"/>
          <a:lstStyle/>
          <a:p>
            <a:pPr marL="342900" indent="-342900">
              <a:spcAft>
                <a:spcPts val="600"/>
              </a:spcAft>
              <a:buSzPct val="100000"/>
              <a:buChar char="•"/>
            </a:pPr>
            <a:r>
              <a:rPr lang="en-GB" sz="1100" b="1" dirty="0">
                <a:solidFill>
                  <a:srgbClr val="475569"/>
                </a:solidFill>
                <a:latin typeface="Calibri Light" pitchFamily="34" charset="0"/>
                <a:ea typeface="Calibri Light" pitchFamily="34" charset="-122"/>
                <a:cs typeface="Calibri Light" pitchFamily="34" charset="-120"/>
              </a:rPr>
              <a:t>Heuristic baseline</a:t>
            </a:r>
            <a:r>
              <a:rPr lang="en-GB" sz="1100" dirty="0">
                <a:solidFill>
                  <a:srgbClr val="475569"/>
                </a:solidFill>
                <a:latin typeface="Calibri Light" pitchFamily="34" charset="0"/>
                <a:ea typeface="Calibri Light" pitchFamily="34" charset="-122"/>
                <a:cs typeface="Calibri Light" pitchFamily="34" charset="-120"/>
              </a:rPr>
              <a:t> to set the performance bar (flags customers with low ratings, declining order frequency or delivery complaints)</a:t>
            </a:r>
            <a:endParaRPr lang="en-DK" sz="1100" dirty="0">
              <a:solidFill>
                <a:srgbClr val="475569"/>
              </a:solidFill>
              <a:latin typeface="Calibri Light" pitchFamily="34" charset="0"/>
              <a:ea typeface="Calibri Light" pitchFamily="34" charset="-122"/>
              <a:cs typeface="Calibri Light" pitchFamily="34" charset="-120"/>
            </a:endParaRPr>
          </a:p>
          <a:p>
            <a:pPr marL="342900" indent="-342900">
              <a:spcAft>
                <a:spcPts val="600"/>
              </a:spcAft>
              <a:buSzPct val="100000"/>
              <a:buChar char="•"/>
            </a:pPr>
            <a:r>
              <a:rPr lang="en-US" sz="1100" b="1" dirty="0">
                <a:solidFill>
                  <a:srgbClr val="475569"/>
                </a:solidFill>
                <a:latin typeface="Calibri Light" pitchFamily="34" charset="0"/>
                <a:ea typeface="Calibri Light" pitchFamily="34" charset="-122"/>
                <a:cs typeface="Calibri Light" pitchFamily="34" charset="-120"/>
              </a:rPr>
              <a:t>Logistic regression</a:t>
            </a:r>
            <a:r>
              <a:rPr lang="en-US" sz="1100" dirty="0">
                <a:solidFill>
                  <a:srgbClr val="475569"/>
                </a:solidFill>
                <a:latin typeface="Calibri Light" pitchFamily="34" charset="0"/>
                <a:ea typeface="Calibri Light" pitchFamily="34" charset="-122"/>
                <a:cs typeface="Calibri Light" pitchFamily="34" charset="-120"/>
              </a:rPr>
              <a:t> for interpretability</a:t>
            </a:r>
            <a:r>
              <a:rPr lang="en-DK" sz="1100" dirty="0">
                <a:solidFill>
                  <a:srgbClr val="475569"/>
                </a:solidFill>
                <a:latin typeface="Calibri Light" pitchFamily="34" charset="0"/>
                <a:ea typeface="Calibri Light" pitchFamily="34" charset="-122"/>
                <a:cs typeface="Calibri Light" pitchFamily="34" charset="-120"/>
              </a:rPr>
              <a:t> </a:t>
            </a:r>
            <a:r>
              <a:rPr lang="en-GB" sz="1100" dirty="0">
                <a:solidFill>
                  <a:srgbClr val="475569"/>
                </a:solidFill>
                <a:latin typeface="Calibri Light" pitchFamily="34" charset="0"/>
                <a:ea typeface="Calibri Light" pitchFamily="34" charset="-122"/>
                <a:cs typeface="Calibri Light" pitchFamily="34" charset="-120"/>
              </a:rPr>
              <a:t>(each prediction can be explained by specific customer behaviours)</a:t>
            </a:r>
            <a:endParaRPr lang="en-US" sz="1100" dirty="0"/>
          </a:p>
          <a:p>
            <a:pPr marL="342900" indent="-342900">
              <a:spcAft>
                <a:spcPts val="600"/>
              </a:spcAft>
              <a:buSzPct val="100000"/>
              <a:buChar char="•"/>
            </a:pPr>
            <a:r>
              <a:rPr lang="en-GB" sz="1100" b="1" dirty="0">
                <a:solidFill>
                  <a:srgbClr val="475569"/>
                </a:solidFill>
                <a:latin typeface="Calibri Light" pitchFamily="34" charset="0"/>
                <a:ea typeface="Calibri Light" pitchFamily="34" charset="-122"/>
                <a:cs typeface="Calibri Light" pitchFamily="34" charset="-120"/>
              </a:rPr>
              <a:t>XGBoost </a:t>
            </a:r>
            <a:r>
              <a:rPr lang="en-GB" sz="1100" dirty="0">
                <a:solidFill>
                  <a:srgbClr val="475569"/>
                </a:solidFill>
                <a:latin typeface="Calibri Light" pitchFamily="34" charset="0"/>
                <a:ea typeface="Calibri Light" pitchFamily="34" charset="-122"/>
                <a:cs typeface="Calibri Light" pitchFamily="34" charset="-120"/>
              </a:rPr>
              <a:t>for </a:t>
            </a:r>
            <a:r>
              <a:rPr lang="en-DK" sz="1100" dirty="0">
                <a:solidFill>
                  <a:srgbClr val="475569"/>
                </a:solidFill>
                <a:latin typeface="Calibri Light" pitchFamily="34" charset="0"/>
                <a:ea typeface="Calibri Light" pitchFamily="34" charset="-122"/>
                <a:cs typeface="Calibri Light" pitchFamily="34" charset="-120"/>
              </a:rPr>
              <a:t>catching at-risk customers</a:t>
            </a:r>
            <a:r>
              <a:rPr lang="en-GB" sz="1100" dirty="0">
                <a:solidFill>
                  <a:srgbClr val="475569"/>
                </a:solidFill>
                <a:latin typeface="Calibri Light" pitchFamily="34" charset="0"/>
                <a:ea typeface="Calibri Light" pitchFamily="34" charset="-122"/>
                <a:cs typeface="Calibri Light" pitchFamily="34" charset="-120"/>
              </a:rPr>
              <a:t> (captures complex patterns across multiple signals simultaneously)</a:t>
            </a:r>
            <a:endParaRPr lang="en-DK" sz="1100" b="1" dirty="0">
              <a:solidFill>
                <a:srgbClr val="475569"/>
              </a:solidFill>
              <a:latin typeface="Calibri Light" pitchFamily="34" charset="0"/>
              <a:ea typeface="Calibri Light" pitchFamily="34" charset="-122"/>
              <a:cs typeface="Calibri Light" pitchFamily="34" charset="-120"/>
            </a:endParaRPr>
          </a:p>
          <a:p>
            <a:pPr marL="342900" indent="-342900">
              <a:spcAft>
                <a:spcPts val="600"/>
              </a:spcAft>
              <a:buSzPct val="100000"/>
              <a:buChar char="•"/>
            </a:pPr>
            <a:r>
              <a:rPr lang="en-US" sz="1100" b="1" dirty="0">
                <a:solidFill>
                  <a:srgbClr val="475569"/>
                </a:solidFill>
                <a:latin typeface="Calibri Light" pitchFamily="34" charset="0"/>
                <a:ea typeface="Calibri Light" pitchFamily="34" charset="-122"/>
                <a:cs typeface="Calibri Light" pitchFamily="34" charset="-120"/>
              </a:rPr>
              <a:t>Output</a:t>
            </a:r>
            <a:r>
              <a:rPr lang="en-US" sz="1100" dirty="0">
                <a:solidFill>
                  <a:srgbClr val="475569"/>
                </a:solidFill>
                <a:latin typeface="Calibri Light" pitchFamily="34" charset="0"/>
                <a:ea typeface="Calibri Light" pitchFamily="34" charset="-122"/>
                <a:cs typeface="Calibri Light" pitchFamily="34" charset="-120"/>
              </a:rPr>
              <a:t>: weekly churn risk score per customer (0-1</a:t>
            </a:r>
            <a:r>
              <a:rPr lang="en-DK" sz="1100" dirty="0">
                <a:solidFill>
                  <a:srgbClr val="475569"/>
                </a:solidFill>
                <a:latin typeface="Calibri Light" pitchFamily="34" charset="0"/>
                <a:ea typeface="Calibri Light" pitchFamily="34" charset="-122"/>
                <a:cs typeface="Calibri Light" pitchFamily="34" charset="-120"/>
              </a:rPr>
              <a:t>00%</a:t>
            </a:r>
            <a:r>
              <a:rPr lang="en-US" sz="1100" dirty="0">
                <a:solidFill>
                  <a:srgbClr val="475569"/>
                </a:solidFill>
                <a:latin typeface="Calibri Light" pitchFamily="34" charset="0"/>
                <a:ea typeface="Calibri Light" pitchFamily="34" charset="-122"/>
                <a:cs typeface="Calibri Light" pitchFamily="34" charset="-120"/>
              </a:rPr>
              <a:t>)</a:t>
            </a:r>
            <a:endParaRPr lang="en-US" sz="1100" dirty="0"/>
          </a:p>
        </p:txBody>
      </p:sp>
      <p:sp>
        <p:nvSpPr>
          <p:cNvPr id="28" name="Text 22"/>
          <p:cNvSpPr/>
          <p:nvPr>
            <p:custDataLst>
              <p:tags r:id="rId28"/>
            </p:custDataLst>
          </p:nvPr>
        </p:nvSpPr>
        <p:spPr>
          <a:xfrm>
            <a:off x="4709160" y="2629792"/>
            <a:ext cx="3703320"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Analytical Techniques</a:t>
            </a:r>
            <a:endParaRPr lang="en-US" sz="1600" dirty="0"/>
          </a:p>
        </p:txBody>
      </p:sp>
      <p:sp>
        <p:nvSpPr>
          <p:cNvPr id="29" name="Text 23"/>
          <p:cNvSpPr/>
          <p:nvPr>
            <p:custDataLst>
              <p:tags r:id="rId29"/>
            </p:custDataLst>
          </p:nvPr>
        </p:nvSpPr>
        <p:spPr>
          <a:xfrm>
            <a:off x="4709160" y="3034892"/>
            <a:ext cx="3703320" cy="14630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Cohort analysis by acquisition channel and plan type</a:t>
            </a:r>
            <a:endParaRPr lang="en-DK" sz="1100" dirty="0">
              <a:solidFill>
                <a:srgbClr val="475569"/>
              </a:solidFill>
              <a:latin typeface="Calibri Light" pitchFamily="34" charset="0"/>
              <a:ea typeface="Calibri Light" pitchFamily="34" charset="-122"/>
              <a:cs typeface="Calibri Light" pitchFamily="34" charset="-120"/>
            </a:endParaRPr>
          </a:p>
          <a:p>
            <a:pPr marL="342900" indent="-342900">
              <a:spcAft>
                <a:spcPts val="600"/>
              </a:spcAft>
              <a:buSzPct val="100000"/>
              <a:buFontTx/>
              <a:buChar char="•"/>
            </a:pPr>
            <a:r>
              <a:rPr lang="en-US" sz="1100" dirty="0">
                <a:solidFill>
                  <a:srgbClr val="475569"/>
                </a:solidFill>
                <a:latin typeface="Calibri Light" pitchFamily="34" charset="0"/>
                <a:ea typeface="Calibri Light" pitchFamily="34" charset="-122"/>
                <a:cs typeface="Calibri Light" pitchFamily="34" charset="-120"/>
              </a:rPr>
              <a:t>Feature engineering: </a:t>
            </a:r>
            <a:r>
              <a:rPr lang="en-GB" sz="1100" dirty="0">
                <a:solidFill>
                  <a:srgbClr val="475569"/>
                </a:solidFill>
                <a:latin typeface="Calibri Light" pitchFamily="34" charset="0"/>
                <a:ea typeface="Calibri Light" pitchFamily="34" charset="-122"/>
                <a:cs typeface="Calibri Light" pitchFamily="34" charset="-120"/>
              </a:rPr>
              <a:t>order frequency trends, recipe satisfaction scores</a:t>
            </a:r>
            <a:r>
              <a:rPr lang="en-US" sz="1100" dirty="0">
                <a:solidFill>
                  <a:srgbClr val="475569"/>
                </a:solidFill>
                <a:latin typeface="Calibri Light" pitchFamily="34" charset="0"/>
                <a:ea typeface="Calibri Light" pitchFamily="34" charset="-122"/>
                <a:cs typeface="Calibri Light" pitchFamily="34" charset="-120"/>
              </a:rPr>
              <a:t>, discount dependency</a:t>
            </a:r>
            <a:endParaRPr lang="en-US" sz="1100" dirty="0"/>
          </a:p>
          <a:p>
            <a:pPr marL="342900" indent="-342900">
              <a:spcAft>
                <a:spcPts val="600"/>
              </a:spcAft>
              <a:buSzPct val="100000"/>
              <a:buChar char="•"/>
            </a:pPr>
            <a:r>
              <a:rPr lang="en-GB" sz="1100" dirty="0">
                <a:solidFill>
                  <a:srgbClr val="475569"/>
                </a:solidFill>
                <a:latin typeface="Calibri Light" pitchFamily="34" charset="0"/>
                <a:ea typeface="Calibri Light" pitchFamily="34" charset="-122"/>
                <a:cs typeface="Calibri Light" pitchFamily="34" charset="-120"/>
              </a:rPr>
              <a:t>A/B testing framework for intervention effectiveness</a:t>
            </a:r>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SHAP values for individual-level churn explanations</a:t>
            </a:r>
            <a:endParaRPr lang="en-US" sz="1100" dirty="0"/>
          </a:p>
        </p:txBody>
      </p:sp>
      <p:sp>
        <p:nvSpPr>
          <p:cNvPr id="30" name="TextBox 29">
            <a:extLst>
              <a:ext uri="{FF2B5EF4-FFF2-40B4-BE49-F238E27FC236}">
                <a16:creationId xmlns:a16="http://schemas.microsoft.com/office/drawing/2014/main" id="{B0326477-0870-B059-31D5-FA8EAB92BC3F}"/>
              </a:ext>
            </a:extLst>
          </p:cNvPr>
          <p:cNvSpPr txBox="1"/>
          <p:nvPr>
            <p:custDataLst>
              <p:tags r:id="rId30"/>
            </p:custDataLst>
          </p:nvPr>
        </p:nvSpPr>
        <p:spPr>
          <a:xfrm>
            <a:off x="639371" y="4744603"/>
            <a:ext cx="3176300" cy="246221"/>
          </a:xfrm>
          <a:prstGeom prst="rect">
            <a:avLst/>
          </a:prstGeom>
          <a:noFill/>
        </p:spPr>
        <p:txBody>
          <a:bodyPr wrap="square" rtlCol="0">
            <a:spAutoFit/>
          </a:bodyPr>
          <a:lstStyle/>
          <a:p>
            <a:r>
              <a:rPr lang="en-DK" sz="1000" dirty="0">
                <a:solidFill>
                  <a:srgbClr val="475569"/>
                </a:solidFill>
                <a:latin typeface="Calibri Light" pitchFamily="34" charset="0"/>
                <a:ea typeface="Calibri Light" pitchFamily="34" charset="-122"/>
                <a:cs typeface="Calibri Light" pitchFamily="34" charset="-120"/>
              </a:rPr>
              <a:t>FreshBox – Churn Prediction | 3</a:t>
            </a:r>
            <a:endParaRPr lang="en-GB" sz="1000" dirty="0">
              <a:solidFill>
                <a:srgbClr val="475569"/>
              </a:solidFill>
              <a:latin typeface="Calibri Light" pitchFamily="34" charset="0"/>
              <a:ea typeface="Calibri Light" pitchFamily="34" charset="-122"/>
              <a:cs typeface="Calibri Light" pitchFamily="34" charset="-12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7" name="Shape 18">
            <a:extLst>
              <a:ext uri="{FF2B5EF4-FFF2-40B4-BE49-F238E27FC236}">
                <a16:creationId xmlns:a16="http://schemas.microsoft.com/office/drawing/2014/main" id="{79F8160A-B01D-198B-3673-65E2EDF8DB4A}"/>
              </a:ext>
            </a:extLst>
          </p:cNvPr>
          <p:cNvSpPr/>
          <p:nvPr>
            <p:custDataLst>
              <p:tags r:id="rId2"/>
            </p:custDataLst>
          </p:nvPr>
        </p:nvSpPr>
        <p:spPr>
          <a:xfrm>
            <a:off x="0" y="3695837"/>
            <a:ext cx="9144000" cy="1447663"/>
          </a:xfrm>
          <a:prstGeom prst="rect">
            <a:avLst/>
          </a:prstGeom>
          <a:solidFill>
            <a:srgbClr val="0F1629"/>
          </a:solidFill>
          <a:ln/>
        </p:spPr>
        <p:txBody>
          <a:bodyPr/>
          <a:lstStyle/>
          <a:p>
            <a:endParaRPr lang="en-GB"/>
          </a:p>
        </p:txBody>
      </p:sp>
      <p:sp>
        <p:nvSpPr>
          <p:cNvPr id="2" name="Text 0"/>
          <p:cNvSpPr/>
          <p:nvPr>
            <p:custDataLst>
              <p:tags r:id="rId3"/>
            </p:custDataLst>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Delivery Plan</a:t>
            </a:r>
            <a:endParaRPr lang="en-US" sz="2800" dirty="0"/>
          </a:p>
        </p:txBody>
      </p:sp>
      <p:sp>
        <p:nvSpPr>
          <p:cNvPr id="4" name="Text 2"/>
          <p:cNvSpPr/>
          <p:nvPr>
            <p:custDataLst>
              <p:tags r:id="rId4"/>
            </p:custDataLst>
          </p:nvPr>
        </p:nvSpPr>
        <p:spPr>
          <a:xfrm>
            <a:off x="731520" y="951617"/>
            <a:ext cx="7680960" cy="228600"/>
          </a:xfrm>
          <a:prstGeom prst="rect">
            <a:avLst/>
          </a:prstGeom>
          <a:noFill/>
          <a:ln/>
        </p:spPr>
        <p:txBody>
          <a:bodyPr wrap="square" lIns="0" tIns="0" rIns="0" bIns="0" rtlCol="0" anchor="ctr"/>
          <a:lstStyle/>
          <a:p>
            <a:pPr marL="0" indent="0">
              <a:buNone/>
            </a:pPr>
            <a:r>
              <a:rPr lang="en-US" sz="1050" b="1" kern="0" spc="200" dirty="0">
                <a:solidFill>
                  <a:srgbClr val="0EA5E9"/>
                </a:solidFill>
                <a:latin typeface="Calibri" pitchFamily="34" charset="0"/>
                <a:ea typeface="Calibri" pitchFamily="34" charset="-122"/>
                <a:cs typeface="Calibri" pitchFamily="34" charset="-120"/>
              </a:rPr>
              <a:t>PHASE 1: PROTOTYPE &amp; PILOT</a:t>
            </a:r>
            <a:endParaRPr lang="en-US" sz="1050" dirty="0"/>
          </a:p>
        </p:txBody>
      </p:sp>
      <p:sp>
        <p:nvSpPr>
          <p:cNvPr id="5" name="Shape 3"/>
          <p:cNvSpPr/>
          <p:nvPr>
            <p:custDataLst>
              <p:tags r:id="rId5"/>
            </p:custDataLst>
          </p:nvPr>
        </p:nvSpPr>
        <p:spPr>
          <a:xfrm>
            <a:off x="731520" y="1225937"/>
            <a:ext cx="1243584" cy="502920"/>
          </a:xfrm>
          <a:prstGeom prst="rect">
            <a:avLst/>
          </a:prstGeom>
          <a:solidFill>
            <a:srgbClr val="0C4A6E"/>
          </a:solidFill>
          <a:ln/>
        </p:spPr>
        <p:txBody>
          <a:bodyPr/>
          <a:lstStyle/>
          <a:p>
            <a:endParaRPr lang="en-GB"/>
          </a:p>
        </p:txBody>
      </p:sp>
      <p:sp>
        <p:nvSpPr>
          <p:cNvPr id="6" name="Text 4"/>
          <p:cNvSpPr/>
          <p:nvPr>
            <p:custDataLst>
              <p:tags r:id="rId6"/>
            </p:custDataLst>
          </p:nvPr>
        </p:nvSpPr>
        <p:spPr>
          <a:xfrm>
            <a:off x="731520" y="1225937"/>
            <a:ext cx="124358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 Exploration</a:t>
            </a:r>
            <a:endParaRPr lang="en-US" sz="1200" dirty="0"/>
          </a:p>
        </p:txBody>
      </p:sp>
      <p:sp>
        <p:nvSpPr>
          <p:cNvPr id="7" name="Text 5"/>
          <p:cNvSpPr/>
          <p:nvPr>
            <p:custDataLst>
              <p:tags r:id="rId7"/>
            </p:custDataLst>
          </p:nvPr>
        </p:nvSpPr>
        <p:spPr>
          <a:xfrm>
            <a:off x="731520" y="1500257"/>
            <a:ext cx="1243584"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Light" pitchFamily="34" charset="0"/>
                <a:ea typeface="Calibri Light" pitchFamily="34" charset="-122"/>
                <a:cs typeface="Calibri Light" pitchFamily="34" charset="-120"/>
              </a:rPr>
              <a:t>Week 1</a:t>
            </a:r>
            <a:endParaRPr lang="en-US" sz="1000" b="1" dirty="0"/>
          </a:p>
        </p:txBody>
      </p:sp>
      <p:sp>
        <p:nvSpPr>
          <p:cNvPr id="8" name="Text 6"/>
          <p:cNvSpPr/>
          <p:nvPr>
            <p:custDataLst>
              <p:tags r:id="rId8"/>
            </p:custDataLst>
          </p:nvPr>
        </p:nvSpPr>
        <p:spPr>
          <a:xfrm>
            <a:off x="731520" y="1756504"/>
            <a:ext cx="1243584" cy="411480"/>
          </a:xfrm>
          <a:prstGeom prst="rect">
            <a:avLst/>
          </a:prstGeom>
          <a:noFill/>
          <a:ln/>
        </p:spPr>
        <p:txBody>
          <a:bodyPr wrap="square" lIns="0" tIns="0" rIns="0" bIns="0" rtlCol="0" anchor="t"/>
          <a:lstStyle/>
          <a:p>
            <a:pPr marL="0" indent="0" algn="ctr">
              <a:buNone/>
            </a:pPr>
            <a:r>
              <a:rPr lang="en-US" sz="1000" dirty="0">
                <a:solidFill>
                  <a:srgbClr val="475569"/>
                </a:solidFill>
                <a:latin typeface="Calibri Light" pitchFamily="34" charset="0"/>
                <a:ea typeface="Calibri Light" pitchFamily="34" charset="-122"/>
                <a:cs typeface="Calibri Light" pitchFamily="34" charset="-120"/>
              </a:rPr>
              <a:t>Data sources mapped,</a:t>
            </a:r>
            <a:endParaRPr lang="en-US" sz="1000" dirty="0"/>
          </a:p>
          <a:p>
            <a:pPr marL="0" indent="0" algn="ctr">
              <a:buNone/>
            </a:pPr>
            <a:r>
              <a:rPr lang="en-US" sz="1000" dirty="0">
                <a:solidFill>
                  <a:srgbClr val="475569"/>
                </a:solidFill>
                <a:latin typeface="Calibri Light" pitchFamily="34" charset="0"/>
                <a:ea typeface="Calibri Light" pitchFamily="34" charset="-122"/>
                <a:cs typeface="Calibri Light" pitchFamily="34" charset="-120"/>
              </a:rPr>
              <a:t>feature set signed off</a:t>
            </a:r>
            <a:endParaRPr lang="en-US" sz="1000" dirty="0"/>
          </a:p>
        </p:txBody>
      </p:sp>
      <p:sp>
        <p:nvSpPr>
          <p:cNvPr id="9" name="Shape 7"/>
          <p:cNvSpPr/>
          <p:nvPr>
            <p:custDataLst>
              <p:tags r:id="rId9"/>
            </p:custDataLst>
          </p:nvPr>
        </p:nvSpPr>
        <p:spPr>
          <a:xfrm>
            <a:off x="2084832" y="1225937"/>
            <a:ext cx="2487168" cy="502920"/>
          </a:xfrm>
          <a:prstGeom prst="rect">
            <a:avLst/>
          </a:prstGeom>
          <a:solidFill>
            <a:srgbClr val="0369A1"/>
          </a:solidFill>
          <a:ln/>
        </p:spPr>
        <p:txBody>
          <a:bodyPr/>
          <a:lstStyle/>
          <a:p>
            <a:endParaRPr lang="en-GB"/>
          </a:p>
        </p:txBody>
      </p:sp>
      <p:sp>
        <p:nvSpPr>
          <p:cNvPr id="10" name="Text 8"/>
          <p:cNvSpPr/>
          <p:nvPr>
            <p:custDataLst>
              <p:tags r:id="rId10"/>
            </p:custDataLst>
          </p:nvPr>
        </p:nvSpPr>
        <p:spPr>
          <a:xfrm>
            <a:off x="2084832" y="1225937"/>
            <a:ext cx="248716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Model Build</a:t>
            </a:r>
            <a:endParaRPr lang="en-US" sz="1200" dirty="0"/>
          </a:p>
        </p:txBody>
      </p:sp>
      <p:sp>
        <p:nvSpPr>
          <p:cNvPr id="11" name="Text 9"/>
          <p:cNvSpPr/>
          <p:nvPr>
            <p:custDataLst>
              <p:tags r:id="rId11"/>
            </p:custDataLst>
          </p:nvPr>
        </p:nvSpPr>
        <p:spPr>
          <a:xfrm>
            <a:off x="2084832" y="1500257"/>
            <a:ext cx="2487168"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Light" pitchFamily="34" charset="0"/>
                <a:ea typeface="Calibri Light" pitchFamily="34" charset="-122"/>
                <a:cs typeface="Calibri Light" pitchFamily="34" charset="-120"/>
              </a:rPr>
              <a:t>Weeks 2-3</a:t>
            </a:r>
            <a:endParaRPr lang="en-US" sz="1000" b="1" dirty="0"/>
          </a:p>
        </p:txBody>
      </p:sp>
      <p:sp>
        <p:nvSpPr>
          <p:cNvPr id="12" name="Text 10"/>
          <p:cNvSpPr/>
          <p:nvPr>
            <p:custDataLst>
              <p:tags r:id="rId12"/>
            </p:custDataLst>
          </p:nvPr>
        </p:nvSpPr>
        <p:spPr>
          <a:xfrm>
            <a:off x="2084832" y="1756504"/>
            <a:ext cx="2487168" cy="411480"/>
          </a:xfrm>
          <a:prstGeom prst="rect">
            <a:avLst/>
          </a:prstGeom>
          <a:noFill/>
          <a:ln/>
        </p:spPr>
        <p:txBody>
          <a:bodyPr wrap="square" lIns="0" tIns="0" rIns="0" bIns="0" rtlCol="0" anchor="t"/>
          <a:lstStyle/>
          <a:p>
            <a:pPr marL="0" indent="0" algn="ctr">
              <a:buNone/>
            </a:pPr>
            <a:r>
              <a:rPr lang="en-US" sz="1000" dirty="0">
                <a:solidFill>
                  <a:srgbClr val="475569"/>
                </a:solidFill>
                <a:latin typeface="Calibri Light" pitchFamily="34" charset="0"/>
                <a:ea typeface="Calibri Light" pitchFamily="34" charset="-122"/>
                <a:cs typeface="Calibri Light" pitchFamily="34" charset="-120"/>
              </a:rPr>
              <a:t>Working prototype</a:t>
            </a:r>
            <a:endParaRPr lang="en-US" sz="1000" dirty="0"/>
          </a:p>
          <a:p>
            <a:pPr marL="0" indent="0" algn="ctr">
              <a:buNone/>
            </a:pPr>
            <a:r>
              <a:rPr lang="en-US" sz="1000" dirty="0">
                <a:solidFill>
                  <a:srgbClr val="475569"/>
                </a:solidFill>
                <a:latin typeface="Calibri Light" pitchFamily="34" charset="0"/>
                <a:ea typeface="Calibri Light" pitchFamily="34" charset="-122"/>
                <a:cs typeface="Calibri Light" pitchFamily="34" charset="-120"/>
              </a:rPr>
              <a:t>demonstrated and validated</a:t>
            </a:r>
            <a:endParaRPr lang="en-US" sz="1000" dirty="0"/>
          </a:p>
        </p:txBody>
      </p:sp>
      <p:sp>
        <p:nvSpPr>
          <p:cNvPr id="13" name="Shape 11"/>
          <p:cNvSpPr/>
          <p:nvPr>
            <p:custDataLst>
              <p:tags r:id="rId13"/>
            </p:custDataLst>
          </p:nvPr>
        </p:nvSpPr>
        <p:spPr>
          <a:xfrm>
            <a:off x="4681728" y="1225937"/>
            <a:ext cx="3730752" cy="502920"/>
          </a:xfrm>
          <a:prstGeom prst="rect">
            <a:avLst/>
          </a:prstGeom>
          <a:solidFill>
            <a:srgbClr val="0284C7"/>
          </a:solidFill>
          <a:ln/>
        </p:spPr>
        <p:txBody>
          <a:bodyPr/>
          <a:lstStyle/>
          <a:p>
            <a:endParaRPr lang="en-GB"/>
          </a:p>
        </p:txBody>
      </p:sp>
      <p:sp>
        <p:nvSpPr>
          <p:cNvPr id="14" name="Text 12"/>
          <p:cNvSpPr/>
          <p:nvPr>
            <p:custDataLst>
              <p:tags r:id="rId14"/>
            </p:custDataLst>
          </p:nvPr>
        </p:nvSpPr>
        <p:spPr>
          <a:xfrm>
            <a:off x="4681728" y="1225937"/>
            <a:ext cx="3730752"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Retention Pilot</a:t>
            </a:r>
            <a:endParaRPr lang="en-US" sz="1200" dirty="0"/>
          </a:p>
        </p:txBody>
      </p:sp>
      <p:sp>
        <p:nvSpPr>
          <p:cNvPr id="15" name="Text 13"/>
          <p:cNvSpPr/>
          <p:nvPr>
            <p:custDataLst>
              <p:tags r:id="rId15"/>
            </p:custDataLst>
          </p:nvPr>
        </p:nvSpPr>
        <p:spPr>
          <a:xfrm>
            <a:off x="4681728" y="1500257"/>
            <a:ext cx="3730752"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Light" pitchFamily="34" charset="0"/>
                <a:ea typeface="Calibri Light" pitchFamily="34" charset="-122"/>
                <a:cs typeface="Calibri Light" pitchFamily="34" charset="-120"/>
              </a:rPr>
              <a:t>Weeks 4-6</a:t>
            </a:r>
            <a:endParaRPr lang="en-US" sz="1000" b="1" dirty="0"/>
          </a:p>
        </p:txBody>
      </p:sp>
      <p:sp>
        <p:nvSpPr>
          <p:cNvPr id="16" name="Text 14"/>
          <p:cNvSpPr/>
          <p:nvPr>
            <p:custDataLst>
              <p:tags r:id="rId16"/>
            </p:custDataLst>
          </p:nvPr>
        </p:nvSpPr>
        <p:spPr>
          <a:xfrm>
            <a:off x="4681728" y="1756504"/>
            <a:ext cx="3730752" cy="411480"/>
          </a:xfrm>
          <a:prstGeom prst="rect">
            <a:avLst/>
          </a:prstGeom>
          <a:noFill/>
          <a:ln/>
        </p:spPr>
        <p:txBody>
          <a:bodyPr wrap="square" lIns="0" tIns="0" rIns="0" bIns="0" rtlCol="0" anchor="t"/>
          <a:lstStyle/>
          <a:p>
            <a:pPr marL="0" indent="0" algn="ctr">
              <a:buNone/>
            </a:pPr>
            <a:r>
              <a:rPr lang="en-DK" sz="1000" dirty="0">
                <a:solidFill>
                  <a:srgbClr val="475569"/>
                </a:solidFill>
                <a:latin typeface="Calibri Light" pitchFamily="34" charset="0"/>
                <a:ea typeface="Calibri Light" pitchFamily="34" charset="-122"/>
                <a:cs typeface="Calibri Light" pitchFamily="34" charset="-120"/>
              </a:rPr>
              <a:t>Protected revenue measured</a:t>
            </a:r>
            <a:r>
              <a:rPr lang="en-US" sz="1000" dirty="0">
                <a:solidFill>
                  <a:srgbClr val="475569"/>
                </a:solidFill>
                <a:latin typeface="Calibri Light" pitchFamily="34" charset="0"/>
                <a:ea typeface="Calibri Light" pitchFamily="34" charset="-122"/>
                <a:cs typeface="Calibri Light" pitchFamily="34" charset="-120"/>
              </a:rPr>
              <a:t>,</a:t>
            </a:r>
            <a:endParaRPr lang="en-US" sz="1000" dirty="0"/>
          </a:p>
          <a:p>
            <a:pPr marL="0" indent="0" algn="ctr">
              <a:buNone/>
            </a:pPr>
            <a:r>
              <a:rPr lang="en-DK" sz="1000" dirty="0">
                <a:solidFill>
                  <a:srgbClr val="475569"/>
                </a:solidFill>
                <a:latin typeface="Calibri Light" pitchFamily="34" charset="0"/>
                <a:ea typeface="Calibri Light" pitchFamily="34" charset="-122"/>
                <a:cs typeface="Calibri Light" pitchFamily="34" charset="-120"/>
              </a:rPr>
              <a:t>retention </a:t>
            </a:r>
            <a:r>
              <a:rPr lang="en-US" sz="1000" dirty="0">
                <a:solidFill>
                  <a:srgbClr val="475569"/>
                </a:solidFill>
                <a:latin typeface="Calibri Light" pitchFamily="34" charset="0"/>
                <a:ea typeface="Calibri Light" pitchFamily="34" charset="-122"/>
                <a:cs typeface="Calibri Light" pitchFamily="34" charset="-120"/>
              </a:rPr>
              <a:t>playbook validated</a:t>
            </a:r>
            <a:endParaRPr lang="en-US" sz="1000" dirty="0"/>
          </a:p>
        </p:txBody>
      </p:sp>
      <p:sp>
        <p:nvSpPr>
          <p:cNvPr id="17" name="Text 15"/>
          <p:cNvSpPr/>
          <p:nvPr>
            <p:custDataLst>
              <p:tags r:id="rId17"/>
            </p:custDataLst>
          </p:nvPr>
        </p:nvSpPr>
        <p:spPr>
          <a:xfrm>
            <a:off x="731520" y="2283878"/>
            <a:ext cx="7680960" cy="228600"/>
          </a:xfrm>
          <a:prstGeom prst="rect">
            <a:avLst/>
          </a:prstGeom>
          <a:noFill/>
          <a:ln/>
        </p:spPr>
        <p:txBody>
          <a:bodyPr wrap="square" lIns="0" tIns="0" rIns="0" bIns="0" rtlCol="0" anchor="ctr"/>
          <a:lstStyle/>
          <a:p>
            <a:pPr marL="0" indent="0">
              <a:buNone/>
            </a:pPr>
            <a:r>
              <a:rPr lang="en-US" sz="1050" b="1" kern="0" spc="200" dirty="0">
                <a:solidFill>
                  <a:srgbClr val="0EA5E9"/>
                </a:solidFill>
                <a:latin typeface="Calibri" pitchFamily="34" charset="0"/>
                <a:ea typeface="Calibri" pitchFamily="34" charset="-122"/>
                <a:cs typeface="Calibri" pitchFamily="34" charset="-120"/>
              </a:rPr>
              <a:t>PHASE 2: SCALE &amp; EMBED</a:t>
            </a:r>
            <a:endParaRPr lang="en-US" sz="1050" dirty="0"/>
          </a:p>
        </p:txBody>
      </p:sp>
      <p:sp>
        <p:nvSpPr>
          <p:cNvPr id="18" name="Shape 16"/>
          <p:cNvSpPr/>
          <p:nvPr>
            <p:custDataLst>
              <p:tags r:id="rId18"/>
            </p:custDataLst>
          </p:nvPr>
        </p:nvSpPr>
        <p:spPr>
          <a:xfrm>
            <a:off x="731520" y="2558198"/>
            <a:ext cx="7680960" cy="502920"/>
          </a:xfrm>
          <a:prstGeom prst="rect">
            <a:avLst/>
          </a:prstGeom>
          <a:solidFill>
            <a:srgbClr val="0EA5E9"/>
          </a:solidFill>
          <a:ln/>
        </p:spPr>
        <p:txBody>
          <a:bodyPr/>
          <a:lstStyle/>
          <a:p>
            <a:endParaRPr lang="en-GB" b="1" dirty="0"/>
          </a:p>
        </p:txBody>
      </p:sp>
      <p:sp>
        <p:nvSpPr>
          <p:cNvPr id="19" name="Text 17"/>
          <p:cNvSpPr/>
          <p:nvPr>
            <p:custDataLst>
              <p:tags r:id="rId19"/>
            </p:custDataLst>
          </p:nvPr>
        </p:nvSpPr>
        <p:spPr>
          <a:xfrm>
            <a:off x="731520" y="2558198"/>
            <a:ext cx="76809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CRM Integration</a:t>
            </a:r>
            <a:endParaRPr lang="en-US" sz="1200" dirty="0"/>
          </a:p>
        </p:txBody>
      </p:sp>
      <p:sp>
        <p:nvSpPr>
          <p:cNvPr id="20" name="Text 18"/>
          <p:cNvSpPr/>
          <p:nvPr>
            <p:custDataLst>
              <p:tags r:id="rId20"/>
            </p:custDataLst>
          </p:nvPr>
        </p:nvSpPr>
        <p:spPr>
          <a:xfrm>
            <a:off x="731520" y="2832518"/>
            <a:ext cx="7680960"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Light" pitchFamily="34" charset="0"/>
                <a:ea typeface="Calibri Light" pitchFamily="34" charset="-122"/>
                <a:cs typeface="Calibri Light" pitchFamily="34" charset="-120"/>
              </a:rPr>
              <a:t>Weeks 7-10</a:t>
            </a:r>
            <a:endParaRPr lang="en-US" sz="1000" b="1" dirty="0"/>
          </a:p>
        </p:txBody>
      </p:sp>
      <p:sp>
        <p:nvSpPr>
          <p:cNvPr id="21" name="Text 19"/>
          <p:cNvSpPr/>
          <p:nvPr>
            <p:custDataLst>
              <p:tags r:id="rId21"/>
            </p:custDataLst>
          </p:nvPr>
        </p:nvSpPr>
        <p:spPr>
          <a:xfrm>
            <a:off x="731520" y="3088763"/>
            <a:ext cx="7680960" cy="320040"/>
          </a:xfrm>
          <a:prstGeom prst="rect">
            <a:avLst/>
          </a:prstGeom>
          <a:noFill/>
          <a:ln/>
        </p:spPr>
        <p:txBody>
          <a:bodyPr wrap="square" lIns="0" tIns="0" rIns="0" bIns="0" rtlCol="0" anchor="t"/>
          <a:lstStyle/>
          <a:p>
            <a:pPr marL="0" indent="0" algn="ctr">
              <a:buNone/>
            </a:pPr>
            <a:r>
              <a:rPr lang="en-US" sz="1000" dirty="0">
                <a:solidFill>
                  <a:srgbClr val="475569"/>
                </a:solidFill>
                <a:latin typeface="Calibri Light" pitchFamily="34" charset="0"/>
                <a:ea typeface="Calibri Light" pitchFamily="34" charset="-122"/>
                <a:cs typeface="Calibri Light" pitchFamily="34" charset="-120"/>
              </a:rPr>
              <a:t>Scoring pipeline live, retention team self-sufficient, monitoring and retraining schedule established</a:t>
            </a:r>
            <a:endParaRPr lang="en-US" sz="1000" dirty="0"/>
          </a:p>
        </p:txBody>
      </p:sp>
      <p:sp>
        <p:nvSpPr>
          <p:cNvPr id="22" name="Text 20"/>
          <p:cNvSpPr/>
          <p:nvPr>
            <p:custDataLst>
              <p:tags r:id="rId22"/>
            </p:custDataLst>
          </p:nvPr>
        </p:nvSpPr>
        <p:spPr>
          <a:xfrm>
            <a:off x="731520" y="3769597"/>
            <a:ext cx="7680960" cy="228600"/>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Delivery Principles</a:t>
            </a:r>
            <a:endParaRPr lang="en-US" sz="1400" dirty="0">
              <a:solidFill>
                <a:schemeClr val="bg1"/>
              </a:solidFill>
            </a:endParaRPr>
          </a:p>
        </p:txBody>
      </p:sp>
      <p:sp>
        <p:nvSpPr>
          <p:cNvPr id="23" name="Text 21"/>
          <p:cNvSpPr/>
          <p:nvPr>
            <p:custDataLst>
              <p:tags r:id="rId23"/>
            </p:custDataLst>
          </p:nvPr>
        </p:nvSpPr>
        <p:spPr>
          <a:xfrm>
            <a:off x="731520" y="4043917"/>
            <a:ext cx="3703320" cy="457200"/>
          </a:xfrm>
          <a:prstGeom prst="rect">
            <a:avLst/>
          </a:prstGeom>
          <a:noFill/>
          <a:ln/>
        </p:spPr>
        <p:txBody>
          <a:bodyPr wrap="square" lIns="0" tIns="0" rIns="0" bIns="0" rtlCol="0" anchor="t"/>
          <a:lstStyle/>
          <a:p>
            <a:pPr marL="0" indent="0">
              <a:buNone/>
            </a:pPr>
            <a:r>
              <a:rPr lang="en-DK" sz="950" b="1" dirty="0">
                <a:solidFill>
                  <a:schemeClr val="bg1"/>
                </a:solidFill>
                <a:latin typeface="Calibri" pitchFamily="34" charset="0"/>
                <a:ea typeface="Calibri" pitchFamily="34" charset="-122"/>
                <a:cs typeface="Calibri" pitchFamily="34" charset="-120"/>
              </a:rPr>
              <a:t>Data Exploration</a:t>
            </a:r>
            <a:r>
              <a:rPr lang="en-US" sz="950" b="1" dirty="0">
                <a:solidFill>
                  <a:schemeClr val="bg1"/>
                </a:solidFill>
                <a:latin typeface="Calibri" pitchFamily="34" charset="0"/>
                <a:ea typeface="Calibri" pitchFamily="34" charset="-122"/>
                <a:cs typeface="Calibri" pitchFamily="34" charset="-120"/>
              </a:rPr>
              <a:t>: </a:t>
            </a:r>
            <a:r>
              <a:rPr lang="en-DK" sz="900" dirty="0">
                <a:solidFill>
                  <a:srgbClr val="94A3B8"/>
                </a:solidFill>
                <a:latin typeface="Calibri Light" pitchFamily="34" charset="0"/>
                <a:ea typeface="Calibri Light" pitchFamily="34" charset="-122"/>
                <a:cs typeface="Calibri Light" pitchFamily="34" charset="-120"/>
              </a:rPr>
              <a:t>Focus on</a:t>
            </a:r>
            <a:r>
              <a:rPr lang="en-US" sz="900" dirty="0">
                <a:solidFill>
                  <a:srgbClr val="94A3B8"/>
                </a:solidFill>
                <a:latin typeface="Calibri Light" pitchFamily="34" charset="0"/>
                <a:ea typeface="Calibri Light" pitchFamily="34" charset="-122"/>
                <a:cs typeface="Calibri Light" pitchFamily="34" charset="-120"/>
              </a:rPr>
              <a:t> data readiness and churn definitions. Understanding how FreshBox measures churn ensures the model solves the right problem.</a:t>
            </a:r>
          </a:p>
        </p:txBody>
      </p:sp>
      <p:sp>
        <p:nvSpPr>
          <p:cNvPr id="24" name="Text 22"/>
          <p:cNvSpPr/>
          <p:nvPr>
            <p:custDataLst>
              <p:tags r:id="rId24"/>
            </p:custDataLst>
          </p:nvPr>
        </p:nvSpPr>
        <p:spPr>
          <a:xfrm>
            <a:off x="4709160" y="4043917"/>
            <a:ext cx="3703320" cy="457200"/>
          </a:xfrm>
          <a:prstGeom prst="rect">
            <a:avLst/>
          </a:prstGeom>
          <a:noFill/>
          <a:ln/>
        </p:spPr>
        <p:txBody>
          <a:bodyPr wrap="square" lIns="0" tIns="0" rIns="0" bIns="0" rtlCol="0" anchor="t"/>
          <a:lstStyle/>
          <a:p>
            <a:r>
              <a:rPr lang="en-DK" sz="950" b="1" dirty="0">
                <a:solidFill>
                  <a:schemeClr val="bg1"/>
                </a:solidFill>
                <a:latin typeface="Calibri" pitchFamily="34" charset="0"/>
                <a:ea typeface="Calibri" pitchFamily="34" charset="-122"/>
                <a:cs typeface="Calibri" pitchFamily="34" charset="-120"/>
              </a:rPr>
              <a:t>Bespoke model</a:t>
            </a:r>
            <a:r>
              <a:rPr lang="en-US" sz="950" b="1" dirty="0">
                <a:solidFill>
                  <a:schemeClr val="bg1"/>
                </a:solidFill>
                <a:latin typeface="Calibri" pitchFamily="34" charset="0"/>
                <a:ea typeface="Calibri" pitchFamily="34" charset="-122"/>
                <a:cs typeface="Calibri" pitchFamily="34" charset="-120"/>
              </a:rPr>
              <a:t>: </a:t>
            </a:r>
            <a:r>
              <a:rPr lang="en-GB" sz="900" dirty="0">
                <a:solidFill>
                  <a:srgbClr val="94A3B8"/>
                </a:solidFill>
                <a:latin typeface="Calibri Light" pitchFamily="34" charset="0"/>
                <a:ea typeface="Calibri Light" pitchFamily="34" charset="-122"/>
                <a:cs typeface="Calibri Light" pitchFamily="34" charset="-120"/>
              </a:rPr>
              <a:t>Built specifically for FreshBox's data, customer lifecycle and retention workflow. Every feature maps to a business question the retention team can act on.</a:t>
            </a:r>
            <a:endParaRPr lang="en-US" sz="900" dirty="0">
              <a:solidFill>
                <a:srgbClr val="94A3B8"/>
              </a:solidFill>
              <a:latin typeface="Calibri Light" pitchFamily="34" charset="0"/>
              <a:ea typeface="Calibri Light" pitchFamily="34" charset="-122"/>
              <a:cs typeface="Calibri Light" pitchFamily="34" charset="-120"/>
            </a:endParaRPr>
          </a:p>
        </p:txBody>
      </p:sp>
      <p:sp>
        <p:nvSpPr>
          <p:cNvPr id="25" name="Text 23"/>
          <p:cNvSpPr/>
          <p:nvPr>
            <p:custDataLst>
              <p:tags r:id="rId25"/>
            </p:custDataLst>
          </p:nvPr>
        </p:nvSpPr>
        <p:spPr>
          <a:xfrm>
            <a:off x="731520" y="4546837"/>
            <a:ext cx="3703320" cy="457200"/>
          </a:xfrm>
          <a:prstGeom prst="rect">
            <a:avLst/>
          </a:prstGeom>
          <a:noFill/>
          <a:ln/>
        </p:spPr>
        <p:txBody>
          <a:bodyPr wrap="square" lIns="0" tIns="0" rIns="0" bIns="0" rtlCol="0" anchor="t"/>
          <a:lstStyle/>
          <a:p>
            <a:pPr marL="0" indent="0">
              <a:buNone/>
            </a:pPr>
            <a:r>
              <a:rPr lang="en-US" sz="950" b="1" dirty="0">
                <a:solidFill>
                  <a:schemeClr val="bg1"/>
                </a:solidFill>
                <a:latin typeface="Calibri" pitchFamily="34" charset="0"/>
                <a:ea typeface="Calibri" pitchFamily="34" charset="-122"/>
                <a:cs typeface="Calibri" pitchFamily="34" charset="-120"/>
              </a:rPr>
              <a:t>Pilot before scale: </a:t>
            </a:r>
            <a:r>
              <a:rPr lang="en-US" sz="900" dirty="0">
                <a:solidFill>
                  <a:srgbClr val="94A3B8"/>
                </a:solidFill>
                <a:latin typeface="Calibri Light" pitchFamily="34" charset="0"/>
                <a:ea typeface="Calibri Light" pitchFamily="34" charset="-122"/>
                <a:cs typeface="Calibri Light" pitchFamily="34" charset="-120"/>
              </a:rPr>
              <a:t>Three weeks of live retention activity validates the model with real customers before committing to full CRM integration.</a:t>
            </a:r>
          </a:p>
        </p:txBody>
      </p:sp>
      <p:sp>
        <p:nvSpPr>
          <p:cNvPr id="26" name="Text 24"/>
          <p:cNvSpPr/>
          <p:nvPr>
            <p:custDataLst>
              <p:tags r:id="rId26"/>
            </p:custDataLst>
          </p:nvPr>
        </p:nvSpPr>
        <p:spPr>
          <a:xfrm>
            <a:off x="4709160" y="4546837"/>
            <a:ext cx="3703320" cy="457200"/>
          </a:xfrm>
          <a:prstGeom prst="rect">
            <a:avLst/>
          </a:prstGeom>
          <a:noFill/>
          <a:ln/>
        </p:spPr>
        <p:txBody>
          <a:bodyPr wrap="square" lIns="0" tIns="0" rIns="0" bIns="0" rtlCol="0" anchor="t"/>
          <a:lstStyle/>
          <a:p>
            <a:r>
              <a:rPr lang="en-DK" sz="950" b="1" dirty="0">
                <a:solidFill>
                  <a:schemeClr val="bg1"/>
                </a:solidFill>
                <a:latin typeface="Calibri" pitchFamily="34" charset="0"/>
                <a:ea typeface="Calibri" pitchFamily="34" charset="-122"/>
                <a:cs typeface="Calibri" pitchFamily="34" charset="-120"/>
              </a:rPr>
              <a:t>AI-powered delivery</a:t>
            </a:r>
            <a:r>
              <a:rPr lang="en-US" sz="950" b="1" dirty="0">
                <a:solidFill>
                  <a:schemeClr val="bg1"/>
                </a:solidFill>
                <a:latin typeface="Calibri" pitchFamily="34" charset="0"/>
                <a:ea typeface="Calibri" pitchFamily="34" charset="-122"/>
                <a:cs typeface="Calibri" pitchFamily="34" charset="-120"/>
              </a:rPr>
              <a:t>: </a:t>
            </a:r>
            <a:r>
              <a:rPr lang="en-GB" sz="900" dirty="0">
                <a:solidFill>
                  <a:srgbClr val="94A3B8"/>
                </a:solidFill>
                <a:latin typeface="Calibri Light" pitchFamily="34" charset="0"/>
                <a:ea typeface="Calibri Light" pitchFamily="34" charset="-122"/>
                <a:cs typeface="Calibri Light" pitchFamily="34" charset="-120"/>
              </a:rPr>
              <a:t>Traditional analytics engagements staff 4-6 people and spend </a:t>
            </a:r>
            <a:r>
              <a:rPr lang="en-DK" sz="900" dirty="0">
                <a:solidFill>
                  <a:srgbClr val="94A3B8"/>
                </a:solidFill>
                <a:latin typeface="Calibri Light" pitchFamily="34" charset="0"/>
                <a:ea typeface="Calibri Light" pitchFamily="34" charset="-122"/>
                <a:cs typeface="Calibri Light" pitchFamily="34" charset="-120"/>
              </a:rPr>
              <a:t>2</a:t>
            </a:r>
            <a:r>
              <a:rPr lang="en-GB" sz="900" dirty="0">
                <a:solidFill>
                  <a:srgbClr val="94A3B8"/>
                </a:solidFill>
                <a:latin typeface="Calibri Light" pitchFamily="34" charset="0"/>
                <a:ea typeface="Calibri Light" pitchFamily="34" charset="-122"/>
                <a:cs typeface="Calibri Light" pitchFamily="34" charset="-120"/>
              </a:rPr>
              <a:t>0% of their time coordinating. We staff two and spend that </a:t>
            </a:r>
            <a:r>
              <a:rPr lang="en-DK" sz="900" dirty="0">
                <a:solidFill>
                  <a:srgbClr val="94A3B8"/>
                </a:solidFill>
                <a:latin typeface="Calibri Light" pitchFamily="34" charset="0"/>
                <a:ea typeface="Calibri Light" pitchFamily="34" charset="-122"/>
                <a:cs typeface="Calibri Light" pitchFamily="34" charset="-120"/>
              </a:rPr>
              <a:t>2</a:t>
            </a:r>
            <a:r>
              <a:rPr lang="en-GB" sz="900" dirty="0">
                <a:solidFill>
                  <a:srgbClr val="94A3B8"/>
                </a:solidFill>
                <a:latin typeface="Calibri Light" pitchFamily="34" charset="0"/>
                <a:ea typeface="Calibri Light" pitchFamily="34" charset="-122"/>
                <a:cs typeface="Calibri Light" pitchFamily="34" charset="-120"/>
              </a:rPr>
              <a:t>0% on delivery instead.</a:t>
            </a:r>
            <a:endParaRPr lang="en-US" sz="900" dirty="0">
              <a:solidFill>
                <a:srgbClr val="94A3B8"/>
              </a:solidFill>
              <a:latin typeface="Calibri Light" pitchFamily="34" charset="0"/>
              <a:ea typeface="Calibri Light" pitchFamily="34" charset="-122"/>
              <a:cs typeface="Calibri Light" pitchFamily="34" charset="-12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Roles &amp; Responsibilities</a:t>
            </a:r>
            <a:endParaRPr lang="en-US" sz="2800" dirty="0"/>
          </a:p>
        </p:txBody>
      </p:sp>
      <p:sp>
        <p:nvSpPr>
          <p:cNvPr id="3" name="Text 1"/>
          <p:cNvSpPr/>
          <p:nvPr>
            <p:custDataLst>
              <p:tags r:id="rId3"/>
            </p:custDataLst>
          </p:nvPr>
        </p:nvSpPr>
        <p:spPr>
          <a:xfrm>
            <a:off x="731520" y="960120"/>
            <a:ext cx="3703320" cy="320040"/>
          </a:xfrm>
          <a:prstGeom prst="rect">
            <a:avLst/>
          </a:prstGeom>
          <a:noFill/>
          <a:ln/>
        </p:spPr>
        <p:txBody>
          <a:bodyPr wrap="square" lIns="0" tIns="0" rIns="0" bIns="0" rtlCol="0" anchor="ctr"/>
          <a:lstStyle/>
          <a:p>
            <a:pPr marL="0" indent="0">
              <a:buNone/>
            </a:pPr>
            <a:r>
              <a:rPr lang="en-US" sz="1600" b="1" dirty="0">
                <a:solidFill>
                  <a:srgbClr val="0EA5E9"/>
                </a:solidFill>
                <a:latin typeface="Calibri" pitchFamily="34" charset="0"/>
                <a:ea typeface="Calibri" pitchFamily="34" charset="-122"/>
                <a:cs typeface="Calibri" pitchFamily="34" charset="-120"/>
              </a:rPr>
              <a:t>Client Side</a:t>
            </a:r>
            <a:endParaRPr lang="en-US" sz="1600" dirty="0"/>
          </a:p>
        </p:txBody>
      </p:sp>
      <p:sp>
        <p:nvSpPr>
          <p:cNvPr id="4" name="Shape 2"/>
          <p:cNvSpPr/>
          <p:nvPr>
            <p:custDataLst>
              <p:tags r:id="rId4"/>
            </p:custDataLst>
          </p:nvPr>
        </p:nvSpPr>
        <p:spPr>
          <a:xfrm>
            <a:off x="731520" y="1371600"/>
            <a:ext cx="3703320" cy="68580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5" name="Text 3"/>
          <p:cNvSpPr/>
          <p:nvPr>
            <p:custDataLst>
              <p:tags r:id="rId5"/>
            </p:custDataLst>
          </p:nvPr>
        </p:nvSpPr>
        <p:spPr>
          <a:xfrm>
            <a:off x="914400" y="1417320"/>
            <a:ext cx="333756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CFO</a:t>
            </a:r>
            <a:endParaRPr lang="en-US" sz="1200" dirty="0"/>
          </a:p>
        </p:txBody>
      </p:sp>
      <p:sp>
        <p:nvSpPr>
          <p:cNvPr id="6" name="Text 4"/>
          <p:cNvSpPr/>
          <p:nvPr>
            <p:custDataLst>
              <p:tags r:id="rId6"/>
            </p:custDataLst>
          </p:nvPr>
        </p:nvSpPr>
        <p:spPr>
          <a:xfrm>
            <a:off x="914400" y="1645920"/>
            <a:ext cx="3337560" cy="365760"/>
          </a:xfrm>
          <a:prstGeom prst="rect">
            <a:avLst/>
          </a:prstGeom>
          <a:noFill/>
          <a:ln/>
        </p:spPr>
        <p:txBody>
          <a:bodyPr wrap="square" lIns="0" tIns="0" rIns="0" bIns="0" rtlCol="0" anchor="ctr"/>
          <a:lstStyle/>
          <a:p>
            <a:pPr marL="0" indent="0">
              <a:buNone/>
            </a:pPr>
            <a:r>
              <a:rPr lang="en-US" sz="900" dirty="0">
                <a:solidFill>
                  <a:srgbClr val="475569"/>
                </a:solidFill>
                <a:latin typeface="Calibri Light" pitchFamily="34" charset="0"/>
                <a:ea typeface="Calibri Light" pitchFamily="34" charset="-122"/>
                <a:cs typeface="Calibri Light" pitchFamily="34" charset="-120"/>
              </a:rPr>
              <a:t>Executive sponsor. Owns the business case, signs off on success criteria and budget. Attends weekly steering.</a:t>
            </a:r>
            <a:endParaRPr lang="en-US" sz="900" dirty="0"/>
          </a:p>
        </p:txBody>
      </p:sp>
      <p:sp>
        <p:nvSpPr>
          <p:cNvPr id="7" name="Shape 5"/>
          <p:cNvSpPr/>
          <p:nvPr>
            <p:custDataLst>
              <p:tags r:id="rId7"/>
            </p:custDataLst>
          </p:nvPr>
        </p:nvSpPr>
        <p:spPr>
          <a:xfrm>
            <a:off x="731520" y="2148840"/>
            <a:ext cx="3703320" cy="68580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8" name="Text 6"/>
          <p:cNvSpPr/>
          <p:nvPr>
            <p:custDataLst>
              <p:tags r:id="rId8"/>
            </p:custDataLst>
          </p:nvPr>
        </p:nvSpPr>
        <p:spPr>
          <a:xfrm>
            <a:off x="914400" y="2194560"/>
            <a:ext cx="333756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Finance Director</a:t>
            </a:r>
            <a:endParaRPr lang="en-US" sz="1200" dirty="0"/>
          </a:p>
        </p:txBody>
      </p:sp>
      <p:sp>
        <p:nvSpPr>
          <p:cNvPr id="9" name="Text 7"/>
          <p:cNvSpPr/>
          <p:nvPr>
            <p:custDataLst>
              <p:tags r:id="rId9"/>
            </p:custDataLst>
          </p:nvPr>
        </p:nvSpPr>
        <p:spPr>
          <a:xfrm>
            <a:off x="914400" y="2423160"/>
            <a:ext cx="3337560" cy="365760"/>
          </a:xfrm>
          <a:prstGeom prst="rect">
            <a:avLst/>
          </a:prstGeom>
          <a:noFill/>
          <a:ln/>
        </p:spPr>
        <p:txBody>
          <a:bodyPr wrap="square" lIns="0" tIns="0" rIns="0" bIns="0" rtlCol="0" anchor="ctr"/>
          <a:lstStyle/>
          <a:p>
            <a:pPr marL="0" indent="0">
              <a:buNone/>
            </a:pPr>
            <a:r>
              <a:rPr lang="en-US" sz="900" dirty="0">
                <a:solidFill>
                  <a:srgbClr val="475569"/>
                </a:solidFill>
                <a:latin typeface="Calibri Light" pitchFamily="34" charset="0"/>
                <a:ea typeface="Calibri Light" pitchFamily="34" charset="-122"/>
                <a:cs typeface="Calibri Light" pitchFamily="34" charset="-120"/>
              </a:rPr>
              <a:t>Day-to-day point of contact. Validates financial assumptions, LTV calculations and commercial impact. Attends sprint reviews.</a:t>
            </a:r>
            <a:endParaRPr lang="en-US" sz="900" dirty="0"/>
          </a:p>
        </p:txBody>
      </p:sp>
      <p:sp>
        <p:nvSpPr>
          <p:cNvPr id="10" name="Shape 8"/>
          <p:cNvSpPr/>
          <p:nvPr>
            <p:custDataLst>
              <p:tags r:id="rId10"/>
            </p:custDataLst>
          </p:nvPr>
        </p:nvSpPr>
        <p:spPr>
          <a:xfrm>
            <a:off x="731520" y="2926080"/>
            <a:ext cx="3703320" cy="68580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1" name="Text 9"/>
          <p:cNvSpPr/>
          <p:nvPr>
            <p:custDataLst>
              <p:tags r:id="rId11"/>
            </p:custDataLst>
          </p:nvPr>
        </p:nvSpPr>
        <p:spPr>
          <a:xfrm>
            <a:off x="914400" y="2971800"/>
            <a:ext cx="333756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Operations Lead</a:t>
            </a:r>
            <a:endParaRPr lang="en-US" sz="1200" dirty="0"/>
          </a:p>
        </p:txBody>
      </p:sp>
      <p:sp>
        <p:nvSpPr>
          <p:cNvPr id="12" name="Text 10"/>
          <p:cNvSpPr/>
          <p:nvPr>
            <p:custDataLst>
              <p:tags r:id="rId12"/>
            </p:custDataLst>
          </p:nvPr>
        </p:nvSpPr>
        <p:spPr>
          <a:xfrm>
            <a:off x="914400" y="3200400"/>
            <a:ext cx="3337560" cy="365760"/>
          </a:xfrm>
          <a:prstGeom prst="rect">
            <a:avLst/>
          </a:prstGeom>
          <a:noFill/>
          <a:ln/>
        </p:spPr>
        <p:txBody>
          <a:bodyPr wrap="square" lIns="0" tIns="0" rIns="0" bIns="0" rtlCol="0" anchor="ctr"/>
          <a:lstStyle/>
          <a:p>
            <a:pPr marL="0" indent="0">
              <a:buNone/>
            </a:pPr>
            <a:r>
              <a:rPr lang="en-US" sz="900" dirty="0">
                <a:solidFill>
                  <a:srgbClr val="475569"/>
                </a:solidFill>
                <a:latin typeface="Calibri Light" pitchFamily="34" charset="0"/>
                <a:ea typeface="Calibri Light" pitchFamily="34" charset="-122"/>
                <a:cs typeface="Calibri Light" pitchFamily="34" charset="-120"/>
              </a:rPr>
              <a:t>Provides context on delivery logistics and operational constraints. Validates that retention interventions are feasible.</a:t>
            </a:r>
            <a:endParaRPr lang="en-US" sz="900" dirty="0"/>
          </a:p>
        </p:txBody>
      </p:sp>
      <p:sp>
        <p:nvSpPr>
          <p:cNvPr id="13" name="Text 11"/>
          <p:cNvSpPr/>
          <p:nvPr>
            <p:custDataLst>
              <p:tags r:id="rId13"/>
            </p:custDataLst>
          </p:nvPr>
        </p:nvSpPr>
        <p:spPr>
          <a:xfrm>
            <a:off x="4709160" y="960120"/>
            <a:ext cx="3703320" cy="320040"/>
          </a:xfrm>
          <a:prstGeom prst="rect">
            <a:avLst/>
          </a:prstGeom>
          <a:noFill/>
          <a:ln/>
        </p:spPr>
        <p:txBody>
          <a:bodyPr wrap="square" lIns="0" tIns="0" rIns="0" bIns="0" rtlCol="0" anchor="ctr"/>
          <a:lstStyle/>
          <a:p>
            <a:pPr marL="0" indent="0">
              <a:buNone/>
            </a:pPr>
            <a:r>
              <a:rPr lang="en-US" sz="1600" b="1" dirty="0">
                <a:solidFill>
                  <a:srgbClr val="0EA5E9"/>
                </a:solidFill>
                <a:latin typeface="Calibri" pitchFamily="34" charset="0"/>
                <a:ea typeface="Calibri" pitchFamily="34" charset="-122"/>
                <a:cs typeface="Calibri" pitchFamily="34" charset="-120"/>
              </a:rPr>
              <a:t>Delivery Side</a:t>
            </a:r>
            <a:endParaRPr lang="en-US" sz="1600" dirty="0"/>
          </a:p>
        </p:txBody>
      </p:sp>
      <p:sp>
        <p:nvSpPr>
          <p:cNvPr id="14" name="Shape 12"/>
          <p:cNvSpPr/>
          <p:nvPr>
            <p:custDataLst>
              <p:tags r:id="rId14"/>
            </p:custDataLst>
          </p:nvPr>
        </p:nvSpPr>
        <p:spPr>
          <a:xfrm>
            <a:off x="4709160" y="1371600"/>
            <a:ext cx="3703320" cy="68580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5" name="Text 13"/>
          <p:cNvSpPr/>
          <p:nvPr>
            <p:custDataLst>
              <p:tags r:id="rId15"/>
            </p:custDataLst>
          </p:nvPr>
        </p:nvSpPr>
        <p:spPr>
          <a:xfrm>
            <a:off x="4892040" y="1417320"/>
            <a:ext cx="333756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Engagement Manager</a:t>
            </a:r>
            <a:endParaRPr lang="en-US" sz="1200" dirty="0"/>
          </a:p>
        </p:txBody>
      </p:sp>
      <p:sp>
        <p:nvSpPr>
          <p:cNvPr id="16" name="Text 14"/>
          <p:cNvSpPr/>
          <p:nvPr>
            <p:custDataLst>
              <p:tags r:id="rId16"/>
            </p:custDataLst>
          </p:nvPr>
        </p:nvSpPr>
        <p:spPr>
          <a:xfrm>
            <a:off x="4892040" y="1645920"/>
            <a:ext cx="3337560" cy="365760"/>
          </a:xfrm>
          <a:prstGeom prst="rect">
            <a:avLst/>
          </a:prstGeom>
          <a:noFill/>
          <a:ln/>
        </p:spPr>
        <p:txBody>
          <a:bodyPr wrap="square" lIns="0" tIns="0" rIns="0" bIns="0" rtlCol="0" anchor="ctr"/>
          <a:lstStyle/>
          <a:p>
            <a:pPr marL="0" indent="0">
              <a:buNone/>
            </a:pPr>
            <a:r>
              <a:rPr lang="en-US" sz="900" dirty="0">
                <a:solidFill>
                  <a:srgbClr val="475569"/>
                </a:solidFill>
                <a:latin typeface="Calibri Light" pitchFamily="34" charset="0"/>
                <a:ea typeface="Calibri Light" pitchFamily="34" charset="-122"/>
                <a:cs typeface="Calibri Light" pitchFamily="34" charset="-120"/>
              </a:rPr>
              <a:t>Client relationship, scope governance, stakeholder communication. Doubles as Product Owner: decides what gets built and in what order.</a:t>
            </a:r>
            <a:endParaRPr lang="en-US" sz="900" dirty="0"/>
          </a:p>
        </p:txBody>
      </p:sp>
      <p:sp>
        <p:nvSpPr>
          <p:cNvPr id="17" name="Shape 15"/>
          <p:cNvSpPr/>
          <p:nvPr>
            <p:custDataLst>
              <p:tags r:id="rId17"/>
            </p:custDataLst>
          </p:nvPr>
        </p:nvSpPr>
        <p:spPr>
          <a:xfrm>
            <a:off x="4709160" y="2148840"/>
            <a:ext cx="3703320" cy="68580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8" name="Text 16"/>
          <p:cNvSpPr/>
          <p:nvPr>
            <p:custDataLst>
              <p:tags r:id="rId18"/>
            </p:custDataLst>
          </p:nvPr>
        </p:nvSpPr>
        <p:spPr>
          <a:xfrm>
            <a:off x="4892040" y="2194560"/>
            <a:ext cx="333756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Data Scientist</a:t>
            </a:r>
            <a:endParaRPr lang="en-US" sz="1200" dirty="0"/>
          </a:p>
        </p:txBody>
      </p:sp>
      <p:sp>
        <p:nvSpPr>
          <p:cNvPr id="19" name="Text 17"/>
          <p:cNvSpPr/>
          <p:nvPr>
            <p:custDataLst>
              <p:tags r:id="rId19"/>
            </p:custDataLst>
          </p:nvPr>
        </p:nvSpPr>
        <p:spPr>
          <a:xfrm>
            <a:off x="4892040" y="2423160"/>
            <a:ext cx="3337560" cy="365760"/>
          </a:xfrm>
          <a:prstGeom prst="rect">
            <a:avLst/>
          </a:prstGeom>
          <a:noFill/>
          <a:ln/>
        </p:spPr>
        <p:txBody>
          <a:bodyPr wrap="square" lIns="0" tIns="0" rIns="0" bIns="0" rtlCol="0" anchor="ctr"/>
          <a:lstStyle/>
          <a:p>
            <a:pPr marL="0" indent="0">
              <a:buNone/>
            </a:pPr>
            <a:r>
              <a:rPr lang="en-DK" sz="900" dirty="0">
                <a:solidFill>
                  <a:srgbClr val="475569"/>
                </a:solidFill>
                <a:latin typeface="Calibri Light" pitchFamily="34" charset="0"/>
                <a:ea typeface="Calibri Light" pitchFamily="34" charset="-122"/>
                <a:cs typeface="Calibri Light" pitchFamily="34" charset="-120"/>
              </a:rPr>
              <a:t>Model </a:t>
            </a:r>
            <a:r>
              <a:rPr lang="en-US" sz="900" dirty="0">
                <a:solidFill>
                  <a:srgbClr val="475569"/>
                </a:solidFill>
                <a:latin typeface="Calibri Light" pitchFamily="34" charset="0"/>
                <a:ea typeface="Calibri Light" pitchFamily="34" charset="-122"/>
                <a:cs typeface="Calibri Light" pitchFamily="34" charset="-120"/>
              </a:rPr>
              <a:t>build: data exploration, feature engineering, training, validation and deployment. Uses AI agents for pipeline code and documentation.</a:t>
            </a:r>
            <a:endParaRPr lang="en-US" sz="900" dirty="0"/>
          </a:p>
        </p:txBody>
      </p:sp>
      <p:sp>
        <p:nvSpPr>
          <p:cNvPr id="20" name="Shape 18"/>
          <p:cNvSpPr/>
          <p:nvPr>
            <p:custDataLst>
              <p:tags r:id="rId20"/>
            </p:custDataLst>
          </p:nvPr>
        </p:nvSpPr>
        <p:spPr>
          <a:xfrm>
            <a:off x="0" y="3977640"/>
            <a:ext cx="9144000" cy="1165860"/>
          </a:xfrm>
          <a:prstGeom prst="rect">
            <a:avLst/>
          </a:prstGeom>
          <a:solidFill>
            <a:srgbClr val="0F1629"/>
          </a:solidFill>
          <a:ln/>
        </p:spPr>
        <p:txBody>
          <a:bodyPr/>
          <a:lstStyle/>
          <a:p>
            <a:endParaRPr lang="en-GB"/>
          </a:p>
        </p:txBody>
      </p:sp>
      <p:sp>
        <p:nvSpPr>
          <p:cNvPr id="21" name="Text 19"/>
          <p:cNvSpPr/>
          <p:nvPr>
            <p:custDataLst>
              <p:tags r:id="rId21"/>
            </p:custDataLst>
          </p:nvPr>
        </p:nvSpPr>
        <p:spPr>
          <a:xfrm>
            <a:off x="731520" y="4023360"/>
            <a:ext cx="76809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Governance</a:t>
            </a:r>
            <a:endParaRPr lang="en-US" sz="1400" dirty="0"/>
          </a:p>
        </p:txBody>
      </p:sp>
      <p:pic>
        <p:nvPicPr>
          <p:cNvPr id="22" name="Image 0" descr="preencoded.png"/>
          <p:cNvPicPr>
            <a:picLocks noChangeAspect="1"/>
          </p:cNvPicPr>
          <p:nvPr>
            <p:custDataLst>
              <p:tags r:id="rId22"/>
            </p:custDataLst>
          </p:nvPr>
        </p:nvPicPr>
        <p:blipFill>
          <a:blip r:embed="rId33"/>
          <a:stretch>
            <a:fillRect/>
          </a:stretch>
        </p:blipFill>
        <p:spPr>
          <a:xfrm>
            <a:off x="731520" y="4343400"/>
            <a:ext cx="274320" cy="274320"/>
          </a:xfrm>
          <a:prstGeom prst="rect">
            <a:avLst/>
          </a:prstGeom>
        </p:spPr>
      </p:pic>
      <p:sp>
        <p:nvSpPr>
          <p:cNvPr id="23" name="Text 20"/>
          <p:cNvSpPr/>
          <p:nvPr>
            <p:custDataLst>
              <p:tags r:id="rId23"/>
            </p:custDataLst>
          </p:nvPr>
        </p:nvSpPr>
        <p:spPr>
          <a:xfrm>
            <a:off x="1097280" y="4315968"/>
            <a:ext cx="219456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Steering Committee</a:t>
            </a:r>
            <a:endParaRPr lang="en-US" sz="1100" dirty="0"/>
          </a:p>
        </p:txBody>
      </p:sp>
      <p:sp>
        <p:nvSpPr>
          <p:cNvPr id="24" name="Text 21"/>
          <p:cNvSpPr/>
          <p:nvPr>
            <p:custDataLst>
              <p:tags r:id="rId24"/>
            </p:custDataLst>
          </p:nvPr>
        </p:nvSpPr>
        <p:spPr>
          <a:xfrm>
            <a:off x="1097280" y="4553712"/>
            <a:ext cx="2194560" cy="457200"/>
          </a:xfrm>
          <a:prstGeom prst="rect">
            <a:avLst/>
          </a:prstGeom>
          <a:noFill/>
          <a:ln/>
        </p:spPr>
        <p:txBody>
          <a:bodyPr wrap="square" lIns="0" tIns="0" rIns="0" bIns="0" rtlCol="0" anchor="ctr"/>
          <a:lstStyle/>
          <a:p>
            <a:pPr marL="0" indent="0">
              <a:buNone/>
            </a:pPr>
            <a:r>
              <a:rPr lang="en-DK" sz="900" dirty="0">
                <a:solidFill>
                  <a:srgbClr val="94A3B8"/>
                </a:solidFill>
                <a:latin typeface="Calibri Light" pitchFamily="34" charset="0"/>
                <a:ea typeface="Calibri Light" pitchFamily="34" charset="-122"/>
                <a:cs typeface="Calibri Light" pitchFamily="34" charset="-120"/>
              </a:rPr>
              <a:t>Fortnightly</a:t>
            </a:r>
            <a:r>
              <a:rPr lang="en-US" sz="900" dirty="0">
                <a:solidFill>
                  <a:srgbClr val="94A3B8"/>
                </a:solidFill>
                <a:latin typeface="Calibri Light" pitchFamily="34" charset="0"/>
                <a:ea typeface="Calibri Light" pitchFamily="34" charset="-122"/>
                <a:cs typeface="Calibri Light" pitchFamily="34" charset="-120"/>
              </a:rPr>
              <a:t>, 30 min</a:t>
            </a:r>
            <a:endParaRPr lang="en-US" sz="900" dirty="0"/>
          </a:p>
          <a:p>
            <a:pPr marL="0" indent="0">
              <a:buNone/>
            </a:pPr>
            <a:r>
              <a:rPr lang="en-DK" sz="900" dirty="0">
                <a:solidFill>
                  <a:srgbClr val="94A3B8"/>
                </a:solidFill>
                <a:latin typeface="Calibri Light" pitchFamily="34" charset="0"/>
                <a:ea typeface="Calibri Light" pitchFamily="34" charset="-122"/>
                <a:cs typeface="Calibri Light" pitchFamily="34" charset="-120"/>
              </a:rPr>
              <a:t>CFO, FD + Engagement Manager</a:t>
            </a:r>
            <a:endParaRPr lang="en-US" sz="900" dirty="0"/>
          </a:p>
        </p:txBody>
      </p:sp>
      <p:pic>
        <p:nvPicPr>
          <p:cNvPr id="25" name="Image 1" descr="preencoded.png"/>
          <p:cNvPicPr>
            <a:picLocks noChangeAspect="1"/>
          </p:cNvPicPr>
          <p:nvPr>
            <p:custDataLst>
              <p:tags r:id="rId25"/>
            </p:custDataLst>
          </p:nvPr>
        </p:nvPicPr>
        <p:blipFill>
          <a:blip r:embed="rId34"/>
          <a:stretch>
            <a:fillRect/>
          </a:stretch>
        </p:blipFill>
        <p:spPr>
          <a:xfrm>
            <a:off x="3566160" y="4343400"/>
            <a:ext cx="274320" cy="274320"/>
          </a:xfrm>
          <a:prstGeom prst="rect">
            <a:avLst/>
          </a:prstGeom>
        </p:spPr>
      </p:pic>
      <p:sp>
        <p:nvSpPr>
          <p:cNvPr id="26" name="Text 22"/>
          <p:cNvSpPr/>
          <p:nvPr>
            <p:custDataLst>
              <p:tags r:id="rId26"/>
            </p:custDataLst>
          </p:nvPr>
        </p:nvSpPr>
        <p:spPr>
          <a:xfrm>
            <a:off x="3931920" y="4315968"/>
            <a:ext cx="2194560" cy="228600"/>
          </a:xfrm>
          <a:prstGeom prst="rect">
            <a:avLst/>
          </a:prstGeom>
          <a:noFill/>
          <a:ln/>
        </p:spPr>
        <p:txBody>
          <a:bodyPr wrap="square" lIns="0" tIns="0" rIns="0" bIns="0" rtlCol="0" anchor="ctr"/>
          <a:lstStyle/>
          <a:p>
            <a:pPr marL="0" indent="0">
              <a:buNone/>
            </a:pPr>
            <a:r>
              <a:rPr lang="en-DK" sz="1100" b="1" dirty="0">
                <a:solidFill>
                  <a:srgbClr val="FFFFFF"/>
                </a:solidFill>
                <a:latin typeface="Calibri" pitchFamily="34" charset="0"/>
                <a:ea typeface="Calibri" pitchFamily="34" charset="-122"/>
                <a:cs typeface="Calibri" pitchFamily="34" charset="-120"/>
              </a:rPr>
              <a:t>Progress Review</a:t>
            </a:r>
            <a:endParaRPr lang="en-US" sz="1100" dirty="0"/>
          </a:p>
        </p:txBody>
      </p:sp>
      <p:sp>
        <p:nvSpPr>
          <p:cNvPr id="27" name="Text 23"/>
          <p:cNvSpPr/>
          <p:nvPr>
            <p:custDataLst>
              <p:tags r:id="rId27"/>
            </p:custDataLst>
          </p:nvPr>
        </p:nvSpPr>
        <p:spPr>
          <a:xfrm>
            <a:off x="3931920" y="4553712"/>
            <a:ext cx="2194560" cy="457200"/>
          </a:xfrm>
          <a:prstGeom prst="rect">
            <a:avLst/>
          </a:prstGeom>
          <a:noFill/>
          <a:ln/>
        </p:spPr>
        <p:txBody>
          <a:bodyPr wrap="square" lIns="0" tIns="0" rIns="0" bIns="0" rtlCol="0" anchor="ctr"/>
          <a:lstStyle/>
          <a:p>
            <a:pPr marL="0" indent="0">
              <a:buNone/>
            </a:pPr>
            <a:r>
              <a:rPr lang="en-US" sz="900" dirty="0">
                <a:solidFill>
                  <a:srgbClr val="94A3B8"/>
                </a:solidFill>
                <a:latin typeface="Calibri Light" pitchFamily="34" charset="0"/>
                <a:ea typeface="Calibri Light" pitchFamily="34" charset="-122"/>
                <a:cs typeface="Calibri Light" pitchFamily="34" charset="-120"/>
              </a:rPr>
              <a:t>Weekly, 60 min</a:t>
            </a:r>
            <a:endParaRPr lang="en-US" sz="900" dirty="0"/>
          </a:p>
          <a:p>
            <a:pPr marL="0" indent="0">
              <a:buNone/>
            </a:pPr>
            <a:r>
              <a:rPr lang="en-US" sz="900" dirty="0">
                <a:solidFill>
                  <a:srgbClr val="94A3B8"/>
                </a:solidFill>
                <a:latin typeface="Calibri Light" pitchFamily="34" charset="0"/>
                <a:ea typeface="Calibri Light" pitchFamily="34" charset="-122"/>
                <a:cs typeface="Calibri Light" pitchFamily="34" charset="-120"/>
              </a:rPr>
              <a:t>Finance Director + delivery team</a:t>
            </a:r>
            <a:endParaRPr lang="en-US" sz="900" dirty="0"/>
          </a:p>
        </p:txBody>
      </p:sp>
      <p:pic>
        <p:nvPicPr>
          <p:cNvPr id="28" name="Image 2" descr="preencoded.png"/>
          <p:cNvPicPr>
            <a:picLocks noChangeAspect="1"/>
          </p:cNvPicPr>
          <p:nvPr>
            <p:custDataLst>
              <p:tags r:id="rId28"/>
            </p:custDataLst>
          </p:nvPr>
        </p:nvPicPr>
        <p:blipFill>
          <a:blip r:embed="rId35"/>
          <a:stretch>
            <a:fillRect/>
          </a:stretch>
        </p:blipFill>
        <p:spPr>
          <a:xfrm>
            <a:off x="6400800" y="4343400"/>
            <a:ext cx="274320" cy="274320"/>
          </a:xfrm>
          <a:prstGeom prst="rect">
            <a:avLst/>
          </a:prstGeom>
        </p:spPr>
      </p:pic>
      <p:sp>
        <p:nvSpPr>
          <p:cNvPr id="29" name="Text 24"/>
          <p:cNvSpPr/>
          <p:nvPr>
            <p:custDataLst>
              <p:tags r:id="rId29"/>
            </p:custDataLst>
          </p:nvPr>
        </p:nvSpPr>
        <p:spPr>
          <a:xfrm>
            <a:off x="6766560" y="4315968"/>
            <a:ext cx="219456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Working Sessions</a:t>
            </a:r>
            <a:endParaRPr lang="en-US" sz="1100" dirty="0"/>
          </a:p>
        </p:txBody>
      </p:sp>
      <p:sp>
        <p:nvSpPr>
          <p:cNvPr id="30" name="Text 25"/>
          <p:cNvSpPr/>
          <p:nvPr>
            <p:custDataLst>
              <p:tags r:id="rId30"/>
            </p:custDataLst>
          </p:nvPr>
        </p:nvSpPr>
        <p:spPr>
          <a:xfrm>
            <a:off x="6766560" y="4553712"/>
            <a:ext cx="2194560" cy="457200"/>
          </a:xfrm>
          <a:prstGeom prst="rect">
            <a:avLst/>
          </a:prstGeom>
          <a:noFill/>
          <a:ln/>
        </p:spPr>
        <p:txBody>
          <a:bodyPr wrap="square" lIns="0" tIns="0" rIns="0" bIns="0" rtlCol="0" anchor="ctr"/>
          <a:lstStyle/>
          <a:p>
            <a:pPr marL="0" indent="0">
              <a:buNone/>
            </a:pPr>
            <a:r>
              <a:rPr lang="en-US" sz="900" dirty="0">
                <a:solidFill>
                  <a:srgbClr val="94A3B8"/>
                </a:solidFill>
                <a:latin typeface="Calibri Light" pitchFamily="34" charset="0"/>
                <a:ea typeface="Calibri Light" pitchFamily="34" charset="-122"/>
                <a:cs typeface="Calibri Light" pitchFamily="34" charset="-120"/>
              </a:rPr>
              <a:t>Ad hoc, as needed</a:t>
            </a:r>
            <a:endParaRPr lang="en-US" sz="900" dirty="0"/>
          </a:p>
          <a:p>
            <a:pPr marL="0" indent="0">
              <a:buNone/>
            </a:pPr>
            <a:r>
              <a:rPr lang="en-US" sz="900" dirty="0">
                <a:solidFill>
                  <a:srgbClr val="94A3B8"/>
                </a:solidFill>
                <a:latin typeface="Calibri Light" pitchFamily="34" charset="0"/>
                <a:ea typeface="Calibri Light" pitchFamily="34" charset="-122"/>
                <a:cs typeface="Calibri Light" pitchFamily="34" charset="-120"/>
              </a:rPr>
              <a:t>FD / Ops Lead + technical team</a:t>
            </a:r>
            <a:endParaRPr lang="en-US" sz="900" dirty="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0F1629"/>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1371600"/>
            <a:ext cx="768096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p:nvPr>
            <p:custDataLst>
              <p:tags r:id="rId3"/>
            </p:custDataLst>
          </p:nvPr>
        </p:nvSpPr>
        <p:spPr>
          <a:xfrm>
            <a:off x="731520" y="2286000"/>
            <a:ext cx="7680960" cy="457200"/>
          </a:xfrm>
          <a:prstGeom prst="rect">
            <a:avLst/>
          </a:prstGeom>
          <a:noFill/>
          <a:ln/>
        </p:spPr>
        <p:txBody>
          <a:bodyPr wrap="square" lIns="0" tIns="0" rIns="0" bIns="0" rtlCol="0" anchor="ctr"/>
          <a:lstStyle/>
          <a:p>
            <a:pPr marL="0" indent="0" algn="ctr">
              <a:buNone/>
            </a:pPr>
            <a:r>
              <a:rPr lang="en-US" sz="1800" dirty="0">
                <a:solidFill>
                  <a:srgbClr val="94A3B8"/>
                </a:solidFill>
                <a:latin typeface="Calibri Light" pitchFamily="34" charset="0"/>
                <a:ea typeface="Calibri Light" pitchFamily="34" charset="-122"/>
                <a:cs typeface="Calibri Light" pitchFamily="34" charset="-120"/>
              </a:rPr>
              <a:t>Ready to discuss </a:t>
            </a:r>
            <a:r>
              <a:rPr lang="en-US" sz="1800" dirty="0">
                <a:solidFill>
                  <a:srgbClr val="0EA5E9"/>
                </a:solidFill>
                <a:latin typeface="Calibri Light" pitchFamily="34" charset="0"/>
                <a:ea typeface="Calibri Light" pitchFamily="34" charset="-122"/>
                <a:cs typeface="Calibri Light" pitchFamily="34" charset="-120"/>
              </a:rPr>
              <a:t>next steps</a:t>
            </a:r>
            <a:endParaRPr lang="en-US" sz="1800" dirty="0"/>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S_COMPARE_SLIDE_ID" val="ac3d1aa7-859b-4bf3-a2d0-cca4c52f827f"/>
</p:tagLst>
</file>

<file path=ppt/tags/tag2.xml><?xml version="1.0" encoding="utf-8"?>
<p:tagLst xmlns:a="http://schemas.openxmlformats.org/drawingml/2006/main" xmlns:r="http://schemas.openxmlformats.org/officeDocument/2006/relationships" xmlns:p="http://schemas.openxmlformats.org/presentationml/2006/main">
  <p:tag name="PS_COMPARE_SHAPE_ID" val="2003f9d5-8782-4c14-971b-3227e7554c50"/>
</p:tagLst>
</file>

<file path=ppt/tags/tag3.xml><?xml version="1.0" encoding="utf-8"?>
<p:tagLst xmlns:a="http://schemas.openxmlformats.org/drawingml/2006/main" xmlns:r="http://schemas.openxmlformats.org/officeDocument/2006/relationships" xmlns:p="http://schemas.openxmlformats.org/presentationml/2006/main">
  <p:tag name="PS_COMPARE_SHAPE_ID" val="8cd94552-7a77-4678-a743-d136824c21ee"/>
</p:tagLst>
</file>

<file path=ppt/tags/tag4.xml><?xml version="1.0" encoding="utf-8"?>
<p:tagLst xmlns:a="http://schemas.openxmlformats.org/drawingml/2006/main" xmlns:r="http://schemas.openxmlformats.org/officeDocument/2006/relationships" xmlns:p="http://schemas.openxmlformats.org/presentationml/2006/main">
  <p:tag name="PS_COMPARE_SHAPE_ID" val="defd6dc2-425d-4619-8b66-51624ee5485a"/>
</p:tagLst>
</file>

<file path=ppt/tags/tag5.xml><?xml version="1.0" encoding="utf-8"?>
<p:tagLst xmlns:a="http://schemas.openxmlformats.org/drawingml/2006/main" xmlns:r="http://schemas.openxmlformats.org/officeDocument/2006/relationships" xmlns:p="http://schemas.openxmlformats.org/presentationml/2006/main">
  <p:tag name="PS_COMPARE_SHAPE_ID" val="5639ffff-1817-4379-a05e-ac74ccceaa08"/>
</p:tagLst>
</file>

<file path=ppt/tags/tag6.xml><?xml version="1.0" encoding="utf-8"?>
<p:tagLst xmlns:a="http://schemas.openxmlformats.org/drawingml/2006/main" xmlns:r="http://schemas.openxmlformats.org/officeDocument/2006/relationships" xmlns:p="http://schemas.openxmlformats.org/presentationml/2006/main">
  <p:tag name="PS_COMPARE_SLIDE_ID" val="e2704b82-6882-43ad-ba6e-3b4c606deeee"/>
</p:tagLst>
</file>

<file path=ppt/tags/tag7.xml><?xml version="1.0" encoding="utf-8"?>
<p:tagLst xmlns:a="http://schemas.openxmlformats.org/drawingml/2006/main" xmlns:r="http://schemas.openxmlformats.org/officeDocument/2006/relationships" xmlns:p="http://schemas.openxmlformats.org/presentationml/2006/main">
  <p:tag name="PS_COMPARE_SHAPE_ID" val="b31e70c2-bdd9-471a-9aeb-a8938e0cf762"/>
</p:tagLst>
</file>

<file path=ppt/tags/tag8.xml><?xml version="1.0" encoding="utf-8"?>
<p:tagLst xmlns:a="http://schemas.openxmlformats.org/drawingml/2006/main" xmlns:r="http://schemas.openxmlformats.org/officeDocument/2006/relationships" xmlns:p="http://schemas.openxmlformats.org/presentationml/2006/main">
  <p:tag name="PS_COMPARE_SHAPE_ID" val="118ef59a-6ec0-441a-986b-c9fd22adf2b7"/>
</p:tagLst>
</file>

<file path=ppt/tags/tag9.xml><?xml version="1.0" encoding="utf-8"?>
<p:tagLst xmlns:a="http://schemas.openxmlformats.org/drawingml/2006/main" xmlns:r="http://schemas.openxmlformats.org/officeDocument/2006/relationships" xmlns:p="http://schemas.openxmlformats.org/presentationml/2006/main">
  <p:tag name="PS_COMPARE_SHAPE_ID" val="22cc09c7-37b2-4c55-81b4-e6236a154159"/>
</p:tagLst>
</file>

<file path=ppt/tags/tag10.xml><?xml version="1.0" encoding="utf-8"?>
<p:tagLst xmlns:a="http://schemas.openxmlformats.org/drawingml/2006/main" xmlns:r="http://schemas.openxmlformats.org/officeDocument/2006/relationships" xmlns:p="http://schemas.openxmlformats.org/presentationml/2006/main">
  <p:tag name="PS_COMPARE_SHAPE_ID" val="cfee9513-8025-4041-a12c-f3750b782365"/>
</p:tagLst>
</file>

<file path=ppt/tags/tag11.xml><?xml version="1.0" encoding="utf-8"?>
<p:tagLst xmlns:a="http://schemas.openxmlformats.org/drawingml/2006/main" xmlns:r="http://schemas.openxmlformats.org/officeDocument/2006/relationships" xmlns:p="http://schemas.openxmlformats.org/presentationml/2006/main">
  <p:tag name="PS_COMPARE_SHAPE_ID" val="6de60131-7fbd-4162-984a-553341fcfe2e"/>
</p:tagLst>
</file>

<file path=ppt/tags/tag12.xml><?xml version="1.0" encoding="utf-8"?>
<p:tagLst xmlns:a="http://schemas.openxmlformats.org/drawingml/2006/main" xmlns:r="http://schemas.openxmlformats.org/officeDocument/2006/relationships" xmlns:p="http://schemas.openxmlformats.org/presentationml/2006/main">
  <p:tag name="PS_COMPARE_SHAPE_ID" val="851d36fb-e210-457f-8c16-b8783953f928"/>
</p:tagLst>
</file>

<file path=ppt/tags/tag13.xml><?xml version="1.0" encoding="utf-8"?>
<p:tagLst xmlns:a="http://schemas.openxmlformats.org/drawingml/2006/main" xmlns:r="http://schemas.openxmlformats.org/officeDocument/2006/relationships" xmlns:p="http://schemas.openxmlformats.org/presentationml/2006/main">
  <p:tag name="PS_COMPARE_SHAPE_ID" val="e2cff004-8bd6-4b02-b26e-f7cf50e8e757"/>
</p:tagLst>
</file>

<file path=ppt/tags/tag14.xml><?xml version="1.0" encoding="utf-8"?>
<p:tagLst xmlns:a="http://schemas.openxmlformats.org/drawingml/2006/main" xmlns:r="http://schemas.openxmlformats.org/officeDocument/2006/relationships" xmlns:p="http://schemas.openxmlformats.org/presentationml/2006/main">
  <p:tag name="PS_COMPARE_SHAPE_ID" val="7fa42024-5975-4532-9df6-57458d9af734"/>
</p:tagLst>
</file>

<file path=ppt/tags/tag15.xml><?xml version="1.0" encoding="utf-8"?>
<p:tagLst xmlns:a="http://schemas.openxmlformats.org/drawingml/2006/main" xmlns:r="http://schemas.openxmlformats.org/officeDocument/2006/relationships" xmlns:p="http://schemas.openxmlformats.org/presentationml/2006/main">
  <p:tag name="PS_COMPARE_SHAPE_ID" val="f38607ef-a505-44fd-ae62-3e89e79cc718"/>
</p:tagLst>
</file>

<file path=ppt/tags/tag16.xml><?xml version="1.0" encoding="utf-8"?>
<p:tagLst xmlns:a="http://schemas.openxmlformats.org/drawingml/2006/main" xmlns:r="http://schemas.openxmlformats.org/officeDocument/2006/relationships" xmlns:p="http://schemas.openxmlformats.org/presentationml/2006/main">
  <p:tag name="PS_COMPARE_SHAPE_ID" val="ab0af5d0-76a9-4ab3-9786-9eb12d5d29e6"/>
</p:tagLst>
</file>

<file path=ppt/tags/tag17.xml><?xml version="1.0" encoding="utf-8"?>
<p:tagLst xmlns:a="http://schemas.openxmlformats.org/drawingml/2006/main" xmlns:r="http://schemas.openxmlformats.org/officeDocument/2006/relationships" xmlns:p="http://schemas.openxmlformats.org/presentationml/2006/main">
  <p:tag name="PS_COMPARE_SHAPE_ID" val="921b1141-5959-49ec-b160-3afe00d7c10a"/>
</p:tagLst>
</file>

<file path=ppt/tags/tag18.xml><?xml version="1.0" encoding="utf-8"?>
<p:tagLst xmlns:a="http://schemas.openxmlformats.org/drawingml/2006/main" xmlns:r="http://schemas.openxmlformats.org/officeDocument/2006/relationships" xmlns:p="http://schemas.openxmlformats.org/presentationml/2006/main">
  <p:tag name="PS_COMPARE_SHAPE_ID" val="a6222c39-b36a-4bed-a531-faeec49e8561"/>
</p:tagLst>
</file>

<file path=ppt/tags/tag19.xml><?xml version="1.0" encoding="utf-8"?>
<p:tagLst xmlns:a="http://schemas.openxmlformats.org/drawingml/2006/main" xmlns:r="http://schemas.openxmlformats.org/officeDocument/2006/relationships" xmlns:p="http://schemas.openxmlformats.org/presentationml/2006/main">
  <p:tag name="PS_COMPARE_SHAPE_ID" val="458184a3-af04-44ea-afd1-7d07281ea263"/>
</p:tagLst>
</file>

<file path=ppt/tags/tag20.xml><?xml version="1.0" encoding="utf-8"?>
<p:tagLst xmlns:a="http://schemas.openxmlformats.org/drawingml/2006/main" xmlns:r="http://schemas.openxmlformats.org/officeDocument/2006/relationships" xmlns:p="http://schemas.openxmlformats.org/presentationml/2006/main">
  <p:tag name="PS_COMPARE_SHAPE_ID" val="5108d019-5768-471a-b3d1-080236f9b4ef"/>
</p:tagLst>
</file>

<file path=ppt/tags/tag21.xml><?xml version="1.0" encoding="utf-8"?>
<p:tagLst xmlns:a="http://schemas.openxmlformats.org/drawingml/2006/main" xmlns:r="http://schemas.openxmlformats.org/officeDocument/2006/relationships" xmlns:p="http://schemas.openxmlformats.org/presentationml/2006/main">
  <p:tag name="PS_COMPARE_SHAPE_ID" val="c046808c-cb55-4301-8361-e8bce7f4c5c8"/>
</p:tagLst>
</file>

<file path=ppt/tags/tag22.xml><?xml version="1.0" encoding="utf-8"?>
<p:tagLst xmlns:a="http://schemas.openxmlformats.org/drawingml/2006/main" xmlns:r="http://schemas.openxmlformats.org/officeDocument/2006/relationships" xmlns:p="http://schemas.openxmlformats.org/presentationml/2006/main">
  <p:tag name="PS_COMPARE_SHAPE_ID" val="1d5e9b20-7459-46bb-afb8-3468f9f325c0"/>
</p:tagLst>
</file>

<file path=ppt/tags/tag23.xml><?xml version="1.0" encoding="utf-8"?>
<p:tagLst xmlns:a="http://schemas.openxmlformats.org/drawingml/2006/main" xmlns:r="http://schemas.openxmlformats.org/officeDocument/2006/relationships" xmlns:p="http://schemas.openxmlformats.org/presentationml/2006/main">
  <p:tag name="PS_COMPARE_SHAPE_ID" val="5883ad2c-e29f-40d6-9a2d-0fa7dfbdc7c3"/>
</p:tagLst>
</file>

<file path=ppt/tags/tag24.xml><?xml version="1.0" encoding="utf-8"?>
<p:tagLst xmlns:a="http://schemas.openxmlformats.org/drawingml/2006/main" xmlns:r="http://schemas.openxmlformats.org/officeDocument/2006/relationships" xmlns:p="http://schemas.openxmlformats.org/presentationml/2006/main">
  <p:tag name="PS_COMPARE_SHAPE_ID" val="e115e87f-df94-49b6-b52c-a84e58cf6224"/>
</p:tagLst>
</file>

<file path=ppt/tags/tag25.xml><?xml version="1.0" encoding="utf-8"?>
<p:tagLst xmlns:a="http://schemas.openxmlformats.org/drawingml/2006/main" xmlns:r="http://schemas.openxmlformats.org/officeDocument/2006/relationships" xmlns:p="http://schemas.openxmlformats.org/presentationml/2006/main">
  <p:tag name="PS_COMPARE_SHAPE_ID" val="17f0863a-7b1b-4710-9091-a19ab400cf25"/>
</p:tagLst>
</file>

<file path=ppt/tags/tag26.xml><?xml version="1.0" encoding="utf-8"?>
<p:tagLst xmlns:a="http://schemas.openxmlformats.org/drawingml/2006/main" xmlns:r="http://schemas.openxmlformats.org/officeDocument/2006/relationships" xmlns:p="http://schemas.openxmlformats.org/presentationml/2006/main">
  <p:tag name="PS_COMPARE_SLIDE_ID" val="cfac4b94-7adf-42a7-8dd4-b7c83f59cd77"/>
</p:tagLst>
</file>

<file path=ppt/tags/tag27.xml><?xml version="1.0" encoding="utf-8"?>
<p:tagLst xmlns:a="http://schemas.openxmlformats.org/drawingml/2006/main" xmlns:r="http://schemas.openxmlformats.org/officeDocument/2006/relationships" xmlns:p="http://schemas.openxmlformats.org/presentationml/2006/main">
  <p:tag name="PS_COMPARE_SHAPE_ID" val="bdcac299-e2fd-4bab-9b17-897e31509186"/>
</p:tagLst>
</file>

<file path=ppt/tags/tag28.xml><?xml version="1.0" encoding="utf-8"?>
<p:tagLst xmlns:a="http://schemas.openxmlformats.org/drawingml/2006/main" xmlns:r="http://schemas.openxmlformats.org/officeDocument/2006/relationships" xmlns:p="http://schemas.openxmlformats.org/presentationml/2006/main">
  <p:tag name="PS_COMPARE_SHAPE_ID" val="4b2a0306-2721-4cbe-bf81-d34b9188f945"/>
</p:tagLst>
</file>

<file path=ppt/tags/tag29.xml><?xml version="1.0" encoding="utf-8"?>
<p:tagLst xmlns:a="http://schemas.openxmlformats.org/drawingml/2006/main" xmlns:r="http://schemas.openxmlformats.org/officeDocument/2006/relationships" xmlns:p="http://schemas.openxmlformats.org/presentationml/2006/main">
  <p:tag name="PS_COMPARE_SHAPE_ID" val="450c456a-4ff6-47e2-a39f-4da3bbb67df8"/>
</p:tagLst>
</file>

<file path=ppt/tags/tag30.xml><?xml version="1.0" encoding="utf-8"?>
<p:tagLst xmlns:a="http://schemas.openxmlformats.org/drawingml/2006/main" xmlns:r="http://schemas.openxmlformats.org/officeDocument/2006/relationships" xmlns:p="http://schemas.openxmlformats.org/presentationml/2006/main">
  <p:tag name="PS_COMPARE_SHAPE_ID" val="1dee55e0-8c09-41e9-be3b-54362c865317"/>
</p:tagLst>
</file>

<file path=ppt/tags/tag31.xml><?xml version="1.0" encoding="utf-8"?>
<p:tagLst xmlns:a="http://schemas.openxmlformats.org/drawingml/2006/main" xmlns:r="http://schemas.openxmlformats.org/officeDocument/2006/relationships" xmlns:p="http://schemas.openxmlformats.org/presentationml/2006/main">
  <p:tag name="PS_COMPARE_SHAPE_ID" val="da8a3bcd-1e88-4da8-aa47-dc413bec7d4c"/>
</p:tagLst>
</file>

<file path=ppt/tags/tag32.xml><?xml version="1.0" encoding="utf-8"?>
<p:tagLst xmlns:a="http://schemas.openxmlformats.org/drawingml/2006/main" xmlns:r="http://schemas.openxmlformats.org/officeDocument/2006/relationships" xmlns:p="http://schemas.openxmlformats.org/presentationml/2006/main">
  <p:tag name="PS_COMPARE_SHAPE_ID" val="7bec7be4-c5f8-47a5-ad4c-dc2f1b352c41"/>
</p:tagLst>
</file>

<file path=ppt/tags/tag33.xml><?xml version="1.0" encoding="utf-8"?>
<p:tagLst xmlns:a="http://schemas.openxmlformats.org/drawingml/2006/main" xmlns:r="http://schemas.openxmlformats.org/officeDocument/2006/relationships" xmlns:p="http://schemas.openxmlformats.org/presentationml/2006/main">
  <p:tag name="PS_COMPARE_SHAPE_ID" val="f87d5a44-b604-471e-9072-e6df905ca9c1"/>
</p:tagLst>
</file>

<file path=ppt/tags/tag34.xml><?xml version="1.0" encoding="utf-8"?>
<p:tagLst xmlns:a="http://schemas.openxmlformats.org/drawingml/2006/main" xmlns:r="http://schemas.openxmlformats.org/officeDocument/2006/relationships" xmlns:p="http://schemas.openxmlformats.org/presentationml/2006/main">
  <p:tag name="PS_COMPARE_SHAPE_ID" val="555ba92d-6a13-4c81-b1dc-bddcdc49b658"/>
</p:tagLst>
</file>

<file path=ppt/tags/tag35.xml><?xml version="1.0" encoding="utf-8"?>
<p:tagLst xmlns:a="http://schemas.openxmlformats.org/drawingml/2006/main" xmlns:r="http://schemas.openxmlformats.org/officeDocument/2006/relationships" xmlns:p="http://schemas.openxmlformats.org/presentationml/2006/main">
  <p:tag name="PS_COMPARE_SHAPE_ID" val="ffbe4daf-56ac-4ff1-852e-a4c22ae140e1"/>
</p:tagLst>
</file>

<file path=ppt/tags/tag36.xml><?xml version="1.0" encoding="utf-8"?>
<p:tagLst xmlns:a="http://schemas.openxmlformats.org/drawingml/2006/main" xmlns:r="http://schemas.openxmlformats.org/officeDocument/2006/relationships" xmlns:p="http://schemas.openxmlformats.org/presentationml/2006/main">
  <p:tag name="PS_COMPARE_SHAPE_ID" val="cf9f3d72-5b53-424a-a09d-f6b975fe864c"/>
</p:tagLst>
</file>

<file path=ppt/tags/tag37.xml><?xml version="1.0" encoding="utf-8"?>
<p:tagLst xmlns:a="http://schemas.openxmlformats.org/drawingml/2006/main" xmlns:r="http://schemas.openxmlformats.org/officeDocument/2006/relationships" xmlns:p="http://schemas.openxmlformats.org/presentationml/2006/main">
  <p:tag name="PS_COMPARE_SHAPE_ID" val="a43c529a-0685-41de-942f-cfe3db460a2e"/>
</p:tagLst>
</file>

<file path=ppt/tags/tag38.xml><?xml version="1.0" encoding="utf-8"?>
<p:tagLst xmlns:a="http://schemas.openxmlformats.org/drawingml/2006/main" xmlns:r="http://schemas.openxmlformats.org/officeDocument/2006/relationships" xmlns:p="http://schemas.openxmlformats.org/presentationml/2006/main">
  <p:tag name="PS_COMPARE_SHAPE_ID" val="e543d7de-2e41-46f7-ab5e-97403bcd5cea"/>
</p:tagLst>
</file>

<file path=ppt/tags/tag39.xml><?xml version="1.0" encoding="utf-8"?>
<p:tagLst xmlns:a="http://schemas.openxmlformats.org/drawingml/2006/main" xmlns:r="http://schemas.openxmlformats.org/officeDocument/2006/relationships" xmlns:p="http://schemas.openxmlformats.org/presentationml/2006/main">
  <p:tag name="PS_COMPARE_SHAPE_ID" val="c0c6f418-773e-4822-93a7-1a3f3e5da70f"/>
</p:tagLst>
</file>

<file path=ppt/tags/tag40.xml><?xml version="1.0" encoding="utf-8"?>
<p:tagLst xmlns:a="http://schemas.openxmlformats.org/drawingml/2006/main" xmlns:r="http://schemas.openxmlformats.org/officeDocument/2006/relationships" xmlns:p="http://schemas.openxmlformats.org/presentationml/2006/main">
  <p:tag name="PS_COMPARE_SHAPE_ID" val="7d4b108f-a341-4177-924b-0ab803c13c5e"/>
</p:tagLst>
</file>

<file path=ppt/tags/tag41.xml><?xml version="1.0" encoding="utf-8"?>
<p:tagLst xmlns:a="http://schemas.openxmlformats.org/drawingml/2006/main" xmlns:r="http://schemas.openxmlformats.org/officeDocument/2006/relationships" xmlns:p="http://schemas.openxmlformats.org/presentationml/2006/main">
  <p:tag name="PS_COMPARE_SHAPE_ID" val="1e66d40c-f550-4058-810b-a118dcf89d60"/>
</p:tagLst>
</file>

<file path=ppt/tags/tag42.xml><?xml version="1.0" encoding="utf-8"?>
<p:tagLst xmlns:a="http://schemas.openxmlformats.org/drawingml/2006/main" xmlns:r="http://schemas.openxmlformats.org/officeDocument/2006/relationships" xmlns:p="http://schemas.openxmlformats.org/presentationml/2006/main">
  <p:tag name="PS_COMPARE_SLIDE_ID" val="ebb6faec-0324-4559-bf15-cc1ca4f155fd"/>
</p:tagLst>
</file>

<file path=ppt/tags/tag43.xml><?xml version="1.0" encoding="utf-8"?>
<p:tagLst xmlns:a="http://schemas.openxmlformats.org/drawingml/2006/main" xmlns:r="http://schemas.openxmlformats.org/officeDocument/2006/relationships" xmlns:p="http://schemas.openxmlformats.org/presentationml/2006/main">
  <p:tag name="PS_COMPARE_SHAPE_ID" val="5c2c65b2-b2b2-45bf-a488-5e1619c745e0"/>
</p:tagLst>
</file>

<file path=ppt/tags/tag44.xml><?xml version="1.0" encoding="utf-8"?>
<p:tagLst xmlns:a="http://schemas.openxmlformats.org/drawingml/2006/main" xmlns:r="http://schemas.openxmlformats.org/officeDocument/2006/relationships" xmlns:p="http://schemas.openxmlformats.org/presentationml/2006/main">
  <p:tag name="PS_COMPARE_SHAPE_ID" val="4cf906b7-ea1f-493f-a15e-974ce6e13b5e"/>
</p:tagLst>
</file>

<file path=ppt/tags/tag45.xml><?xml version="1.0" encoding="utf-8"?>
<p:tagLst xmlns:a="http://schemas.openxmlformats.org/drawingml/2006/main" xmlns:r="http://schemas.openxmlformats.org/officeDocument/2006/relationships" xmlns:p="http://schemas.openxmlformats.org/presentationml/2006/main">
  <p:tag name="PS_COMPARE_SHAPE_ID" val="e62028ed-e5ba-4da2-a126-ffbb8fc37db4"/>
</p:tagLst>
</file>

<file path=ppt/tags/tag46.xml><?xml version="1.0" encoding="utf-8"?>
<p:tagLst xmlns:a="http://schemas.openxmlformats.org/drawingml/2006/main" xmlns:r="http://schemas.openxmlformats.org/officeDocument/2006/relationships" xmlns:p="http://schemas.openxmlformats.org/presentationml/2006/main">
  <p:tag name="PS_COMPARE_SHAPE_ID" val="e6816a62-a9ad-4da7-ad89-27029776a9a2"/>
</p:tagLst>
</file>

<file path=ppt/tags/tag47.xml><?xml version="1.0" encoding="utf-8"?>
<p:tagLst xmlns:a="http://schemas.openxmlformats.org/drawingml/2006/main" xmlns:r="http://schemas.openxmlformats.org/officeDocument/2006/relationships" xmlns:p="http://schemas.openxmlformats.org/presentationml/2006/main">
  <p:tag name="PS_COMPARE_SHAPE_ID" val="36191548-9ca4-4de8-a21a-74bcd6d82fb3"/>
</p:tagLst>
</file>

<file path=ppt/tags/tag48.xml><?xml version="1.0" encoding="utf-8"?>
<p:tagLst xmlns:a="http://schemas.openxmlformats.org/drawingml/2006/main" xmlns:r="http://schemas.openxmlformats.org/officeDocument/2006/relationships" xmlns:p="http://schemas.openxmlformats.org/presentationml/2006/main">
  <p:tag name="PS_COMPARE_SHAPE_ID" val="fd581597-c98c-430e-8a51-7b0093f470a1"/>
</p:tagLst>
</file>

<file path=ppt/tags/tag49.xml><?xml version="1.0" encoding="utf-8"?>
<p:tagLst xmlns:a="http://schemas.openxmlformats.org/drawingml/2006/main" xmlns:r="http://schemas.openxmlformats.org/officeDocument/2006/relationships" xmlns:p="http://schemas.openxmlformats.org/presentationml/2006/main">
  <p:tag name="PS_COMPARE_SHAPE_ID" val="236bdd48-fff1-48f2-81a2-cf138e49de1b"/>
</p:tagLst>
</file>

<file path=ppt/tags/tag50.xml><?xml version="1.0" encoding="utf-8"?>
<p:tagLst xmlns:a="http://schemas.openxmlformats.org/drawingml/2006/main" xmlns:r="http://schemas.openxmlformats.org/officeDocument/2006/relationships" xmlns:p="http://schemas.openxmlformats.org/presentationml/2006/main">
  <p:tag name="PS_COMPARE_SHAPE_ID" val="aa33d883-70fa-419a-a244-fe9db523efd8"/>
</p:tagLst>
</file>

<file path=ppt/tags/tag51.xml><?xml version="1.0" encoding="utf-8"?>
<p:tagLst xmlns:a="http://schemas.openxmlformats.org/drawingml/2006/main" xmlns:r="http://schemas.openxmlformats.org/officeDocument/2006/relationships" xmlns:p="http://schemas.openxmlformats.org/presentationml/2006/main">
  <p:tag name="PS_COMPARE_SHAPE_ID" val="3909a872-c7ba-4c2f-9fc6-75062087c05d"/>
</p:tagLst>
</file>

<file path=ppt/tags/tag52.xml><?xml version="1.0" encoding="utf-8"?>
<p:tagLst xmlns:a="http://schemas.openxmlformats.org/drawingml/2006/main" xmlns:r="http://schemas.openxmlformats.org/officeDocument/2006/relationships" xmlns:p="http://schemas.openxmlformats.org/presentationml/2006/main">
  <p:tag name="PS_COMPARE_SHAPE_ID" val="ceb8a22a-4f71-44f4-9ffc-b9da04a350b9"/>
</p:tagLst>
</file>

<file path=ppt/tags/tag53.xml><?xml version="1.0" encoding="utf-8"?>
<p:tagLst xmlns:a="http://schemas.openxmlformats.org/drawingml/2006/main" xmlns:r="http://schemas.openxmlformats.org/officeDocument/2006/relationships" xmlns:p="http://schemas.openxmlformats.org/presentationml/2006/main">
  <p:tag name="PS_COMPARE_SHAPE_ID" val="397b7b91-02af-4c64-846b-69498d440940"/>
</p:tagLst>
</file>

<file path=ppt/tags/tag54.xml><?xml version="1.0" encoding="utf-8"?>
<p:tagLst xmlns:a="http://schemas.openxmlformats.org/drawingml/2006/main" xmlns:r="http://schemas.openxmlformats.org/officeDocument/2006/relationships" xmlns:p="http://schemas.openxmlformats.org/presentationml/2006/main">
  <p:tag name="PS_COMPARE_SHAPE_ID" val="cb6f8f85-aac2-4b7d-8efe-2de54b0887f2"/>
</p:tagLst>
</file>

<file path=ppt/tags/tag55.xml><?xml version="1.0" encoding="utf-8"?>
<p:tagLst xmlns:a="http://schemas.openxmlformats.org/drawingml/2006/main" xmlns:r="http://schemas.openxmlformats.org/officeDocument/2006/relationships" xmlns:p="http://schemas.openxmlformats.org/presentationml/2006/main">
  <p:tag name="PS_COMPARE_SHAPE_ID" val="a2bf2888-245a-4e40-904c-31a805294855"/>
</p:tagLst>
</file>

<file path=ppt/tags/tag56.xml><?xml version="1.0" encoding="utf-8"?>
<p:tagLst xmlns:a="http://schemas.openxmlformats.org/drawingml/2006/main" xmlns:r="http://schemas.openxmlformats.org/officeDocument/2006/relationships" xmlns:p="http://schemas.openxmlformats.org/presentationml/2006/main">
  <p:tag name="PS_COMPARE_SHAPE_ID" val="62203618-4fde-4aaa-a033-82a4223d2876"/>
</p:tagLst>
</file>

<file path=ppt/tags/tag57.xml><?xml version="1.0" encoding="utf-8"?>
<p:tagLst xmlns:a="http://schemas.openxmlformats.org/drawingml/2006/main" xmlns:r="http://schemas.openxmlformats.org/officeDocument/2006/relationships" xmlns:p="http://schemas.openxmlformats.org/presentationml/2006/main">
  <p:tag name="PS_COMPARE_SHAPE_ID" val="775cf1af-e62a-4dcb-8648-6aec5c7cf0d6"/>
</p:tagLst>
</file>

<file path=ppt/tags/tag58.xml><?xml version="1.0" encoding="utf-8"?>
<p:tagLst xmlns:a="http://schemas.openxmlformats.org/drawingml/2006/main" xmlns:r="http://schemas.openxmlformats.org/officeDocument/2006/relationships" xmlns:p="http://schemas.openxmlformats.org/presentationml/2006/main">
  <p:tag name="PS_COMPARE_SHAPE_ID" val="a0ee7d0b-d7eb-4806-a162-68c64ba81abd"/>
</p:tagLst>
</file>

<file path=ppt/tags/tag59.xml><?xml version="1.0" encoding="utf-8"?>
<p:tagLst xmlns:a="http://schemas.openxmlformats.org/drawingml/2006/main" xmlns:r="http://schemas.openxmlformats.org/officeDocument/2006/relationships" xmlns:p="http://schemas.openxmlformats.org/presentationml/2006/main">
  <p:tag name="PS_COMPARE_SHAPE_ID" val="521c9add-b3af-448b-9833-ae828cbf68b9"/>
</p:tagLst>
</file>

<file path=ppt/tags/tag60.xml><?xml version="1.0" encoding="utf-8"?>
<p:tagLst xmlns:a="http://schemas.openxmlformats.org/drawingml/2006/main" xmlns:r="http://schemas.openxmlformats.org/officeDocument/2006/relationships" xmlns:p="http://schemas.openxmlformats.org/presentationml/2006/main">
  <p:tag name="PS_COMPARE_SHAPE_ID" val="16fe5e41-8b0a-49cf-bbe7-51fe0d9d1f37"/>
</p:tagLst>
</file>

<file path=ppt/tags/tag61.xml><?xml version="1.0" encoding="utf-8"?>
<p:tagLst xmlns:a="http://schemas.openxmlformats.org/drawingml/2006/main" xmlns:r="http://schemas.openxmlformats.org/officeDocument/2006/relationships" xmlns:p="http://schemas.openxmlformats.org/presentationml/2006/main">
  <p:tag name="PS_COMPARE_SHAPE_ID" val="6a6a32f0-8bb3-48b0-941a-638ece501ef6"/>
</p:tagLst>
</file>

<file path=ppt/tags/tag62.xml><?xml version="1.0" encoding="utf-8"?>
<p:tagLst xmlns:a="http://schemas.openxmlformats.org/drawingml/2006/main" xmlns:r="http://schemas.openxmlformats.org/officeDocument/2006/relationships" xmlns:p="http://schemas.openxmlformats.org/presentationml/2006/main">
  <p:tag name="PS_COMPARE_SHAPE_ID" val="9be2708e-6c7a-4de0-b412-9a059ac6edb4"/>
</p:tagLst>
</file>

<file path=ppt/tags/tag63.xml><?xml version="1.0" encoding="utf-8"?>
<p:tagLst xmlns:a="http://schemas.openxmlformats.org/drawingml/2006/main" xmlns:r="http://schemas.openxmlformats.org/officeDocument/2006/relationships" xmlns:p="http://schemas.openxmlformats.org/presentationml/2006/main">
  <p:tag name="PS_COMPARE_SHAPE_ID" val="50989338-a566-4c0a-8f9e-22dfbd4c47de"/>
</p:tagLst>
</file>

<file path=ppt/tags/tag64.xml><?xml version="1.0" encoding="utf-8"?>
<p:tagLst xmlns:a="http://schemas.openxmlformats.org/drawingml/2006/main" xmlns:r="http://schemas.openxmlformats.org/officeDocument/2006/relationships" xmlns:p="http://schemas.openxmlformats.org/presentationml/2006/main">
  <p:tag name="PS_COMPARE_SHAPE_ID" val="4baa41fc-dfd0-4078-b9b3-e2288fafb5ec"/>
</p:tagLst>
</file>

<file path=ppt/tags/tag65.xml><?xml version="1.0" encoding="utf-8"?>
<p:tagLst xmlns:a="http://schemas.openxmlformats.org/drawingml/2006/main" xmlns:r="http://schemas.openxmlformats.org/officeDocument/2006/relationships" xmlns:p="http://schemas.openxmlformats.org/presentationml/2006/main">
  <p:tag name="PS_COMPARE_SHAPE_ID" val="841c9e64-679f-45ee-9091-c68ab68104e3"/>
</p:tagLst>
</file>

<file path=ppt/tags/tag66.xml><?xml version="1.0" encoding="utf-8"?>
<p:tagLst xmlns:a="http://schemas.openxmlformats.org/drawingml/2006/main" xmlns:r="http://schemas.openxmlformats.org/officeDocument/2006/relationships" xmlns:p="http://schemas.openxmlformats.org/presentationml/2006/main">
  <p:tag name="PS_COMPARE_SHAPE_ID" val="192e8ecb-e810-4a87-84ad-b063e1264cae"/>
</p:tagLst>
</file>

<file path=ppt/tags/tag67.xml><?xml version="1.0" encoding="utf-8"?>
<p:tagLst xmlns:a="http://schemas.openxmlformats.org/drawingml/2006/main" xmlns:r="http://schemas.openxmlformats.org/officeDocument/2006/relationships" xmlns:p="http://schemas.openxmlformats.org/presentationml/2006/main">
  <p:tag name="PS_COMPARE_SHAPE_ID" val="449b8b01-41d1-49c3-9a36-cc35c98ea21c"/>
</p:tagLst>
</file>

<file path=ppt/tags/tag68.xml><?xml version="1.0" encoding="utf-8"?>
<p:tagLst xmlns:a="http://schemas.openxmlformats.org/drawingml/2006/main" xmlns:r="http://schemas.openxmlformats.org/officeDocument/2006/relationships" xmlns:p="http://schemas.openxmlformats.org/presentationml/2006/main">
  <p:tag name="PS_COMPARE_SHAPE_ID" val="10631ad4-6586-4ee4-a46b-d95db5d0e448"/>
</p:tagLst>
</file>

<file path=ppt/tags/tag69.xml><?xml version="1.0" encoding="utf-8"?>
<p:tagLst xmlns:a="http://schemas.openxmlformats.org/drawingml/2006/main" xmlns:r="http://schemas.openxmlformats.org/officeDocument/2006/relationships" xmlns:p="http://schemas.openxmlformats.org/presentationml/2006/main">
  <p:tag name="PS_COMPARE_SHAPE_ID" val="ac9a36e2-d881-475b-b8f2-8a48a89e1d73"/>
</p:tagLst>
</file>

<file path=ppt/tags/tag70.xml><?xml version="1.0" encoding="utf-8"?>
<p:tagLst xmlns:a="http://schemas.openxmlformats.org/drawingml/2006/main" xmlns:r="http://schemas.openxmlformats.org/officeDocument/2006/relationships" xmlns:p="http://schemas.openxmlformats.org/presentationml/2006/main">
  <p:tag name="PS_COMPARE_SHAPE_ID" val="279594ef-6577-4b9d-94ef-59a292dc1da6"/>
</p:tagLst>
</file>

<file path=ppt/tags/tag71.xml><?xml version="1.0" encoding="utf-8"?>
<p:tagLst xmlns:a="http://schemas.openxmlformats.org/drawingml/2006/main" xmlns:r="http://schemas.openxmlformats.org/officeDocument/2006/relationships" xmlns:p="http://schemas.openxmlformats.org/presentationml/2006/main">
  <p:tag name="PS_COMPARE_SHAPE_ID" val="18d2879b-13f8-4d81-b784-4df84b0d95b2"/>
</p:tagLst>
</file>

<file path=ppt/tags/tag72.xml><?xml version="1.0" encoding="utf-8"?>
<p:tagLst xmlns:a="http://schemas.openxmlformats.org/drawingml/2006/main" xmlns:r="http://schemas.openxmlformats.org/officeDocument/2006/relationships" xmlns:p="http://schemas.openxmlformats.org/presentationml/2006/main">
  <p:tag name="PS_COMPARE_SLIDE_ID" val="98e59367-dfff-4e85-a797-edfd9874a2dc"/>
</p:tagLst>
</file>

<file path=ppt/tags/tag73.xml><?xml version="1.0" encoding="utf-8"?>
<p:tagLst xmlns:a="http://schemas.openxmlformats.org/drawingml/2006/main" xmlns:r="http://schemas.openxmlformats.org/officeDocument/2006/relationships" xmlns:p="http://schemas.openxmlformats.org/presentationml/2006/main">
  <p:tag name="PS_COMPARE_SHAPE_ID" val="9d6a3cee-816d-478d-8ef0-d0ca85ff8ac2"/>
</p:tagLst>
</file>

<file path=ppt/tags/tag74.xml><?xml version="1.0" encoding="utf-8"?>
<p:tagLst xmlns:a="http://schemas.openxmlformats.org/drawingml/2006/main" xmlns:r="http://schemas.openxmlformats.org/officeDocument/2006/relationships" xmlns:p="http://schemas.openxmlformats.org/presentationml/2006/main">
  <p:tag name="PS_COMPARE_SHAPE_ID" val="ff49deae-174c-48e6-b9c3-da09547469b7"/>
</p:tagLst>
</file>

<file path=ppt/tags/tag75.xml><?xml version="1.0" encoding="utf-8"?>
<p:tagLst xmlns:a="http://schemas.openxmlformats.org/drawingml/2006/main" xmlns:r="http://schemas.openxmlformats.org/officeDocument/2006/relationships" xmlns:p="http://schemas.openxmlformats.org/presentationml/2006/main">
  <p:tag name="PS_COMPARE_SHAPE_ID" val="a4dde335-7251-45fc-8dde-105cafd6f059"/>
</p:tagLst>
</file>

<file path=ppt/tags/tag76.xml><?xml version="1.0" encoding="utf-8"?>
<p:tagLst xmlns:a="http://schemas.openxmlformats.org/drawingml/2006/main" xmlns:r="http://schemas.openxmlformats.org/officeDocument/2006/relationships" xmlns:p="http://schemas.openxmlformats.org/presentationml/2006/main">
  <p:tag name="PS_COMPARE_SHAPE_ID" val="8f5c8d96-4c21-4d0f-b9ce-4f4aef6c0d2b"/>
</p:tagLst>
</file>

<file path=ppt/tags/tag77.xml><?xml version="1.0" encoding="utf-8"?>
<p:tagLst xmlns:a="http://schemas.openxmlformats.org/drawingml/2006/main" xmlns:r="http://schemas.openxmlformats.org/officeDocument/2006/relationships" xmlns:p="http://schemas.openxmlformats.org/presentationml/2006/main">
  <p:tag name="PS_COMPARE_SHAPE_ID" val="b94d17c6-a6b7-4904-a0cd-ff49d41bf030"/>
</p:tagLst>
</file>

<file path=ppt/tags/tag78.xml><?xml version="1.0" encoding="utf-8"?>
<p:tagLst xmlns:a="http://schemas.openxmlformats.org/drawingml/2006/main" xmlns:r="http://schemas.openxmlformats.org/officeDocument/2006/relationships" xmlns:p="http://schemas.openxmlformats.org/presentationml/2006/main">
  <p:tag name="PS_COMPARE_SHAPE_ID" val="5a96dd37-3d9b-40b3-9ba4-2b8f71ca5e66"/>
</p:tagLst>
</file>

<file path=ppt/tags/tag79.xml><?xml version="1.0" encoding="utf-8"?>
<p:tagLst xmlns:a="http://schemas.openxmlformats.org/drawingml/2006/main" xmlns:r="http://schemas.openxmlformats.org/officeDocument/2006/relationships" xmlns:p="http://schemas.openxmlformats.org/presentationml/2006/main">
  <p:tag name="PS_COMPARE_SHAPE_ID" val="820605a0-7bb2-4cd6-980f-1f5a477c0c7e"/>
</p:tagLst>
</file>

<file path=ppt/tags/tag80.xml><?xml version="1.0" encoding="utf-8"?>
<p:tagLst xmlns:a="http://schemas.openxmlformats.org/drawingml/2006/main" xmlns:r="http://schemas.openxmlformats.org/officeDocument/2006/relationships" xmlns:p="http://schemas.openxmlformats.org/presentationml/2006/main">
  <p:tag name="PS_COMPARE_SHAPE_ID" val="e958088b-1b4a-45d2-9858-24ff5ed4be81"/>
</p:tagLst>
</file>

<file path=ppt/tags/tag81.xml><?xml version="1.0" encoding="utf-8"?>
<p:tagLst xmlns:a="http://schemas.openxmlformats.org/drawingml/2006/main" xmlns:r="http://schemas.openxmlformats.org/officeDocument/2006/relationships" xmlns:p="http://schemas.openxmlformats.org/presentationml/2006/main">
  <p:tag name="PS_COMPARE_SHAPE_ID" val="8994be77-b057-42b1-b5d1-909a0e3006b0"/>
</p:tagLst>
</file>

<file path=ppt/tags/tag82.xml><?xml version="1.0" encoding="utf-8"?>
<p:tagLst xmlns:a="http://schemas.openxmlformats.org/drawingml/2006/main" xmlns:r="http://schemas.openxmlformats.org/officeDocument/2006/relationships" xmlns:p="http://schemas.openxmlformats.org/presentationml/2006/main">
  <p:tag name="PS_COMPARE_SHAPE_ID" val="164fa81f-966b-4cb8-97a3-a54d85a38a6c"/>
</p:tagLst>
</file>

<file path=ppt/tags/tag83.xml><?xml version="1.0" encoding="utf-8"?>
<p:tagLst xmlns:a="http://schemas.openxmlformats.org/drawingml/2006/main" xmlns:r="http://schemas.openxmlformats.org/officeDocument/2006/relationships" xmlns:p="http://schemas.openxmlformats.org/presentationml/2006/main">
  <p:tag name="PS_COMPARE_SHAPE_ID" val="5eedf753-3f2d-45dd-a56c-6f3edd3313cb"/>
</p:tagLst>
</file>

<file path=ppt/tags/tag84.xml><?xml version="1.0" encoding="utf-8"?>
<p:tagLst xmlns:a="http://schemas.openxmlformats.org/drawingml/2006/main" xmlns:r="http://schemas.openxmlformats.org/officeDocument/2006/relationships" xmlns:p="http://schemas.openxmlformats.org/presentationml/2006/main">
  <p:tag name="PS_COMPARE_SHAPE_ID" val="6ec70572-c5e0-4d16-ae58-b9f023849a31"/>
</p:tagLst>
</file>

<file path=ppt/tags/tag85.xml><?xml version="1.0" encoding="utf-8"?>
<p:tagLst xmlns:a="http://schemas.openxmlformats.org/drawingml/2006/main" xmlns:r="http://schemas.openxmlformats.org/officeDocument/2006/relationships" xmlns:p="http://schemas.openxmlformats.org/presentationml/2006/main">
  <p:tag name="PS_COMPARE_SHAPE_ID" val="ef6ff7c2-1dbd-4fbd-bf04-bca04ee3a60e"/>
</p:tagLst>
</file>

<file path=ppt/tags/tag86.xml><?xml version="1.0" encoding="utf-8"?>
<p:tagLst xmlns:a="http://schemas.openxmlformats.org/drawingml/2006/main" xmlns:r="http://schemas.openxmlformats.org/officeDocument/2006/relationships" xmlns:p="http://schemas.openxmlformats.org/presentationml/2006/main">
  <p:tag name="PS_COMPARE_SHAPE_ID" val="208a2ead-2960-47ef-ba22-ac80eacece89"/>
</p:tagLst>
</file>

<file path=ppt/tags/tag87.xml><?xml version="1.0" encoding="utf-8"?>
<p:tagLst xmlns:a="http://schemas.openxmlformats.org/drawingml/2006/main" xmlns:r="http://schemas.openxmlformats.org/officeDocument/2006/relationships" xmlns:p="http://schemas.openxmlformats.org/presentationml/2006/main">
  <p:tag name="PS_COMPARE_SHAPE_ID" val="bc5a2dcb-8f58-4d00-a45a-2b26da1b7816"/>
</p:tagLst>
</file>

<file path=ppt/tags/tag88.xml><?xml version="1.0" encoding="utf-8"?>
<p:tagLst xmlns:a="http://schemas.openxmlformats.org/drawingml/2006/main" xmlns:r="http://schemas.openxmlformats.org/officeDocument/2006/relationships" xmlns:p="http://schemas.openxmlformats.org/presentationml/2006/main">
  <p:tag name="PS_COMPARE_SHAPE_ID" val="01bb4560-197f-43eb-bf2b-ee2321b55bf7"/>
</p:tagLst>
</file>

<file path=ppt/tags/tag89.xml><?xml version="1.0" encoding="utf-8"?>
<p:tagLst xmlns:a="http://schemas.openxmlformats.org/drawingml/2006/main" xmlns:r="http://schemas.openxmlformats.org/officeDocument/2006/relationships" xmlns:p="http://schemas.openxmlformats.org/presentationml/2006/main">
  <p:tag name="PS_COMPARE_SHAPE_ID" val="4dffcd87-a39e-4e63-b225-ed1f6139ddf2"/>
</p:tagLst>
</file>

<file path=ppt/tags/tag90.xml><?xml version="1.0" encoding="utf-8"?>
<p:tagLst xmlns:a="http://schemas.openxmlformats.org/drawingml/2006/main" xmlns:r="http://schemas.openxmlformats.org/officeDocument/2006/relationships" xmlns:p="http://schemas.openxmlformats.org/presentationml/2006/main">
  <p:tag name="PS_COMPARE_SHAPE_ID" val="0ba70b47-6340-46c5-b4e0-66654151a706"/>
</p:tagLst>
</file>

<file path=ppt/tags/tag91.xml><?xml version="1.0" encoding="utf-8"?>
<p:tagLst xmlns:a="http://schemas.openxmlformats.org/drawingml/2006/main" xmlns:r="http://schemas.openxmlformats.org/officeDocument/2006/relationships" xmlns:p="http://schemas.openxmlformats.org/presentationml/2006/main">
  <p:tag name="PS_COMPARE_SHAPE_ID" val="41f7d38b-c316-4158-a8db-5e47d64675a7"/>
</p:tagLst>
</file>

<file path=ppt/tags/tag92.xml><?xml version="1.0" encoding="utf-8"?>
<p:tagLst xmlns:a="http://schemas.openxmlformats.org/drawingml/2006/main" xmlns:r="http://schemas.openxmlformats.org/officeDocument/2006/relationships" xmlns:p="http://schemas.openxmlformats.org/presentationml/2006/main">
  <p:tag name="PS_COMPARE_SHAPE_ID" val="2756489c-d53f-464c-97b7-fcaa524a82c7"/>
</p:tagLst>
</file>

<file path=ppt/tags/tag93.xml><?xml version="1.0" encoding="utf-8"?>
<p:tagLst xmlns:a="http://schemas.openxmlformats.org/drawingml/2006/main" xmlns:r="http://schemas.openxmlformats.org/officeDocument/2006/relationships" xmlns:p="http://schemas.openxmlformats.org/presentationml/2006/main">
  <p:tag name="PS_COMPARE_SHAPE_ID" val="afac90fb-a36f-4cb0-9de2-13f433da8f3a"/>
</p:tagLst>
</file>

<file path=ppt/tags/tag94.xml><?xml version="1.0" encoding="utf-8"?>
<p:tagLst xmlns:a="http://schemas.openxmlformats.org/drawingml/2006/main" xmlns:r="http://schemas.openxmlformats.org/officeDocument/2006/relationships" xmlns:p="http://schemas.openxmlformats.org/presentationml/2006/main">
  <p:tag name="PS_COMPARE_SHAPE_ID" val="0de94ad8-3a78-4017-b21b-18d40ce2c28e"/>
</p:tagLst>
</file>

<file path=ppt/tags/tag95.xml><?xml version="1.0" encoding="utf-8"?>
<p:tagLst xmlns:a="http://schemas.openxmlformats.org/drawingml/2006/main" xmlns:r="http://schemas.openxmlformats.org/officeDocument/2006/relationships" xmlns:p="http://schemas.openxmlformats.org/presentationml/2006/main">
  <p:tag name="PS_COMPARE_SHAPE_ID" val="3421fa69-61f6-4f96-a81e-16a24321b9ff"/>
</p:tagLst>
</file>

<file path=ppt/tags/tag96.xml><?xml version="1.0" encoding="utf-8"?>
<p:tagLst xmlns:a="http://schemas.openxmlformats.org/drawingml/2006/main" xmlns:r="http://schemas.openxmlformats.org/officeDocument/2006/relationships" xmlns:p="http://schemas.openxmlformats.org/presentationml/2006/main">
  <p:tag name="PS_COMPARE_SHAPE_ID" val="ca58c89c-4e9d-472d-9663-d12abd4cf335"/>
</p:tagLst>
</file>

<file path=ppt/tags/tag97.xml><?xml version="1.0" encoding="utf-8"?>
<p:tagLst xmlns:a="http://schemas.openxmlformats.org/drawingml/2006/main" xmlns:r="http://schemas.openxmlformats.org/officeDocument/2006/relationships" xmlns:p="http://schemas.openxmlformats.org/presentationml/2006/main">
  <p:tag name="PS_COMPARE_SHAPE_ID" val="c7327ec3-1cb8-48c4-a75f-7b7472102d7c"/>
</p:tagLst>
</file>

<file path=ppt/tags/tag98.xml><?xml version="1.0" encoding="utf-8"?>
<p:tagLst xmlns:a="http://schemas.openxmlformats.org/drawingml/2006/main" xmlns:r="http://schemas.openxmlformats.org/officeDocument/2006/relationships" xmlns:p="http://schemas.openxmlformats.org/presentationml/2006/main">
  <p:tag name="PS_COMPARE_SLIDE_ID" val="b046a0f7-0ee7-4749-b5c2-237769582ba7"/>
</p:tagLst>
</file>

<file path=ppt/tags/tag99.xml><?xml version="1.0" encoding="utf-8"?>
<p:tagLst xmlns:a="http://schemas.openxmlformats.org/drawingml/2006/main" xmlns:r="http://schemas.openxmlformats.org/officeDocument/2006/relationships" xmlns:p="http://schemas.openxmlformats.org/presentationml/2006/main">
  <p:tag name="PS_COMPARE_SHAPE_ID" val="220b8b23-ae22-42ed-85d7-b3665a15b41f"/>
</p:tagLst>
</file>

<file path=ppt/tags/tag100.xml><?xml version="1.0" encoding="utf-8"?>
<p:tagLst xmlns:a="http://schemas.openxmlformats.org/drawingml/2006/main" xmlns:r="http://schemas.openxmlformats.org/officeDocument/2006/relationships" xmlns:p="http://schemas.openxmlformats.org/presentationml/2006/main">
  <p:tag name="PS_COMPARE_SHAPE_ID" val="41bdc8f4-4f7e-49e8-aa24-113f9fb447b6"/>
</p:tagLst>
</file>

<file path=ppt/tags/tag101.xml><?xml version="1.0" encoding="utf-8"?>
<p:tagLst xmlns:a="http://schemas.openxmlformats.org/drawingml/2006/main" xmlns:r="http://schemas.openxmlformats.org/officeDocument/2006/relationships" xmlns:p="http://schemas.openxmlformats.org/presentationml/2006/main">
  <p:tag name="PS_COMPARE_SHAPE_ID" val="69f9ab1e-472b-4cd6-a4de-836be16c1bf6"/>
</p:tagLst>
</file>

<file path=ppt/tags/tag102.xml><?xml version="1.0" encoding="utf-8"?>
<p:tagLst xmlns:a="http://schemas.openxmlformats.org/drawingml/2006/main" xmlns:r="http://schemas.openxmlformats.org/officeDocument/2006/relationships" xmlns:p="http://schemas.openxmlformats.org/presentationml/2006/main">
  <p:tag name="PS_COMPARE_SHAPE_ID" val="94a54944-7997-489c-bd9a-8d0ee5fcf427"/>
</p:tagLst>
</file>

<file path=ppt/tags/tag103.xml><?xml version="1.0" encoding="utf-8"?>
<p:tagLst xmlns:a="http://schemas.openxmlformats.org/drawingml/2006/main" xmlns:r="http://schemas.openxmlformats.org/officeDocument/2006/relationships" xmlns:p="http://schemas.openxmlformats.org/presentationml/2006/main">
  <p:tag name="PS_COMPARE_SHAPE_ID" val="2157beff-edf8-4acf-9b9a-b53dab5a6698"/>
</p:tagLst>
</file>

<file path=ppt/tags/tag104.xml><?xml version="1.0" encoding="utf-8"?>
<p:tagLst xmlns:a="http://schemas.openxmlformats.org/drawingml/2006/main" xmlns:r="http://schemas.openxmlformats.org/officeDocument/2006/relationships" xmlns:p="http://schemas.openxmlformats.org/presentationml/2006/main">
  <p:tag name="PS_COMPARE_SHAPE_ID" val="3bbca8d8-9a2a-4a35-ae34-63d1766d3935"/>
</p:tagLst>
</file>

<file path=ppt/tags/tag105.xml><?xml version="1.0" encoding="utf-8"?>
<p:tagLst xmlns:a="http://schemas.openxmlformats.org/drawingml/2006/main" xmlns:r="http://schemas.openxmlformats.org/officeDocument/2006/relationships" xmlns:p="http://schemas.openxmlformats.org/presentationml/2006/main">
  <p:tag name="PS_COMPARE_SHAPE_ID" val="c9262e4e-94c5-4389-8eea-3b711a84100d"/>
</p:tagLst>
</file>

<file path=ppt/tags/tag106.xml><?xml version="1.0" encoding="utf-8"?>
<p:tagLst xmlns:a="http://schemas.openxmlformats.org/drawingml/2006/main" xmlns:r="http://schemas.openxmlformats.org/officeDocument/2006/relationships" xmlns:p="http://schemas.openxmlformats.org/presentationml/2006/main">
  <p:tag name="PS_COMPARE_SHAPE_ID" val="4f4c33a7-9201-4247-b38b-187512213750"/>
</p:tagLst>
</file>

<file path=ppt/tags/tag107.xml><?xml version="1.0" encoding="utf-8"?>
<p:tagLst xmlns:a="http://schemas.openxmlformats.org/drawingml/2006/main" xmlns:r="http://schemas.openxmlformats.org/officeDocument/2006/relationships" xmlns:p="http://schemas.openxmlformats.org/presentationml/2006/main">
  <p:tag name="PS_COMPARE_SHAPE_ID" val="eeee45e6-eb35-41c8-935d-2be45c9bbcf2"/>
</p:tagLst>
</file>

<file path=ppt/tags/tag108.xml><?xml version="1.0" encoding="utf-8"?>
<p:tagLst xmlns:a="http://schemas.openxmlformats.org/drawingml/2006/main" xmlns:r="http://schemas.openxmlformats.org/officeDocument/2006/relationships" xmlns:p="http://schemas.openxmlformats.org/presentationml/2006/main">
  <p:tag name="PS_COMPARE_SHAPE_ID" val="ec0b44d7-00e5-4a7e-a320-49c918c77b8e"/>
</p:tagLst>
</file>

<file path=ppt/tags/tag109.xml><?xml version="1.0" encoding="utf-8"?>
<p:tagLst xmlns:a="http://schemas.openxmlformats.org/drawingml/2006/main" xmlns:r="http://schemas.openxmlformats.org/officeDocument/2006/relationships" xmlns:p="http://schemas.openxmlformats.org/presentationml/2006/main">
  <p:tag name="PS_COMPARE_SHAPE_ID" val="ae5e3dfc-dc03-4dfd-b510-3c984c75362c"/>
</p:tagLst>
</file>

<file path=ppt/tags/tag110.xml><?xml version="1.0" encoding="utf-8"?>
<p:tagLst xmlns:a="http://schemas.openxmlformats.org/drawingml/2006/main" xmlns:r="http://schemas.openxmlformats.org/officeDocument/2006/relationships" xmlns:p="http://schemas.openxmlformats.org/presentationml/2006/main">
  <p:tag name="PS_COMPARE_SHAPE_ID" val="bf2808d1-9f5a-4173-ab06-ee35be02e0ba"/>
</p:tagLst>
</file>

<file path=ppt/tags/tag111.xml><?xml version="1.0" encoding="utf-8"?>
<p:tagLst xmlns:a="http://schemas.openxmlformats.org/drawingml/2006/main" xmlns:r="http://schemas.openxmlformats.org/officeDocument/2006/relationships" xmlns:p="http://schemas.openxmlformats.org/presentationml/2006/main">
  <p:tag name="PS_COMPARE_SHAPE_ID" val="8bf16907-83c6-4aba-bb54-ff9cceed3dd2"/>
</p:tagLst>
</file>

<file path=ppt/tags/tag112.xml><?xml version="1.0" encoding="utf-8"?>
<p:tagLst xmlns:a="http://schemas.openxmlformats.org/drawingml/2006/main" xmlns:r="http://schemas.openxmlformats.org/officeDocument/2006/relationships" xmlns:p="http://schemas.openxmlformats.org/presentationml/2006/main">
  <p:tag name="PS_COMPARE_SHAPE_ID" val="c71c5551-e4b6-4d41-b524-77ebfb1f166a"/>
</p:tagLst>
</file>

<file path=ppt/tags/tag113.xml><?xml version="1.0" encoding="utf-8"?>
<p:tagLst xmlns:a="http://schemas.openxmlformats.org/drawingml/2006/main" xmlns:r="http://schemas.openxmlformats.org/officeDocument/2006/relationships" xmlns:p="http://schemas.openxmlformats.org/presentationml/2006/main">
  <p:tag name="PS_COMPARE_SHAPE_ID" val="9cac2083-477f-4d18-9732-8e5dc0308acd"/>
</p:tagLst>
</file>

<file path=ppt/tags/tag114.xml><?xml version="1.0" encoding="utf-8"?>
<p:tagLst xmlns:a="http://schemas.openxmlformats.org/drawingml/2006/main" xmlns:r="http://schemas.openxmlformats.org/officeDocument/2006/relationships" xmlns:p="http://schemas.openxmlformats.org/presentationml/2006/main">
  <p:tag name="PS_COMPARE_SHAPE_ID" val="66fc2e5b-ee65-4adf-9ebb-cfdf198f5ad2"/>
</p:tagLst>
</file>

<file path=ppt/tags/tag115.xml><?xml version="1.0" encoding="utf-8"?>
<p:tagLst xmlns:a="http://schemas.openxmlformats.org/drawingml/2006/main" xmlns:r="http://schemas.openxmlformats.org/officeDocument/2006/relationships" xmlns:p="http://schemas.openxmlformats.org/presentationml/2006/main">
  <p:tag name="PS_COMPARE_SHAPE_ID" val="d283d405-10ad-4545-ae2b-f6a88ffecdbc"/>
</p:tagLst>
</file>

<file path=ppt/tags/tag116.xml><?xml version="1.0" encoding="utf-8"?>
<p:tagLst xmlns:a="http://schemas.openxmlformats.org/drawingml/2006/main" xmlns:r="http://schemas.openxmlformats.org/officeDocument/2006/relationships" xmlns:p="http://schemas.openxmlformats.org/presentationml/2006/main">
  <p:tag name="PS_COMPARE_SHAPE_ID" val="d18ec5dc-30f4-4a6a-8e60-a8884aea845f"/>
</p:tagLst>
</file>

<file path=ppt/tags/tag117.xml><?xml version="1.0" encoding="utf-8"?>
<p:tagLst xmlns:a="http://schemas.openxmlformats.org/drawingml/2006/main" xmlns:r="http://schemas.openxmlformats.org/officeDocument/2006/relationships" xmlns:p="http://schemas.openxmlformats.org/presentationml/2006/main">
  <p:tag name="PS_COMPARE_SHAPE_ID" val="9f633bdf-b6d1-4053-bc7e-5b2fda073f60"/>
</p:tagLst>
</file>

<file path=ppt/tags/tag118.xml><?xml version="1.0" encoding="utf-8"?>
<p:tagLst xmlns:a="http://schemas.openxmlformats.org/drawingml/2006/main" xmlns:r="http://schemas.openxmlformats.org/officeDocument/2006/relationships" xmlns:p="http://schemas.openxmlformats.org/presentationml/2006/main">
  <p:tag name="PS_COMPARE_SHAPE_ID" val="a136977f-813a-409b-8e1f-7375fa7ebc71"/>
</p:tagLst>
</file>

<file path=ppt/tags/tag119.xml><?xml version="1.0" encoding="utf-8"?>
<p:tagLst xmlns:a="http://schemas.openxmlformats.org/drawingml/2006/main" xmlns:r="http://schemas.openxmlformats.org/officeDocument/2006/relationships" xmlns:p="http://schemas.openxmlformats.org/presentationml/2006/main">
  <p:tag name="PS_COMPARE_SHAPE_ID" val="93c006e4-b57c-4731-b519-4fb0bd2c7ff4"/>
</p:tagLst>
</file>

<file path=ppt/tags/tag120.xml><?xml version="1.0" encoding="utf-8"?>
<p:tagLst xmlns:a="http://schemas.openxmlformats.org/drawingml/2006/main" xmlns:r="http://schemas.openxmlformats.org/officeDocument/2006/relationships" xmlns:p="http://schemas.openxmlformats.org/presentationml/2006/main">
  <p:tag name="PS_COMPARE_SHAPE_ID" val="2918a5b9-b18a-4eff-9056-78bc3181ac1b"/>
</p:tagLst>
</file>

<file path=ppt/tags/tag121.xml><?xml version="1.0" encoding="utf-8"?>
<p:tagLst xmlns:a="http://schemas.openxmlformats.org/drawingml/2006/main" xmlns:r="http://schemas.openxmlformats.org/officeDocument/2006/relationships" xmlns:p="http://schemas.openxmlformats.org/presentationml/2006/main">
  <p:tag name="PS_COMPARE_SHAPE_ID" val="1507c833-f935-488a-9777-e93e2a135543"/>
</p:tagLst>
</file>

<file path=ppt/tags/tag122.xml><?xml version="1.0" encoding="utf-8"?>
<p:tagLst xmlns:a="http://schemas.openxmlformats.org/drawingml/2006/main" xmlns:r="http://schemas.openxmlformats.org/officeDocument/2006/relationships" xmlns:p="http://schemas.openxmlformats.org/presentationml/2006/main">
  <p:tag name="PS_COMPARE_SHAPE_ID" val="33d1b2a8-bdfe-4179-8f32-2362001a987e"/>
</p:tagLst>
</file>

<file path=ppt/tags/tag123.xml><?xml version="1.0" encoding="utf-8"?>
<p:tagLst xmlns:a="http://schemas.openxmlformats.org/drawingml/2006/main" xmlns:r="http://schemas.openxmlformats.org/officeDocument/2006/relationships" xmlns:p="http://schemas.openxmlformats.org/presentationml/2006/main">
  <p:tag name="PS_COMPARE_SHAPE_ID" val="bf27b586-944b-46d4-b080-499ca3ec508a"/>
</p:tagLst>
</file>

<file path=ppt/tags/tag124.xml><?xml version="1.0" encoding="utf-8"?>
<p:tagLst xmlns:a="http://schemas.openxmlformats.org/drawingml/2006/main" xmlns:r="http://schemas.openxmlformats.org/officeDocument/2006/relationships" xmlns:p="http://schemas.openxmlformats.org/presentationml/2006/main">
  <p:tag name="PS_COMPARE_SHAPE_ID" val="27d9d9d7-9877-4c85-9b7c-b99ead10c0f2"/>
</p:tagLst>
</file>

<file path=ppt/tags/tag125.xml><?xml version="1.0" encoding="utf-8"?>
<p:tagLst xmlns:a="http://schemas.openxmlformats.org/drawingml/2006/main" xmlns:r="http://schemas.openxmlformats.org/officeDocument/2006/relationships" xmlns:p="http://schemas.openxmlformats.org/presentationml/2006/main">
  <p:tag name="PS_COMPARE_SHAPE_ID" val="66d0df58-9888-4e8e-8b8a-078bc0a3d12c"/>
</p:tagLst>
</file>

<file path=ppt/tags/tag126.xml><?xml version="1.0" encoding="utf-8"?>
<p:tagLst xmlns:a="http://schemas.openxmlformats.org/drawingml/2006/main" xmlns:r="http://schemas.openxmlformats.org/officeDocument/2006/relationships" xmlns:p="http://schemas.openxmlformats.org/presentationml/2006/main">
  <p:tag name="PS_COMPARE_SHAPE_ID" val="b12349b5-4263-4b30-bac2-c9005472e843"/>
</p:tagLst>
</file>

<file path=ppt/tags/tag127.xml><?xml version="1.0" encoding="utf-8"?>
<p:tagLst xmlns:a="http://schemas.openxmlformats.org/drawingml/2006/main" xmlns:r="http://schemas.openxmlformats.org/officeDocument/2006/relationships" xmlns:p="http://schemas.openxmlformats.org/presentationml/2006/main">
  <p:tag name="PS_COMPARE_SHAPE_ID" val="ac238b5d-d574-4646-9e8a-eb4c168ae06c"/>
</p:tagLst>
</file>

<file path=ppt/tags/tag128.xml><?xml version="1.0" encoding="utf-8"?>
<p:tagLst xmlns:a="http://schemas.openxmlformats.org/drawingml/2006/main" xmlns:r="http://schemas.openxmlformats.org/officeDocument/2006/relationships" xmlns:p="http://schemas.openxmlformats.org/presentationml/2006/main">
  <p:tag name="PS_COMPARE_SLIDE_ID" val="d6659e57-3981-47ad-8786-c78f8585ce0b"/>
</p:tagLst>
</file>

<file path=ppt/tags/tag129.xml><?xml version="1.0" encoding="utf-8"?>
<p:tagLst xmlns:a="http://schemas.openxmlformats.org/drawingml/2006/main" xmlns:r="http://schemas.openxmlformats.org/officeDocument/2006/relationships" xmlns:p="http://schemas.openxmlformats.org/presentationml/2006/main">
  <p:tag name="PS_COMPARE_SHAPE_ID" val="4be18a46-5236-406d-bfe4-48940b26e122"/>
</p:tagLst>
</file>

<file path=ppt/tags/tag130.xml><?xml version="1.0" encoding="utf-8"?>
<p:tagLst xmlns:a="http://schemas.openxmlformats.org/drawingml/2006/main" xmlns:r="http://schemas.openxmlformats.org/officeDocument/2006/relationships" xmlns:p="http://schemas.openxmlformats.org/presentationml/2006/main">
  <p:tag name="PS_COMPARE_SHAPE_ID" val="8e0e14a9-f969-421e-a00a-7151fdd24b0f"/>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341</TotalTime>
  <Words>1455</Words>
  <Application>Microsoft Office PowerPoint</Application>
  <PresentationFormat>On-screen Show (16:9)</PresentationFormat>
  <Paragraphs>145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FreshBox: The Proposal</dc:title>
  <dc:subject>PptxGenJS Presentation</dc:subject>
  <dc:creator>Alex Olsen</dc:creator>
  <cp:lastModifiedBy>Alex Olsen</cp:lastModifiedBy>
  <cp:revision>5</cp:revision>
  <dcterms:created xsi:type="dcterms:W3CDTF">2026-04-27T12:21:43Z</dcterms:created>
  <dcterms:modified xsi:type="dcterms:W3CDTF">2026-04-28T07:15:46Z</dcterms:modified>
</cp:coreProperties>
</file>