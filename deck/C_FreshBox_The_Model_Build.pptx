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3.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4.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5.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6.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7.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8.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A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119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533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EDA - SPEAKER NOTES
Key talking points:
- Acquisition channel matters far more than plan type. Referral customers are most loyal (42.6% churn), while Affiliate and Paid Social have highest risk (80-84%).
- This suggests acquisition quality, not product fit, is the primary churn driver.
- Median tenure at churn is 7.3 weeks - most customers who leave do so very quickly. This means early warning signals in the first few weeks are critical.
- Plan type shows minimal variation (65-69%) - churn is not driven by household size or plan choice.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FEATURE ENGINEERING - SPEAKER NOTES
Key talking point: Every feature connects to a business question. We didn't engineer features for model accuracy - every feature has a story.
The 4 hypotheses map directly to retention actions:
- Low loyalty → onboarding improvement
- Declining momentum → proactive outreach
- Low satisfaction → menu/product changes
- High friction → operational fixes
47 features total, but the top 5 are all engagement/loyalty signals. This tells the CFO something important: the best defence against churn is keeping customers engaged, not just offering discounts.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MODEL RESULTS - SPEAKER NOTES
Key talking points:
- Heuristic baseline (F1 0.764) is the performance bar. Any ML model must beat this to justify complexity.
- Logistic regression (F1 0.993) beats baseline by 23%. Misses only 2 of 202 churners.
- XGBoost (F1 0.990) has perfect recall - catches ALL 202 churners. Trade-off: 4 extra false positives.
- Both models are near-perfect. The choice is interpretability (logistic) vs completeness (XGBoost).
If asked "why not just use XGBoost?":
"Those 2 additional catches come at the cost of 3 more false positives. In Year 1, that's a net gain of approximately £2,850. The retention team can absorb those 3 extra contacts, but the simplicity and interpretability of logistic make it the safer Phase 1 choice."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INTERVENTION PLAYBOOK - SPEAKER NOTES
Key talking point: This is what the retention team actually uses day-to-day. The model doesn't just predict who will leave - it tells you WHY, which shapes WHAT you do about it.
Highest leverage insight: High-Support customers have the best save rate because the fix is operational (fix the delivery issue, resolve the billing problem) rather than behavioural (trying to change someone's preferences). Prevention beats cure.
For Toju-as-Head-of-Product: This playbook integrates directly into the CRM. Each Monday, the retention team gets a list of 5,000 flagged customers with their type classification and recommended tactic.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COMMERCIAL IMPACT - SPEAKER NOTES
LTV is £400 based on actual data: avg 12.79 weeks tenure, 8.82 orders at £45.37 AOV.
If challenged on the gap with the proposal's £320k/ppt figure: "The proposal used conservative market assumptions (£50 AOV). Actual data shows £45.37 AOV and £400 LTV. The commercial case holds - at 200-300 customers saved, Year 1 protection is £80-120K."
The flywheel effect is the long-term story: the model doesn't just save customers, it tells Product what to fix.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3" Type="http://schemas.openxmlformats.org/officeDocument/2006/relationships/tags" Target="../tags/tag8.xml"/><Relationship Id="rId21" Type="http://schemas.openxmlformats.org/officeDocument/2006/relationships/tags" Target="../tags/tag26.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notesSlide" Target="../notesSlides/notesSlide2.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slideLayout" Target="../slideLayouts/slideLayout1.xml"/><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tags" Target="../tags/tag28.xml"/><Relationship Id="rId10" Type="http://schemas.openxmlformats.org/officeDocument/2006/relationships/tags" Target="../tags/tag15.xml"/><Relationship Id="rId19" Type="http://schemas.openxmlformats.org/officeDocument/2006/relationships/tags" Target="../tags/tag24.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tags" Target="../tags/tag27.xml"/></Relationships>
</file>

<file path=ppt/slides/_rels/slide3.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tags" Target="../tags/tag46.xml"/><Relationship Id="rId26" Type="http://schemas.openxmlformats.org/officeDocument/2006/relationships/image" Target="../media/image2.png"/><Relationship Id="rId3" Type="http://schemas.openxmlformats.org/officeDocument/2006/relationships/tags" Target="../tags/tag31.xml"/><Relationship Id="rId21" Type="http://schemas.openxmlformats.org/officeDocument/2006/relationships/tags" Target="../tags/tag49.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5" Type="http://schemas.openxmlformats.org/officeDocument/2006/relationships/image" Target="../media/image1.png"/><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tags" Target="../tags/tag48.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notesSlide" Target="../notesSlides/notesSlide3.xml"/><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slideLayout" Target="../slideLayouts/slideLayout1.xml"/><Relationship Id="rId10" Type="http://schemas.openxmlformats.org/officeDocument/2006/relationships/tags" Target="../tags/tag38.xml"/><Relationship Id="rId19" Type="http://schemas.openxmlformats.org/officeDocument/2006/relationships/tags" Target="../tags/tag47.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tags" Target="../tags/tag50.xml"/><Relationship Id="rId27"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26" Type="http://schemas.openxmlformats.org/officeDocument/2006/relationships/tags" Target="../tags/tag76.xml"/><Relationship Id="rId3" Type="http://schemas.openxmlformats.org/officeDocument/2006/relationships/tags" Target="../tags/tag53.xml"/><Relationship Id="rId21" Type="http://schemas.openxmlformats.org/officeDocument/2006/relationships/tags" Target="../tags/tag71.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5" Type="http://schemas.openxmlformats.org/officeDocument/2006/relationships/tags" Target="../tags/tag75.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24" Type="http://schemas.openxmlformats.org/officeDocument/2006/relationships/tags" Target="../tags/tag74.xml"/><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tags" Target="../tags/tag73.xml"/><Relationship Id="rId28" Type="http://schemas.openxmlformats.org/officeDocument/2006/relationships/notesSlide" Target="../notesSlides/notesSlide4.xml"/><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tags" Target="../tags/tag72.xml"/><Relationship Id="rId27"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notesSlide" Target="../notesSlides/notesSlide5.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slideLayout" Target="../slideLayouts/slideLayout1.xml"/><Relationship Id="rId5" Type="http://schemas.openxmlformats.org/officeDocument/2006/relationships/tags" Target="../tags/tag8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s>
</file>

<file path=ppt/slides/_rels/slide6.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26" Type="http://schemas.openxmlformats.org/officeDocument/2006/relationships/tags" Target="../tags/tag112.xml"/><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5" Type="http://schemas.openxmlformats.org/officeDocument/2006/relationships/tags" Target="../tags/tag111.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29" Type="http://schemas.openxmlformats.org/officeDocument/2006/relationships/slideLayout" Target="../slideLayouts/slideLayout1.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24" Type="http://schemas.openxmlformats.org/officeDocument/2006/relationships/tags" Target="../tags/tag110.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tags" Target="../tags/tag109.xml"/><Relationship Id="rId28" Type="http://schemas.openxmlformats.org/officeDocument/2006/relationships/tags" Target="../tags/tag114.xml"/><Relationship Id="rId10" Type="http://schemas.openxmlformats.org/officeDocument/2006/relationships/tags" Target="../tags/tag96.xml"/><Relationship Id="rId19" Type="http://schemas.openxmlformats.org/officeDocument/2006/relationships/tags" Target="../tags/tag105.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tags" Target="../tags/tag108.xml"/><Relationship Id="rId27" Type="http://schemas.openxmlformats.org/officeDocument/2006/relationships/tags" Target="../tags/tag113.xml"/><Relationship Id="rId3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tags" Target="../tags/tag139.xml"/><Relationship Id="rId3" Type="http://schemas.openxmlformats.org/officeDocument/2006/relationships/tags" Target="../tags/tag124.xml"/><Relationship Id="rId21" Type="http://schemas.openxmlformats.org/officeDocument/2006/relationships/slideLayout" Target="../slideLayouts/slideLayout1.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tags" Target="../tags/tag141.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tags" Target="../tags/tag136.xml"/><Relationship Id="rId10" Type="http://schemas.openxmlformats.org/officeDocument/2006/relationships/tags" Target="../tags/tag131.xml"/><Relationship Id="rId19" Type="http://schemas.openxmlformats.org/officeDocument/2006/relationships/tags" Target="../tags/tag140.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notesSlide" Target="../notesSlides/notesSlide9.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1097280"/>
            <a:ext cx="7680960" cy="365760"/>
          </a:xfrm>
          <a:prstGeom prst="rect">
            <a:avLst/>
          </a:prstGeom>
          <a:noFill/>
          <a:ln/>
        </p:spPr>
        <p:txBody>
          <a:bodyPr wrap="square" lIns="0" tIns="0" rIns="0" bIns="0" rtlCol="0" anchor="ctr"/>
          <a:lstStyle/>
          <a:p>
            <a:pPr marL="0" indent="0" algn="l">
              <a:buNone/>
            </a:pPr>
            <a:r>
              <a:rPr lang="en-US" sz="1200" kern="0" spc="400" dirty="0">
                <a:solidFill>
                  <a:srgbClr val="0EA5E9"/>
                </a:solidFill>
                <a:latin typeface="Calibri" pitchFamily="34" charset="0"/>
                <a:ea typeface="Calibri" pitchFamily="34" charset="-122"/>
                <a:cs typeface="Calibri" pitchFamily="34" charset="-120"/>
              </a:rPr>
              <a:t>THE MODEL BUILD</a:t>
            </a:r>
            <a:endParaRPr lang="en-US" sz="1200" dirty="0"/>
          </a:p>
        </p:txBody>
      </p:sp>
      <p:sp>
        <p:nvSpPr>
          <p:cNvPr id="3" name="Text 1"/>
          <p:cNvSpPr/>
          <p:nvPr>
            <p:custDataLst>
              <p:tags r:id="rId3"/>
            </p:custDataLst>
          </p:nvPr>
        </p:nvSpPr>
        <p:spPr>
          <a:xfrm>
            <a:off x="731520" y="1554480"/>
            <a:ext cx="7680960" cy="1097280"/>
          </a:xfrm>
          <a:prstGeom prst="rect">
            <a:avLst/>
          </a:prstGeom>
          <a:noFill/>
          <a:ln/>
        </p:spPr>
        <p:txBody>
          <a:bodyPr wrap="square" lIns="0" tIns="0" rIns="0" bIns="0" rtlCol="0" anchor="ctr"/>
          <a:lstStyle/>
          <a:p>
            <a:pPr marL="0" indent="0" algn="l">
              <a:buNone/>
            </a:pPr>
            <a:r>
              <a:rPr lang="en-DK" sz="3600" b="1" dirty="0">
                <a:solidFill>
                  <a:srgbClr val="FFFFFF"/>
                </a:solidFill>
                <a:latin typeface="Calibri" pitchFamily="34" charset="0"/>
                <a:ea typeface="Calibri" pitchFamily="34" charset="-122"/>
                <a:cs typeface="Calibri" pitchFamily="34" charset="-120"/>
              </a:rPr>
              <a:t>FreshBox: </a:t>
            </a:r>
            <a:r>
              <a:rPr lang="en-US" sz="3600" b="1" dirty="0">
                <a:solidFill>
                  <a:srgbClr val="FFFFFF"/>
                </a:solidFill>
                <a:latin typeface="Calibri" pitchFamily="34" charset="0"/>
                <a:ea typeface="Calibri" pitchFamily="34" charset="-122"/>
                <a:cs typeface="Calibri" pitchFamily="34" charset="-120"/>
              </a:rPr>
              <a:t>Churn Prediction </a:t>
            </a:r>
            <a:r>
              <a:rPr lang="en-US" sz="3600" b="1" dirty="0">
                <a:solidFill>
                  <a:srgbClr val="0EA5E9"/>
                </a:solidFill>
                <a:latin typeface="Calibri" pitchFamily="34" charset="0"/>
                <a:ea typeface="Calibri" pitchFamily="34" charset="-122"/>
                <a:cs typeface="Calibri" pitchFamily="34" charset="-120"/>
              </a:rPr>
              <a:t>in Practice</a:t>
            </a:r>
            <a:endParaRPr lang="en-DK" sz="3600" b="1" dirty="0">
              <a:solidFill>
                <a:srgbClr val="0EA5E9"/>
              </a:solidFill>
              <a:latin typeface="Calibri" pitchFamily="34" charset="0"/>
              <a:ea typeface="Calibri" pitchFamily="34" charset="-122"/>
              <a:cs typeface="Calibri" pitchFamily="34" charset="-120"/>
            </a:endParaRPr>
          </a:p>
          <a:p>
            <a:pPr marL="0" indent="0" algn="l">
              <a:buNone/>
            </a:pPr>
            <a:r>
              <a:rPr lang="en-DK" sz="3600" b="1" dirty="0">
                <a:solidFill>
                  <a:srgbClr val="FF0000"/>
                </a:solidFill>
                <a:latin typeface="Calibri" pitchFamily="34" charset="0"/>
                <a:ea typeface="Calibri" pitchFamily="34" charset="-122"/>
                <a:cs typeface="Calibri" pitchFamily="34" charset="-120"/>
              </a:rPr>
              <a:t>[WORKING DRAFT]</a:t>
            </a:r>
          </a:p>
        </p:txBody>
      </p:sp>
      <p:sp>
        <p:nvSpPr>
          <p:cNvPr id="4" name="Text 2"/>
          <p:cNvSpPr/>
          <p:nvPr>
            <p:custDataLst>
              <p:tags r:id="rId4"/>
            </p:custDataLst>
          </p:nvPr>
        </p:nvSpPr>
        <p:spPr>
          <a:xfrm>
            <a:off x="731520" y="2926080"/>
            <a:ext cx="6400800" cy="731520"/>
          </a:xfrm>
          <a:prstGeom prst="rect">
            <a:avLst/>
          </a:prstGeom>
          <a:noFill/>
          <a:ln/>
        </p:spPr>
        <p:txBody>
          <a:bodyPr wrap="square" lIns="0" tIns="0" rIns="0" bIns="0" rtlCol="0" anchor="ctr"/>
          <a:lstStyle/>
          <a:p>
            <a:pPr marL="0" indent="0" algn="l">
              <a:buNone/>
            </a:pPr>
            <a:r>
              <a:rPr lang="en-US" sz="1300" dirty="0">
                <a:solidFill>
                  <a:srgbClr val="94A3B8"/>
                </a:solidFill>
                <a:latin typeface="Calibri Light" pitchFamily="34" charset="0"/>
                <a:ea typeface="Calibri Light" pitchFamily="34" charset="-122"/>
                <a:cs typeface="Calibri Light" pitchFamily="34" charset="-120"/>
              </a:rPr>
              <a:t>From data request to prototype delivery. A walkthrough of the analysis,</a:t>
            </a:r>
            <a:endParaRPr lang="en-US" sz="1300" dirty="0"/>
          </a:p>
          <a:p>
            <a:pPr marL="0" indent="0" algn="l">
              <a:buNone/>
            </a:pPr>
            <a:r>
              <a:rPr lang="en-US" sz="1300" dirty="0">
                <a:solidFill>
                  <a:srgbClr val="94A3B8"/>
                </a:solidFill>
                <a:latin typeface="Calibri Light" pitchFamily="34" charset="0"/>
                <a:ea typeface="Calibri Light" pitchFamily="34" charset="-122"/>
                <a:cs typeface="Calibri Light" pitchFamily="34" charset="-120"/>
              </a:rPr>
              <a:t>model build and commercial output for FreshBox</a:t>
            </a:r>
            <a:r>
              <a:rPr lang="en-DK" sz="1300" dirty="0">
                <a:solidFill>
                  <a:srgbClr val="94A3B8"/>
                </a:solidFill>
                <a:latin typeface="Calibri Light" pitchFamily="34" charset="0"/>
                <a:ea typeface="Calibri Light" pitchFamily="34" charset="-122"/>
                <a:cs typeface="Calibri Light" pitchFamily="34" charset="-120"/>
              </a:rPr>
              <a:t> based on sample data</a:t>
            </a:r>
            <a:r>
              <a:rPr lang="en-US" sz="1300" dirty="0">
                <a:solidFill>
                  <a:srgbClr val="94A3B8"/>
                </a:solidFill>
                <a:latin typeface="Calibri Light" pitchFamily="34" charset="0"/>
                <a:ea typeface="Calibri Light" pitchFamily="34" charset="-122"/>
                <a:cs typeface="Calibri Light" pitchFamily="34" charset="-120"/>
              </a:rPr>
              <a:t>.</a:t>
            </a:r>
            <a:endParaRPr lang="en-US" sz="1300" dirty="0"/>
          </a:p>
        </p:txBody>
      </p:sp>
      <p:sp>
        <p:nvSpPr>
          <p:cNvPr id="5" name="Text 3"/>
          <p:cNvSpPr/>
          <p:nvPr>
            <p:custDataLst>
              <p:tags r:id="rId5"/>
            </p:custDataLst>
          </p:nvPr>
        </p:nvSpPr>
        <p:spPr>
          <a:xfrm>
            <a:off x="731520" y="4480560"/>
            <a:ext cx="2743200" cy="320040"/>
          </a:xfrm>
          <a:prstGeom prst="rect">
            <a:avLst/>
          </a:prstGeom>
          <a:noFill/>
          <a:ln/>
        </p:spPr>
        <p:txBody>
          <a:bodyPr wrap="square" lIns="0" tIns="0" rIns="0" bIns="0" rtlCol="0" anchor="ctr"/>
          <a:lstStyle/>
          <a:p>
            <a:pPr marL="0" indent="0" algn="l">
              <a:buNone/>
            </a:pPr>
            <a:r>
              <a:rPr lang="en-US" sz="1100" dirty="0">
                <a:solidFill>
                  <a:srgbClr val="94A3B8"/>
                </a:solidFill>
                <a:latin typeface="Calibri Light" pitchFamily="34" charset="0"/>
                <a:ea typeface="Calibri Light" pitchFamily="34" charset="-122"/>
                <a:cs typeface="Calibri Light" pitchFamily="34" charset="-120"/>
              </a:rPr>
              <a:t>April 2026</a:t>
            </a:r>
            <a:endParaRPr lang="en-US" sz="11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Scope &amp; Data Request</a:t>
            </a:r>
            <a:endParaRPr lang="en-US" sz="2800" dirty="0"/>
          </a:p>
        </p:txBody>
      </p:sp>
      <p:sp>
        <p:nvSpPr>
          <p:cNvPr id="3" name="Shape 1"/>
          <p:cNvSpPr/>
          <p:nvPr>
            <p:custDataLst>
              <p:tags r:id="rId3"/>
            </p:custDataLst>
          </p:nvPr>
        </p:nvSpPr>
        <p:spPr>
          <a:xfrm>
            <a:off x="731520" y="853795"/>
            <a:ext cx="2404872" cy="112545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4" name="Text 2"/>
          <p:cNvSpPr/>
          <p:nvPr>
            <p:custDataLst>
              <p:tags r:id="rId4"/>
            </p:custDataLst>
          </p:nvPr>
        </p:nvSpPr>
        <p:spPr>
          <a:xfrm>
            <a:off x="868680" y="917803"/>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Sample Size</a:t>
            </a:r>
            <a:endParaRPr lang="en-US" sz="1000" dirty="0"/>
          </a:p>
        </p:txBody>
      </p:sp>
      <p:sp>
        <p:nvSpPr>
          <p:cNvPr id="5" name="Text 3"/>
          <p:cNvSpPr/>
          <p:nvPr>
            <p:custDataLst>
              <p:tags r:id="rId5"/>
            </p:custDataLst>
          </p:nvPr>
        </p:nvSpPr>
        <p:spPr>
          <a:xfrm>
            <a:off x="868680" y="1128115"/>
            <a:ext cx="2130552" cy="32004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1,500 customers</a:t>
            </a:r>
            <a:endParaRPr lang="en-US" sz="1800" dirty="0"/>
          </a:p>
        </p:txBody>
      </p:sp>
      <p:sp>
        <p:nvSpPr>
          <p:cNvPr id="6" name="Text 4"/>
          <p:cNvSpPr/>
          <p:nvPr>
            <p:custDataLst>
              <p:tags r:id="rId6"/>
            </p:custDataLst>
          </p:nvPr>
        </p:nvSpPr>
        <p:spPr>
          <a:xfrm>
            <a:off x="868680" y="1493875"/>
            <a:ext cx="21305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Representative sample for prototype</a:t>
            </a:r>
            <a:r>
              <a:rPr lang="en-DK" sz="900" dirty="0">
                <a:solidFill>
                  <a:srgbClr val="475569"/>
                </a:solidFill>
                <a:latin typeface="Calibri Light" pitchFamily="34" charset="0"/>
                <a:ea typeface="Calibri Light" pitchFamily="34" charset="-122"/>
                <a:cs typeface="Calibri Light" pitchFamily="34" charset="-120"/>
              </a:rPr>
              <a:t>:</a:t>
            </a:r>
          </a:p>
          <a:p>
            <a:pPr marL="0" indent="0">
              <a:buNone/>
            </a:pPr>
            <a:r>
              <a:rPr lang="en-US" sz="900" dirty="0">
                <a:solidFill>
                  <a:srgbClr val="475569"/>
                </a:solidFill>
                <a:latin typeface="Calibri Light" pitchFamily="34" charset="0"/>
                <a:ea typeface="Calibri Light" pitchFamily="34" charset="-122"/>
                <a:cs typeface="Calibri Light" pitchFamily="34" charset="-120"/>
              </a:rPr>
              <a:t>scales to full 80k base.</a:t>
            </a:r>
            <a:endParaRPr lang="en-US" sz="900" dirty="0"/>
          </a:p>
        </p:txBody>
      </p:sp>
      <p:sp>
        <p:nvSpPr>
          <p:cNvPr id="7" name="Shape 5"/>
          <p:cNvSpPr/>
          <p:nvPr>
            <p:custDataLst>
              <p:tags r:id="rId7"/>
            </p:custDataLst>
          </p:nvPr>
        </p:nvSpPr>
        <p:spPr>
          <a:xfrm>
            <a:off x="3410712" y="853795"/>
            <a:ext cx="2404872" cy="112545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8" name="Text 6"/>
          <p:cNvSpPr/>
          <p:nvPr>
            <p:custDataLst>
              <p:tags r:id="rId8"/>
            </p:custDataLst>
          </p:nvPr>
        </p:nvSpPr>
        <p:spPr>
          <a:xfrm>
            <a:off x="3547872" y="917803"/>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Scope Period</a:t>
            </a:r>
            <a:endParaRPr lang="en-US" sz="1000" dirty="0"/>
          </a:p>
        </p:txBody>
      </p:sp>
      <p:sp>
        <p:nvSpPr>
          <p:cNvPr id="9" name="Text 7"/>
          <p:cNvSpPr/>
          <p:nvPr>
            <p:custDataLst>
              <p:tags r:id="rId9"/>
            </p:custDataLst>
          </p:nvPr>
        </p:nvSpPr>
        <p:spPr>
          <a:xfrm>
            <a:off x="3547872" y="1128115"/>
            <a:ext cx="2130552" cy="32004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Jan 2023 – Mar 2026</a:t>
            </a:r>
            <a:endParaRPr lang="en-US" sz="1800" dirty="0"/>
          </a:p>
        </p:txBody>
      </p:sp>
      <p:sp>
        <p:nvSpPr>
          <p:cNvPr id="10" name="Text 8"/>
          <p:cNvSpPr/>
          <p:nvPr>
            <p:custDataLst>
              <p:tags r:id="rId10"/>
            </p:custDataLst>
          </p:nvPr>
        </p:nvSpPr>
        <p:spPr>
          <a:xfrm>
            <a:off x="3547872" y="1493875"/>
            <a:ext cx="21305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39 months of transactional and behavioural data points.</a:t>
            </a:r>
            <a:endParaRPr lang="en-US" sz="900" dirty="0"/>
          </a:p>
        </p:txBody>
      </p:sp>
      <p:sp>
        <p:nvSpPr>
          <p:cNvPr id="11" name="Shape 9"/>
          <p:cNvSpPr/>
          <p:nvPr>
            <p:custDataLst>
              <p:tags r:id="rId11"/>
            </p:custDataLst>
          </p:nvPr>
        </p:nvSpPr>
        <p:spPr>
          <a:xfrm>
            <a:off x="6089904" y="853795"/>
            <a:ext cx="2404872" cy="1125452"/>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2" name="Text 10"/>
          <p:cNvSpPr/>
          <p:nvPr>
            <p:custDataLst>
              <p:tags r:id="rId12"/>
            </p:custDataLst>
          </p:nvPr>
        </p:nvSpPr>
        <p:spPr>
          <a:xfrm>
            <a:off x="6227064" y="917803"/>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Data Tables</a:t>
            </a:r>
            <a:endParaRPr lang="en-US" sz="1000" dirty="0"/>
          </a:p>
        </p:txBody>
      </p:sp>
      <p:sp>
        <p:nvSpPr>
          <p:cNvPr id="13" name="Text 11"/>
          <p:cNvSpPr/>
          <p:nvPr>
            <p:custDataLst>
              <p:tags r:id="rId13"/>
            </p:custDataLst>
          </p:nvPr>
        </p:nvSpPr>
        <p:spPr>
          <a:xfrm>
            <a:off x="6227064" y="1128115"/>
            <a:ext cx="2130552" cy="32004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4 tables requested</a:t>
            </a:r>
            <a:endParaRPr lang="en-US" sz="1800" dirty="0"/>
          </a:p>
        </p:txBody>
      </p:sp>
      <p:sp>
        <p:nvSpPr>
          <p:cNvPr id="14" name="Text 12"/>
          <p:cNvSpPr/>
          <p:nvPr>
            <p:custDataLst>
              <p:tags r:id="rId14"/>
            </p:custDataLst>
          </p:nvPr>
        </p:nvSpPr>
        <p:spPr>
          <a:xfrm>
            <a:off x="6227064" y="1493875"/>
            <a:ext cx="2130552" cy="411480"/>
          </a:xfrm>
          <a:prstGeom prst="rect">
            <a:avLst/>
          </a:prstGeom>
          <a:noFill/>
          <a:ln/>
        </p:spPr>
        <p:txBody>
          <a:bodyPr wrap="square" lIns="0" tIns="0" rIns="0" bIns="0" rtlCol="0" anchor="ctr"/>
          <a:lstStyle/>
          <a:p>
            <a:pPr marL="0" indent="0">
              <a:buNone/>
            </a:pPr>
            <a:r>
              <a:rPr lang="en-US" sz="900" dirty="0">
                <a:solidFill>
                  <a:srgbClr val="475569"/>
                </a:solidFill>
                <a:latin typeface="Calibri Light" pitchFamily="34" charset="0"/>
                <a:ea typeface="Calibri Light" pitchFamily="34" charset="-122"/>
                <a:cs typeface="Calibri Light" pitchFamily="34" charset="-120"/>
              </a:rPr>
              <a:t>dim_customer, dim_subscription, fact_activity, fact_invoice</a:t>
            </a:r>
            <a:endParaRPr lang="en-US" sz="900" dirty="0"/>
          </a:p>
        </p:txBody>
      </p:sp>
      <p:sp>
        <p:nvSpPr>
          <p:cNvPr id="15" name="Text 13"/>
          <p:cNvSpPr/>
          <p:nvPr>
            <p:custDataLst>
              <p:tags r:id="rId15"/>
            </p:custDataLst>
          </p:nvPr>
        </p:nvSpPr>
        <p:spPr>
          <a:xfrm>
            <a:off x="731520" y="2101705"/>
            <a:ext cx="370332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1. dim_customer</a:t>
            </a:r>
            <a:endParaRPr lang="en-US" sz="1100" dirty="0"/>
          </a:p>
        </p:txBody>
      </p:sp>
      <p:graphicFrame>
        <p:nvGraphicFramePr>
          <p:cNvPr id="16" name="Table 0"/>
          <p:cNvGraphicFramePr>
            <a:graphicFrameLocks noGrp="1"/>
          </p:cNvGraphicFramePr>
          <p:nvPr>
            <p:custDataLst>
              <p:tags r:id="rId16"/>
            </p:custDataLst>
            <p:extLst>
              <p:ext uri="{D42A27DB-BD31-4B8C-83A1-F6EECF244321}">
                <p14:modId xmlns:p14="http://schemas.microsoft.com/office/powerpoint/2010/main" val="945587990"/>
              </p:ext>
            </p:extLst>
          </p:nvPr>
        </p:nvGraphicFramePr>
        <p:xfrm>
          <a:off x="731520" y="2302873"/>
          <a:ext cx="3703320" cy="1410208"/>
        </p:xfrm>
        <a:graphic>
          <a:graphicData uri="http://schemas.openxmlformats.org/drawingml/2006/table">
            <a:tbl>
              <a:tblPr/>
              <a:tblGrid>
                <a:gridCol w="1770675">
                  <a:extLst>
                    <a:ext uri="{9D8B030D-6E8A-4147-A177-3AD203B41FA5}">
                      <a16:colId xmlns:a16="http://schemas.microsoft.com/office/drawing/2014/main" val="20000"/>
                    </a:ext>
                  </a:extLst>
                </a:gridCol>
                <a:gridCol w="1932645">
                  <a:extLst>
                    <a:ext uri="{9D8B030D-6E8A-4147-A177-3AD203B41FA5}">
                      <a16:colId xmlns:a16="http://schemas.microsoft.com/office/drawing/2014/main" val="20001"/>
                    </a:ext>
                  </a:extLst>
                </a:gridCol>
              </a:tblGrid>
              <a:tr h="201168">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Field</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Description</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customer_id</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Unique customer identifier</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sign_up_date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Date of first subscription</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acquisition_channel</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How acquired (social, referral, paid)</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initial_discount_tier</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Introductory offer level (50%, 60%)</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age_band / household_size / region</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Demographics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churned / churn_date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Binary flag + cancellation date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tenure_weeks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Weeks between sign-up and churn/today</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7" name="Text 14"/>
          <p:cNvSpPr/>
          <p:nvPr>
            <p:custDataLst>
              <p:tags r:id="rId17"/>
            </p:custDataLst>
          </p:nvPr>
        </p:nvSpPr>
        <p:spPr>
          <a:xfrm>
            <a:off x="4709160" y="2101705"/>
            <a:ext cx="370332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2. dim_subscription</a:t>
            </a:r>
            <a:endParaRPr lang="en-US" sz="1100" dirty="0"/>
          </a:p>
        </p:txBody>
      </p:sp>
      <p:graphicFrame>
        <p:nvGraphicFramePr>
          <p:cNvPr id="18" name="Table 1"/>
          <p:cNvGraphicFramePr>
            <a:graphicFrameLocks noGrp="1"/>
          </p:cNvGraphicFramePr>
          <p:nvPr>
            <p:custDataLst>
              <p:tags r:id="rId18"/>
            </p:custDataLst>
            <p:extLst>
              <p:ext uri="{D42A27DB-BD31-4B8C-83A1-F6EECF244321}">
                <p14:modId xmlns:p14="http://schemas.microsoft.com/office/powerpoint/2010/main" val="2812950565"/>
              </p:ext>
            </p:extLst>
          </p:nvPr>
        </p:nvGraphicFramePr>
        <p:xfrm>
          <a:off x="4709160" y="2302873"/>
          <a:ext cx="3703320" cy="1064768"/>
        </p:xfrm>
        <a:graphic>
          <a:graphicData uri="http://schemas.openxmlformats.org/drawingml/2006/table">
            <a:tbl>
              <a:tblPr/>
              <a:tblGrid>
                <a:gridCol w="1734170">
                  <a:extLst>
                    <a:ext uri="{9D8B030D-6E8A-4147-A177-3AD203B41FA5}">
                      <a16:colId xmlns:a16="http://schemas.microsoft.com/office/drawing/2014/main" val="20000"/>
                    </a:ext>
                  </a:extLst>
                </a:gridCol>
                <a:gridCol w="1969150">
                  <a:extLst>
                    <a:ext uri="{9D8B030D-6E8A-4147-A177-3AD203B41FA5}">
                      <a16:colId xmlns:a16="http://schemas.microsoft.com/office/drawing/2014/main" val="20001"/>
                    </a:ext>
                  </a:extLst>
                </a:gridCol>
              </a:tblGrid>
              <a:tr h="201168">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Field</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Description</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customer_id</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Foreign key to dim_customer</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plan_type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Classic, Family or Veggie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meals_per_week</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Number of meals in weekly box</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price_tier</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Standard, Premium or Budget</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dietary_preference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None, pescetarian, vegan</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5"/>
          <p:cNvSpPr/>
          <p:nvPr>
            <p:custDataLst>
              <p:tags r:id="rId19"/>
            </p:custDataLst>
          </p:nvPr>
        </p:nvSpPr>
        <p:spPr>
          <a:xfrm>
            <a:off x="4709160" y="3474012"/>
            <a:ext cx="370332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3. fact_activity</a:t>
            </a:r>
            <a:endParaRPr lang="en-US" sz="1100" dirty="0"/>
          </a:p>
        </p:txBody>
      </p:sp>
      <p:graphicFrame>
        <p:nvGraphicFramePr>
          <p:cNvPr id="20" name="Table 2"/>
          <p:cNvGraphicFramePr>
            <a:graphicFrameLocks noGrp="1"/>
          </p:cNvGraphicFramePr>
          <p:nvPr>
            <p:custDataLst>
              <p:tags r:id="rId20"/>
            </p:custDataLst>
            <p:extLst>
              <p:ext uri="{D42A27DB-BD31-4B8C-83A1-F6EECF244321}">
                <p14:modId xmlns:p14="http://schemas.microsoft.com/office/powerpoint/2010/main" val="430884837"/>
              </p:ext>
            </p:extLst>
          </p:nvPr>
        </p:nvGraphicFramePr>
        <p:xfrm>
          <a:off x="4709160" y="3675180"/>
          <a:ext cx="3703320" cy="1064768"/>
        </p:xfrm>
        <a:graphic>
          <a:graphicData uri="http://schemas.openxmlformats.org/drawingml/2006/table">
            <a:tbl>
              <a:tblPr/>
              <a:tblGrid>
                <a:gridCol w="1734170">
                  <a:extLst>
                    <a:ext uri="{9D8B030D-6E8A-4147-A177-3AD203B41FA5}">
                      <a16:colId xmlns:a16="http://schemas.microsoft.com/office/drawing/2014/main" val="20000"/>
                    </a:ext>
                  </a:extLst>
                </a:gridCol>
                <a:gridCol w="1969150">
                  <a:extLst>
                    <a:ext uri="{9D8B030D-6E8A-4147-A177-3AD203B41FA5}">
                      <a16:colId xmlns:a16="http://schemas.microsoft.com/office/drawing/2014/main" val="20001"/>
                    </a:ext>
                  </a:extLst>
                </a:gridCol>
              </a:tblGrid>
              <a:tr h="201168">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Field</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Description</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customer_id</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Foreign key to dim_customer</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total_skips / total_pauses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Weeks skipped / pauses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avg_recipe_rating</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Mean recipe rating (1-5)</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menu_customisations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Times menu was customised</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support_tickets / delivery_complaints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Tickets raised / delivery issues</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1" name="Text 16"/>
          <p:cNvSpPr/>
          <p:nvPr>
            <p:custDataLst>
              <p:tags r:id="rId21"/>
            </p:custDataLst>
          </p:nvPr>
        </p:nvSpPr>
        <p:spPr>
          <a:xfrm>
            <a:off x="731520" y="3791930"/>
            <a:ext cx="3703320" cy="18288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4. fact_invoice</a:t>
            </a:r>
            <a:endParaRPr lang="en-US" sz="1100" dirty="0"/>
          </a:p>
        </p:txBody>
      </p:sp>
      <p:graphicFrame>
        <p:nvGraphicFramePr>
          <p:cNvPr id="22" name="Table 3"/>
          <p:cNvGraphicFramePr>
            <a:graphicFrameLocks noGrp="1"/>
          </p:cNvGraphicFramePr>
          <p:nvPr>
            <p:custDataLst>
              <p:tags r:id="rId22"/>
            </p:custDataLst>
            <p:extLst>
              <p:ext uri="{D42A27DB-BD31-4B8C-83A1-F6EECF244321}">
                <p14:modId xmlns:p14="http://schemas.microsoft.com/office/powerpoint/2010/main" val="1520955603"/>
              </p:ext>
            </p:extLst>
          </p:nvPr>
        </p:nvGraphicFramePr>
        <p:xfrm>
          <a:off x="731520" y="3993098"/>
          <a:ext cx="3703320" cy="719328"/>
        </p:xfrm>
        <a:graphic>
          <a:graphicData uri="http://schemas.openxmlformats.org/drawingml/2006/table">
            <a:tbl>
              <a:tblPr/>
              <a:tblGrid>
                <a:gridCol w="1791940">
                  <a:extLst>
                    <a:ext uri="{9D8B030D-6E8A-4147-A177-3AD203B41FA5}">
                      <a16:colId xmlns:a16="http://schemas.microsoft.com/office/drawing/2014/main" val="20000"/>
                    </a:ext>
                  </a:extLst>
                </a:gridCol>
                <a:gridCol w="1911380">
                  <a:extLst>
                    <a:ext uri="{9D8B030D-6E8A-4147-A177-3AD203B41FA5}">
                      <a16:colId xmlns:a16="http://schemas.microsoft.com/office/drawing/2014/main" val="20001"/>
                    </a:ext>
                  </a:extLst>
                </a:gridCol>
              </a:tblGrid>
              <a:tr h="201168">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Field</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Description</a:t>
                      </a:r>
                      <a:endParaRPr lang="en-US" sz="8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invoice_no / customer_id</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Invoice ID + foreign key</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invoice_date / order_value</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Date of charge + amount (GBP)</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4592">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discount_applied / pct</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Light" pitchFamily="34" charset="0"/>
                          <a:ea typeface="Calibri Light" pitchFamily="34" charset="-122"/>
                          <a:cs typeface="Calibri Light" pitchFamily="34" charset="-120"/>
                        </a:rPr>
                        <a:t>Promo flag + discount %</a:t>
                      </a:r>
                      <a:endParaRPr lang="en-US" sz="8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3" name="TextBox 22">
            <a:extLst>
              <a:ext uri="{FF2B5EF4-FFF2-40B4-BE49-F238E27FC236}">
                <a16:creationId xmlns:a16="http://schemas.microsoft.com/office/drawing/2014/main" id="{7E5CC14E-B83F-154B-2BF0-2753212980B3}"/>
              </a:ext>
            </a:extLst>
          </p:cNvPr>
          <p:cNvSpPr txBox="1"/>
          <p:nvPr>
            <p:custDataLst>
              <p:tags r:id="rId23"/>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1</a:t>
            </a:r>
            <a:endParaRPr lang="en-GB" sz="1000" dirty="0">
              <a:solidFill>
                <a:srgbClr val="475569"/>
              </a:solidFill>
              <a:latin typeface="Calibri Light" pitchFamily="34" charset="0"/>
              <a:ea typeface="Calibri Light" pitchFamily="34" charset="-122"/>
              <a:cs typeface="Calibri Light" pitchFamily="34" charset="-12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Exploratory Data Analysis</a:t>
            </a:r>
            <a:endParaRPr lang="en-US" sz="2800" dirty="0"/>
          </a:p>
        </p:txBody>
      </p:sp>
      <p:sp>
        <p:nvSpPr>
          <p:cNvPr id="3" name="Shape 1"/>
          <p:cNvSpPr/>
          <p:nvPr>
            <p:custDataLst>
              <p:tags r:id="rId3"/>
            </p:custDataLst>
          </p:nvPr>
        </p:nvSpPr>
        <p:spPr>
          <a:xfrm>
            <a:off x="731520" y="914400"/>
            <a:ext cx="2404872" cy="9144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4" name="Image 0" descr="preencoded.png"/>
          <p:cNvPicPr>
            <a:picLocks noChangeAspect="1"/>
          </p:cNvPicPr>
          <p:nvPr>
            <p:custDataLst>
              <p:tags r:id="rId4"/>
            </p:custDataLst>
          </p:nvPr>
        </p:nvPicPr>
        <p:blipFill>
          <a:blip r:embed="rId25"/>
          <a:stretch>
            <a:fillRect/>
          </a:stretch>
        </p:blipFill>
        <p:spPr>
          <a:xfrm>
            <a:off x="868680" y="1051560"/>
            <a:ext cx="274320" cy="274320"/>
          </a:xfrm>
          <a:prstGeom prst="rect">
            <a:avLst/>
          </a:prstGeom>
        </p:spPr>
      </p:pic>
      <p:sp>
        <p:nvSpPr>
          <p:cNvPr id="5" name="Text 2"/>
          <p:cNvSpPr/>
          <p:nvPr>
            <p:custDataLst>
              <p:tags r:id="rId5"/>
            </p:custDataLst>
          </p:nvPr>
        </p:nvSpPr>
        <p:spPr>
          <a:xfrm>
            <a:off x="1234440" y="1005840"/>
            <a:ext cx="1764792" cy="36576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1,500</a:t>
            </a:r>
            <a:endParaRPr lang="en-US" sz="2000" dirty="0"/>
          </a:p>
        </p:txBody>
      </p:sp>
      <p:sp>
        <p:nvSpPr>
          <p:cNvPr id="6" name="Text 3"/>
          <p:cNvSpPr/>
          <p:nvPr>
            <p:custDataLst>
              <p:tags r:id="rId6"/>
            </p:custDataLst>
          </p:nvPr>
        </p:nvSpPr>
        <p:spPr>
          <a:xfrm>
            <a:off x="1234440" y="1371600"/>
            <a:ext cx="1764792" cy="274320"/>
          </a:xfrm>
          <a:prstGeom prst="rect">
            <a:avLst/>
          </a:prstGeom>
          <a:noFill/>
          <a:ln/>
        </p:spPr>
        <p:txBody>
          <a:bodyPr wrap="square" lIns="0" tIns="0" rIns="0" bIns="0" rtlCol="0" anchor="ctr"/>
          <a:lstStyle/>
          <a:p>
            <a:pPr marL="0" indent="0">
              <a:buNone/>
            </a:pPr>
            <a:r>
              <a:rPr lang="en-DK" sz="1000" dirty="0">
                <a:solidFill>
                  <a:srgbClr val="475569"/>
                </a:solidFill>
                <a:latin typeface="Calibri Light" pitchFamily="34" charset="0"/>
                <a:ea typeface="Calibri Light" pitchFamily="34" charset="-122"/>
                <a:cs typeface="Calibri Light" pitchFamily="34" charset="-120"/>
              </a:rPr>
              <a:t>Sample c</a:t>
            </a:r>
            <a:r>
              <a:rPr lang="en-US" sz="1000" dirty="0" err="1">
                <a:solidFill>
                  <a:srgbClr val="475569"/>
                </a:solidFill>
                <a:latin typeface="Calibri Light" pitchFamily="34" charset="0"/>
                <a:ea typeface="Calibri Light" pitchFamily="34" charset="-122"/>
                <a:cs typeface="Calibri Light" pitchFamily="34" charset="-120"/>
              </a:rPr>
              <a:t>ustomers</a:t>
            </a:r>
            <a:r>
              <a:rPr lang="en-US" sz="1000" dirty="0">
                <a:solidFill>
                  <a:srgbClr val="475569"/>
                </a:solidFill>
                <a:latin typeface="Calibri Light" pitchFamily="34" charset="0"/>
                <a:ea typeface="Calibri Light" pitchFamily="34" charset="-122"/>
                <a:cs typeface="Calibri Light" pitchFamily="34" charset="-120"/>
              </a:rPr>
              <a:t> analysed</a:t>
            </a:r>
            <a:endParaRPr lang="en-US" sz="1000" dirty="0"/>
          </a:p>
        </p:txBody>
      </p:sp>
      <p:sp>
        <p:nvSpPr>
          <p:cNvPr id="7" name="Shape 4"/>
          <p:cNvSpPr/>
          <p:nvPr>
            <p:custDataLst>
              <p:tags r:id="rId7"/>
            </p:custDataLst>
          </p:nvPr>
        </p:nvSpPr>
        <p:spPr>
          <a:xfrm>
            <a:off x="3410712" y="914400"/>
            <a:ext cx="2404872" cy="9144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8" name="Image 1" descr="preencoded.png"/>
          <p:cNvPicPr>
            <a:picLocks noChangeAspect="1"/>
          </p:cNvPicPr>
          <p:nvPr>
            <p:custDataLst>
              <p:tags r:id="rId8"/>
            </p:custDataLst>
          </p:nvPr>
        </p:nvPicPr>
        <p:blipFill>
          <a:blip r:embed="rId26"/>
          <a:stretch>
            <a:fillRect/>
          </a:stretch>
        </p:blipFill>
        <p:spPr>
          <a:xfrm>
            <a:off x="3547872" y="1051560"/>
            <a:ext cx="274320" cy="274320"/>
          </a:xfrm>
          <a:prstGeom prst="rect">
            <a:avLst/>
          </a:prstGeom>
        </p:spPr>
      </p:pic>
      <p:sp>
        <p:nvSpPr>
          <p:cNvPr id="9" name="Text 5"/>
          <p:cNvSpPr/>
          <p:nvPr>
            <p:custDataLst>
              <p:tags r:id="rId9"/>
            </p:custDataLst>
          </p:nvPr>
        </p:nvSpPr>
        <p:spPr>
          <a:xfrm>
            <a:off x="3913632" y="1005840"/>
            <a:ext cx="1764792" cy="36576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67.4%</a:t>
            </a:r>
            <a:endParaRPr lang="en-US" sz="2000" dirty="0"/>
          </a:p>
        </p:txBody>
      </p:sp>
      <p:sp>
        <p:nvSpPr>
          <p:cNvPr id="10" name="Text 6"/>
          <p:cNvSpPr/>
          <p:nvPr>
            <p:custDataLst>
              <p:tags r:id="rId10"/>
            </p:custDataLst>
          </p:nvPr>
        </p:nvSpPr>
        <p:spPr>
          <a:xfrm>
            <a:off x="3913632" y="1371600"/>
            <a:ext cx="1764792" cy="2743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Overall churn rate</a:t>
            </a:r>
            <a:endParaRPr lang="en-US" sz="1000" dirty="0"/>
          </a:p>
        </p:txBody>
      </p:sp>
      <p:sp>
        <p:nvSpPr>
          <p:cNvPr id="11" name="Shape 7"/>
          <p:cNvSpPr/>
          <p:nvPr>
            <p:custDataLst>
              <p:tags r:id="rId11"/>
            </p:custDataLst>
          </p:nvPr>
        </p:nvSpPr>
        <p:spPr>
          <a:xfrm>
            <a:off x="6089904" y="914400"/>
            <a:ext cx="2404872" cy="9144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pic>
        <p:nvPicPr>
          <p:cNvPr id="12" name="Image 2" descr="preencoded.png"/>
          <p:cNvPicPr>
            <a:picLocks noChangeAspect="1"/>
          </p:cNvPicPr>
          <p:nvPr>
            <p:custDataLst>
              <p:tags r:id="rId12"/>
            </p:custDataLst>
          </p:nvPr>
        </p:nvPicPr>
        <p:blipFill>
          <a:blip r:embed="rId27"/>
          <a:stretch>
            <a:fillRect/>
          </a:stretch>
        </p:blipFill>
        <p:spPr>
          <a:xfrm>
            <a:off x="6227064" y="1051560"/>
            <a:ext cx="274320" cy="274320"/>
          </a:xfrm>
          <a:prstGeom prst="rect">
            <a:avLst/>
          </a:prstGeom>
        </p:spPr>
      </p:pic>
      <p:sp>
        <p:nvSpPr>
          <p:cNvPr id="13" name="Text 8"/>
          <p:cNvSpPr/>
          <p:nvPr>
            <p:custDataLst>
              <p:tags r:id="rId13"/>
            </p:custDataLst>
          </p:nvPr>
        </p:nvSpPr>
        <p:spPr>
          <a:xfrm>
            <a:off x="6592824" y="1005840"/>
            <a:ext cx="1764792" cy="36576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7.3 weeks</a:t>
            </a:r>
            <a:endParaRPr lang="en-US" sz="2000" dirty="0"/>
          </a:p>
        </p:txBody>
      </p:sp>
      <p:sp>
        <p:nvSpPr>
          <p:cNvPr id="14" name="Text 9"/>
          <p:cNvSpPr/>
          <p:nvPr>
            <p:custDataLst>
              <p:tags r:id="rId14"/>
            </p:custDataLst>
          </p:nvPr>
        </p:nvSpPr>
        <p:spPr>
          <a:xfrm>
            <a:off x="6592824" y="1371600"/>
            <a:ext cx="1764792" cy="2743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Median tenure at churn</a:t>
            </a:r>
            <a:endParaRPr lang="en-US" sz="1000" dirty="0"/>
          </a:p>
        </p:txBody>
      </p:sp>
      <p:sp>
        <p:nvSpPr>
          <p:cNvPr id="15" name="Text 10"/>
          <p:cNvSpPr/>
          <p:nvPr>
            <p:custDataLst>
              <p:tags r:id="rId15"/>
            </p:custDataLst>
          </p:nvPr>
        </p:nvSpPr>
        <p:spPr>
          <a:xfrm>
            <a:off x="731520" y="2011680"/>
            <a:ext cx="370332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Churn Rate by Acquisition Channel</a:t>
            </a:r>
            <a:endParaRPr lang="en-US" sz="1400" dirty="0"/>
          </a:p>
        </p:txBody>
      </p:sp>
      <p:graphicFrame>
        <p:nvGraphicFramePr>
          <p:cNvPr id="16" name="Table 0"/>
          <p:cNvGraphicFramePr>
            <a:graphicFrameLocks noGrp="1"/>
          </p:cNvGraphicFramePr>
          <p:nvPr>
            <p:custDataLst>
              <p:tags r:id="rId16"/>
            </p:custDataLst>
            <p:extLst>
              <p:ext uri="{D42A27DB-BD31-4B8C-83A1-F6EECF244321}">
                <p14:modId xmlns:p14="http://schemas.microsoft.com/office/powerpoint/2010/main" val="1579011935"/>
              </p:ext>
            </p:extLst>
          </p:nvPr>
        </p:nvGraphicFramePr>
        <p:xfrm>
          <a:off x="731520" y="2304288"/>
          <a:ext cx="3703320" cy="1328928"/>
        </p:xfrm>
        <a:graphic>
          <a:graphicData uri="http://schemas.openxmlformats.org/drawingml/2006/table">
            <a:tbl>
              <a:tblPr/>
              <a:tblGrid>
                <a:gridCol w="1417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0116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Channel</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Customers</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Churn Rate</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Affiliate</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198</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84.3%</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Paid Social</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419</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80.9%</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Influencer</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188</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75.5%</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TV / Brand</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168</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60.1%</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Organic Search</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278</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56.1%</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Referral</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249</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42.6%</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7" name="Text 11"/>
          <p:cNvSpPr/>
          <p:nvPr>
            <p:custDataLst>
              <p:tags r:id="rId17"/>
            </p:custDataLst>
          </p:nvPr>
        </p:nvSpPr>
        <p:spPr>
          <a:xfrm>
            <a:off x="4709160" y="2011680"/>
            <a:ext cx="370332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Churn Rate by Plan Type</a:t>
            </a:r>
            <a:endParaRPr lang="en-US" sz="1400" dirty="0"/>
          </a:p>
        </p:txBody>
      </p:sp>
      <p:graphicFrame>
        <p:nvGraphicFramePr>
          <p:cNvPr id="18" name="Table 1"/>
          <p:cNvGraphicFramePr>
            <a:graphicFrameLocks noGrp="1"/>
          </p:cNvGraphicFramePr>
          <p:nvPr>
            <p:custDataLst>
              <p:tags r:id="rId18"/>
            </p:custDataLst>
            <p:extLst>
              <p:ext uri="{D42A27DB-BD31-4B8C-83A1-F6EECF244321}">
                <p14:modId xmlns:p14="http://schemas.microsoft.com/office/powerpoint/2010/main" val="1579011935"/>
              </p:ext>
            </p:extLst>
          </p:nvPr>
        </p:nvGraphicFramePr>
        <p:xfrm>
          <a:off x="4709160" y="2304288"/>
          <a:ext cx="3703320" cy="953008"/>
        </p:xfrm>
        <a:graphic>
          <a:graphicData uri="http://schemas.openxmlformats.org/drawingml/2006/table">
            <a:tbl>
              <a:tblPr/>
              <a:tblGrid>
                <a:gridCol w="1417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0116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Plan Type</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Customers</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Churn Rate</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1-person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224</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69.2%</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2-person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595</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67.1%</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3-person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385</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68.3%</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4-person+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296</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65.5%</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Shape 12"/>
          <p:cNvSpPr/>
          <p:nvPr>
            <p:custDataLst>
              <p:tags r:id="rId19"/>
            </p:custDataLst>
          </p:nvPr>
        </p:nvSpPr>
        <p:spPr>
          <a:xfrm>
            <a:off x="731520" y="3785549"/>
            <a:ext cx="7680960"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20" name="Text 13"/>
          <p:cNvSpPr/>
          <p:nvPr>
            <p:custDataLst>
              <p:tags r:id="rId20"/>
            </p:custDataLst>
          </p:nvPr>
        </p:nvSpPr>
        <p:spPr>
          <a:xfrm>
            <a:off x="914400" y="3849557"/>
            <a:ext cx="7315200" cy="201168"/>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Key Insight</a:t>
            </a:r>
            <a:endParaRPr lang="en-US" sz="1100" dirty="0"/>
          </a:p>
        </p:txBody>
      </p:sp>
      <p:sp>
        <p:nvSpPr>
          <p:cNvPr id="21" name="Text 14"/>
          <p:cNvSpPr/>
          <p:nvPr>
            <p:custDataLst>
              <p:tags r:id="rId21"/>
            </p:custDataLst>
          </p:nvPr>
        </p:nvSpPr>
        <p:spPr>
          <a:xfrm>
            <a:off x="914400" y="4078157"/>
            <a:ext cx="7315200" cy="41148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Acquisition channel is the strongest differentiator: Referral customers churn at 42.6% vs Affiliate at 84.3%. Plan type shows minimal variation (65-69%). Early warning signals are critical with median churn at just 7.3 weeks.</a:t>
            </a:r>
            <a:endParaRPr lang="en-US" sz="1000" dirty="0"/>
          </a:p>
        </p:txBody>
      </p:sp>
      <p:sp>
        <p:nvSpPr>
          <p:cNvPr id="22" name="TextBox 21">
            <a:extLst>
              <a:ext uri="{FF2B5EF4-FFF2-40B4-BE49-F238E27FC236}">
                <a16:creationId xmlns:a16="http://schemas.microsoft.com/office/drawing/2014/main" id="{9063087A-88A1-7241-0663-82647ECC51D6}"/>
              </a:ext>
            </a:extLst>
          </p:cNvPr>
          <p:cNvSpPr txBox="1"/>
          <p:nvPr>
            <p:custDataLst>
              <p:tags r:id="rId22"/>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a:t>
            </a:r>
            <a:r>
              <a:rPr lang="en-GB" sz="1000" dirty="0">
                <a:solidFill>
                  <a:srgbClr val="475569"/>
                </a:solidFill>
                <a:latin typeface="Calibri Light" pitchFamily="34" charset="0"/>
                <a:ea typeface="Calibri Light" pitchFamily="34" charset="-122"/>
                <a:cs typeface="Calibri Light" pitchFamily="34" charset="-120"/>
              </a:rPr>
              <a:t>2</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Feature Engineering</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47 features engineered across 4 churn hypotheses. All derived from data FreshBox already collects.</a:t>
            </a:r>
          </a:p>
        </p:txBody>
      </p:sp>
      <p:sp>
        <p:nvSpPr>
          <p:cNvPr id="4" name="Shape 2"/>
          <p:cNvSpPr/>
          <p:nvPr>
            <p:custDataLst>
              <p:tags r:id="rId4"/>
            </p:custDataLst>
          </p:nvPr>
        </p:nvSpPr>
        <p:spPr>
          <a:xfrm>
            <a:off x="731520" y="1128119"/>
            <a:ext cx="3703320" cy="132588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Shape 3"/>
          <p:cNvSpPr/>
          <p:nvPr>
            <p:custDataLst>
              <p:tags r:id="rId5"/>
            </p:custDataLst>
          </p:nvPr>
        </p:nvSpPr>
        <p:spPr>
          <a:xfrm>
            <a:off x="731520" y="1128119"/>
            <a:ext cx="3703320" cy="45720"/>
          </a:xfrm>
          <a:prstGeom prst="rect">
            <a:avLst/>
          </a:prstGeom>
          <a:solidFill>
            <a:srgbClr val="0C4A6E"/>
          </a:solidFill>
          <a:ln/>
        </p:spPr>
        <p:txBody>
          <a:bodyPr/>
          <a:lstStyle/>
          <a:p>
            <a:endParaRPr lang="en-GB"/>
          </a:p>
        </p:txBody>
      </p:sp>
      <p:sp>
        <p:nvSpPr>
          <p:cNvPr id="6" name="Text 4"/>
          <p:cNvSpPr/>
          <p:nvPr>
            <p:custDataLst>
              <p:tags r:id="rId6"/>
            </p:custDataLst>
          </p:nvPr>
        </p:nvSpPr>
        <p:spPr>
          <a:xfrm>
            <a:off x="868680" y="1265279"/>
            <a:ext cx="34290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Loyalty</a:t>
            </a:r>
            <a:endParaRPr lang="en-US" sz="1400" dirty="0"/>
          </a:p>
        </p:txBody>
      </p:sp>
      <p:sp>
        <p:nvSpPr>
          <p:cNvPr id="7" name="Text 5"/>
          <p:cNvSpPr/>
          <p:nvPr>
            <p:custDataLst>
              <p:tags r:id="rId7"/>
            </p:custDataLst>
          </p:nvPr>
        </p:nvSpPr>
        <p:spPr>
          <a:xfrm>
            <a:off x="868680" y="1512167"/>
            <a:ext cx="342900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Light" pitchFamily="34" charset="0"/>
                <a:ea typeface="Calibri Light" pitchFamily="34" charset="-122"/>
                <a:cs typeface="Calibri Light" pitchFamily="34" charset="-120"/>
              </a:rPr>
              <a:t>Do long-tenured customers with high order volume churn less?</a:t>
            </a:r>
            <a:endParaRPr lang="en-US" sz="1000" dirty="0"/>
          </a:p>
        </p:txBody>
      </p:sp>
      <p:sp>
        <p:nvSpPr>
          <p:cNvPr id="8" name="Text 6"/>
          <p:cNvSpPr/>
          <p:nvPr>
            <p:custDataLst>
              <p:tags r:id="rId8"/>
            </p:custDataLst>
          </p:nvPr>
        </p:nvSpPr>
        <p:spPr>
          <a:xfrm>
            <a:off x="868680" y="1905359"/>
            <a:ext cx="3429000" cy="411480"/>
          </a:xfrm>
          <a:prstGeom prst="rect">
            <a:avLst/>
          </a:prstGeom>
          <a:noFill/>
          <a:ln/>
        </p:spPr>
        <p:txBody>
          <a:bodyPr wrap="square" lIns="0" tIns="0" rIns="0" bIns="0" rtlCol="0" anchor="ctr"/>
          <a:lstStyle/>
          <a:p>
            <a:pPr marL="0" indent="0">
              <a:buNone/>
            </a:pPr>
            <a:r>
              <a:rPr lang="en-US" sz="950" dirty="0">
                <a:solidFill>
                  <a:srgbClr val="0369A1"/>
                </a:solidFill>
                <a:latin typeface="Calibri" pitchFamily="34" charset="0"/>
                <a:ea typeface="Calibri" pitchFamily="34" charset="-122"/>
                <a:cs typeface="Calibri" pitchFamily="34" charset="-120"/>
              </a:rPr>
              <a:t>tenure_weeks, total_orders,</a:t>
            </a:r>
            <a:endParaRPr lang="en-US" sz="950" dirty="0"/>
          </a:p>
          <a:p>
            <a:pPr marL="0" indent="0">
              <a:buNone/>
            </a:pPr>
            <a:r>
              <a:rPr lang="en-US" sz="950" dirty="0">
                <a:solidFill>
                  <a:srgbClr val="0369A1"/>
                </a:solidFill>
                <a:latin typeface="Calibri" pitchFamily="34" charset="0"/>
                <a:ea typeface="Calibri" pitchFamily="34" charset="-122"/>
                <a:cs typeface="Calibri" pitchFamily="34" charset="-120"/>
              </a:rPr>
              <a:t>order_completion_rate</a:t>
            </a:r>
            <a:endParaRPr lang="en-US" sz="950" dirty="0"/>
          </a:p>
        </p:txBody>
      </p:sp>
      <p:sp>
        <p:nvSpPr>
          <p:cNvPr id="9" name="Shape 7"/>
          <p:cNvSpPr/>
          <p:nvPr>
            <p:custDataLst>
              <p:tags r:id="rId9"/>
            </p:custDataLst>
          </p:nvPr>
        </p:nvSpPr>
        <p:spPr>
          <a:xfrm>
            <a:off x="4709160" y="1128119"/>
            <a:ext cx="3703320" cy="132588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0" name="Shape 8"/>
          <p:cNvSpPr/>
          <p:nvPr>
            <p:custDataLst>
              <p:tags r:id="rId10"/>
            </p:custDataLst>
          </p:nvPr>
        </p:nvSpPr>
        <p:spPr>
          <a:xfrm>
            <a:off x="4709160" y="1128119"/>
            <a:ext cx="3703320" cy="45720"/>
          </a:xfrm>
          <a:prstGeom prst="rect">
            <a:avLst/>
          </a:prstGeom>
          <a:solidFill>
            <a:srgbClr val="0C4A6E"/>
          </a:solidFill>
          <a:ln/>
        </p:spPr>
        <p:txBody>
          <a:bodyPr/>
          <a:lstStyle/>
          <a:p>
            <a:endParaRPr lang="en-GB"/>
          </a:p>
        </p:txBody>
      </p:sp>
      <p:sp>
        <p:nvSpPr>
          <p:cNvPr id="11" name="Text 9"/>
          <p:cNvSpPr/>
          <p:nvPr>
            <p:custDataLst>
              <p:tags r:id="rId11"/>
            </p:custDataLst>
          </p:nvPr>
        </p:nvSpPr>
        <p:spPr>
          <a:xfrm>
            <a:off x="4846320" y="1265279"/>
            <a:ext cx="34290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Momentum</a:t>
            </a:r>
            <a:endParaRPr lang="en-US" sz="1400" dirty="0"/>
          </a:p>
        </p:txBody>
      </p:sp>
      <p:sp>
        <p:nvSpPr>
          <p:cNvPr id="12" name="Text 10"/>
          <p:cNvSpPr/>
          <p:nvPr>
            <p:custDataLst>
              <p:tags r:id="rId12"/>
            </p:custDataLst>
          </p:nvPr>
        </p:nvSpPr>
        <p:spPr>
          <a:xfrm>
            <a:off x="4846320" y="1512167"/>
            <a:ext cx="342900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Light" pitchFamily="34" charset="0"/>
                <a:ea typeface="Calibri Light" pitchFamily="34" charset="-122"/>
                <a:cs typeface="Calibri Light" pitchFamily="34" charset="-120"/>
              </a:rPr>
              <a:t>Is a sudden drop in ordering a leading churn signal?</a:t>
            </a:r>
            <a:endParaRPr lang="en-US" sz="1000" dirty="0"/>
          </a:p>
        </p:txBody>
      </p:sp>
      <p:sp>
        <p:nvSpPr>
          <p:cNvPr id="13" name="Text 11"/>
          <p:cNvSpPr/>
          <p:nvPr>
            <p:custDataLst>
              <p:tags r:id="rId13"/>
            </p:custDataLst>
          </p:nvPr>
        </p:nvSpPr>
        <p:spPr>
          <a:xfrm>
            <a:off x="4846320" y="1905359"/>
            <a:ext cx="3429000" cy="411480"/>
          </a:xfrm>
          <a:prstGeom prst="rect">
            <a:avLst/>
          </a:prstGeom>
          <a:noFill/>
          <a:ln/>
        </p:spPr>
        <p:txBody>
          <a:bodyPr wrap="square" lIns="0" tIns="0" rIns="0" bIns="0" rtlCol="0" anchor="ctr"/>
          <a:lstStyle/>
          <a:p>
            <a:pPr marL="0" indent="0">
              <a:buNone/>
            </a:pPr>
            <a:r>
              <a:rPr lang="en-US" sz="950" dirty="0">
                <a:solidFill>
                  <a:srgbClr val="0369A1"/>
                </a:solidFill>
                <a:latin typeface="Calibri" pitchFamily="34" charset="0"/>
                <a:ea typeface="Calibri" pitchFamily="34" charset="-122"/>
                <a:cs typeface="Calibri" pitchFamily="34" charset="-120"/>
              </a:rPr>
              <a:t>frequency_trend, late_order_freq,</a:t>
            </a:r>
            <a:endParaRPr lang="en-US" sz="950" dirty="0"/>
          </a:p>
          <a:p>
            <a:pPr marL="0" indent="0">
              <a:buNone/>
            </a:pPr>
            <a:r>
              <a:rPr lang="en-US" sz="950" dirty="0">
                <a:solidFill>
                  <a:srgbClr val="0369A1"/>
                </a:solidFill>
                <a:latin typeface="Calibri" pitchFamily="34" charset="0"/>
                <a:ea typeface="Calibri" pitchFamily="34" charset="-122"/>
                <a:cs typeface="Calibri" pitchFamily="34" charset="-120"/>
              </a:rPr>
              <a:t>early_order_freq</a:t>
            </a:r>
            <a:endParaRPr lang="en-US" sz="950" dirty="0"/>
          </a:p>
        </p:txBody>
      </p:sp>
      <p:sp>
        <p:nvSpPr>
          <p:cNvPr id="14" name="Shape 12"/>
          <p:cNvSpPr/>
          <p:nvPr>
            <p:custDataLst>
              <p:tags r:id="rId14"/>
            </p:custDataLst>
          </p:nvPr>
        </p:nvSpPr>
        <p:spPr>
          <a:xfrm>
            <a:off x="731520" y="2636879"/>
            <a:ext cx="3703320" cy="132588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5" name="Shape 13"/>
          <p:cNvSpPr/>
          <p:nvPr>
            <p:custDataLst>
              <p:tags r:id="rId15"/>
            </p:custDataLst>
          </p:nvPr>
        </p:nvSpPr>
        <p:spPr>
          <a:xfrm>
            <a:off x="731520" y="2636879"/>
            <a:ext cx="3703320" cy="45720"/>
          </a:xfrm>
          <a:prstGeom prst="rect">
            <a:avLst/>
          </a:prstGeom>
          <a:solidFill>
            <a:srgbClr val="0C4A6E"/>
          </a:solidFill>
          <a:ln/>
        </p:spPr>
        <p:txBody>
          <a:bodyPr/>
          <a:lstStyle/>
          <a:p>
            <a:endParaRPr lang="en-GB"/>
          </a:p>
        </p:txBody>
      </p:sp>
      <p:sp>
        <p:nvSpPr>
          <p:cNvPr id="16" name="Text 14"/>
          <p:cNvSpPr/>
          <p:nvPr>
            <p:custDataLst>
              <p:tags r:id="rId16"/>
            </p:custDataLst>
          </p:nvPr>
        </p:nvSpPr>
        <p:spPr>
          <a:xfrm>
            <a:off x="868680" y="2774039"/>
            <a:ext cx="34290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Satisfaction</a:t>
            </a:r>
            <a:endParaRPr lang="en-US" sz="1400" dirty="0"/>
          </a:p>
        </p:txBody>
      </p:sp>
      <p:sp>
        <p:nvSpPr>
          <p:cNvPr id="17" name="Text 15"/>
          <p:cNvSpPr/>
          <p:nvPr>
            <p:custDataLst>
              <p:tags r:id="rId17"/>
            </p:custDataLst>
          </p:nvPr>
        </p:nvSpPr>
        <p:spPr>
          <a:xfrm>
            <a:off x="868680" y="3020927"/>
            <a:ext cx="342900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Light" pitchFamily="34" charset="0"/>
                <a:ea typeface="Calibri Light" pitchFamily="34" charset="-122"/>
                <a:cs typeface="Calibri Light" pitchFamily="34" charset="-120"/>
              </a:rPr>
              <a:t>Do customers with low meal ratings leave?</a:t>
            </a:r>
            <a:endParaRPr lang="en-US" sz="1000" dirty="0"/>
          </a:p>
        </p:txBody>
      </p:sp>
      <p:sp>
        <p:nvSpPr>
          <p:cNvPr id="18" name="Text 16"/>
          <p:cNvSpPr/>
          <p:nvPr>
            <p:custDataLst>
              <p:tags r:id="rId18"/>
            </p:custDataLst>
          </p:nvPr>
        </p:nvSpPr>
        <p:spPr>
          <a:xfrm>
            <a:off x="868680" y="3414119"/>
            <a:ext cx="3429000" cy="411480"/>
          </a:xfrm>
          <a:prstGeom prst="rect">
            <a:avLst/>
          </a:prstGeom>
          <a:noFill/>
          <a:ln/>
        </p:spPr>
        <p:txBody>
          <a:bodyPr wrap="square" lIns="0" tIns="0" rIns="0" bIns="0" rtlCol="0" anchor="ctr"/>
          <a:lstStyle/>
          <a:p>
            <a:pPr marL="0" indent="0">
              <a:buNone/>
            </a:pPr>
            <a:r>
              <a:rPr lang="en-US" sz="950" dirty="0">
                <a:solidFill>
                  <a:srgbClr val="0369A1"/>
                </a:solidFill>
                <a:latin typeface="Calibri" pitchFamily="34" charset="0"/>
                <a:ea typeface="Calibri" pitchFamily="34" charset="-122"/>
                <a:cs typeface="Calibri" pitchFamily="34" charset="-120"/>
              </a:rPr>
              <a:t>late_avg_rating, rating_trend,</a:t>
            </a:r>
            <a:endParaRPr lang="en-US" sz="950" dirty="0"/>
          </a:p>
          <a:p>
            <a:pPr marL="0" indent="0">
              <a:buNone/>
            </a:pPr>
            <a:r>
              <a:rPr lang="en-US" sz="950" dirty="0">
                <a:solidFill>
                  <a:srgbClr val="0369A1"/>
                </a:solidFill>
                <a:latin typeface="Calibri" pitchFamily="34" charset="0"/>
                <a:ea typeface="Calibri" pitchFamily="34" charset="-122"/>
                <a:cs typeface="Calibri" pitchFamily="34" charset="-120"/>
              </a:rPr>
              <a:t>rating_engagement_rate</a:t>
            </a:r>
            <a:endParaRPr lang="en-US" sz="950" dirty="0"/>
          </a:p>
        </p:txBody>
      </p:sp>
      <p:sp>
        <p:nvSpPr>
          <p:cNvPr id="19" name="Shape 17"/>
          <p:cNvSpPr/>
          <p:nvPr>
            <p:custDataLst>
              <p:tags r:id="rId19"/>
            </p:custDataLst>
          </p:nvPr>
        </p:nvSpPr>
        <p:spPr>
          <a:xfrm>
            <a:off x="4709160" y="2636879"/>
            <a:ext cx="3703320" cy="132588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20" name="Shape 18"/>
          <p:cNvSpPr/>
          <p:nvPr>
            <p:custDataLst>
              <p:tags r:id="rId20"/>
            </p:custDataLst>
          </p:nvPr>
        </p:nvSpPr>
        <p:spPr>
          <a:xfrm>
            <a:off x="4709160" y="2636879"/>
            <a:ext cx="3703320" cy="45720"/>
          </a:xfrm>
          <a:prstGeom prst="rect">
            <a:avLst/>
          </a:prstGeom>
          <a:solidFill>
            <a:srgbClr val="0C4A6E"/>
          </a:solidFill>
          <a:ln/>
        </p:spPr>
        <p:txBody>
          <a:bodyPr/>
          <a:lstStyle/>
          <a:p>
            <a:endParaRPr lang="en-GB"/>
          </a:p>
        </p:txBody>
      </p:sp>
      <p:sp>
        <p:nvSpPr>
          <p:cNvPr id="21" name="Text 19"/>
          <p:cNvSpPr/>
          <p:nvPr>
            <p:custDataLst>
              <p:tags r:id="rId21"/>
            </p:custDataLst>
          </p:nvPr>
        </p:nvSpPr>
        <p:spPr>
          <a:xfrm>
            <a:off x="4846320" y="2774039"/>
            <a:ext cx="3429000" cy="2286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Friction</a:t>
            </a:r>
            <a:endParaRPr lang="en-US" sz="1400" dirty="0"/>
          </a:p>
        </p:txBody>
      </p:sp>
      <p:sp>
        <p:nvSpPr>
          <p:cNvPr id="22" name="Text 20"/>
          <p:cNvSpPr/>
          <p:nvPr>
            <p:custDataLst>
              <p:tags r:id="rId22"/>
            </p:custDataLst>
          </p:nvPr>
        </p:nvSpPr>
        <p:spPr>
          <a:xfrm>
            <a:off x="4846320" y="3020927"/>
            <a:ext cx="3429000" cy="320040"/>
          </a:xfrm>
          <a:prstGeom prst="rect">
            <a:avLst/>
          </a:prstGeom>
          <a:noFill/>
          <a:ln/>
        </p:spPr>
        <p:txBody>
          <a:bodyPr wrap="square" lIns="0" tIns="0" rIns="0" bIns="0" rtlCol="0" anchor="ctr"/>
          <a:lstStyle/>
          <a:p>
            <a:pPr marL="0" indent="0">
              <a:buNone/>
            </a:pPr>
            <a:r>
              <a:rPr lang="en-US" sz="1000" i="1" dirty="0">
                <a:solidFill>
                  <a:srgbClr val="475569"/>
                </a:solidFill>
                <a:latin typeface="Calibri Light" pitchFamily="34" charset="0"/>
                <a:ea typeface="Calibri Light" pitchFamily="34" charset="-122"/>
                <a:cs typeface="Calibri Light" pitchFamily="34" charset="-120"/>
              </a:rPr>
              <a:t>Do unresolved support issues drive churn?</a:t>
            </a:r>
            <a:endParaRPr lang="en-US" sz="1000" dirty="0"/>
          </a:p>
        </p:txBody>
      </p:sp>
      <p:sp>
        <p:nvSpPr>
          <p:cNvPr id="23" name="Text 21"/>
          <p:cNvSpPr/>
          <p:nvPr>
            <p:custDataLst>
              <p:tags r:id="rId23"/>
            </p:custDataLst>
          </p:nvPr>
        </p:nvSpPr>
        <p:spPr>
          <a:xfrm>
            <a:off x="4846320" y="3414119"/>
            <a:ext cx="3429000" cy="411480"/>
          </a:xfrm>
          <a:prstGeom prst="rect">
            <a:avLst/>
          </a:prstGeom>
          <a:noFill/>
          <a:ln/>
        </p:spPr>
        <p:txBody>
          <a:bodyPr wrap="square" lIns="0" tIns="0" rIns="0" bIns="0" rtlCol="0" anchor="ctr"/>
          <a:lstStyle/>
          <a:p>
            <a:pPr marL="0" indent="0">
              <a:buNone/>
            </a:pPr>
            <a:r>
              <a:rPr lang="en-US" sz="950" dirty="0">
                <a:solidFill>
                  <a:srgbClr val="0369A1"/>
                </a:solidFill>
                <a:latin typeface="Calibri" pitchFamily="34" charset="0"/>
                <a:ea typeface="Calibri" pitchFamily="34" charset="-122"/>
                <a:cs typeface="Calibri" pitchFamily="34" charset="-120"/>
              </a:rPr>
              <a:t>total_tickets, delivery_complaints,</a:t>
            </a:r>
            <a:endParaRPr lang="en-US" sz="950" dirty="0"/>
          </a:p>
          <a:p>
            <a:pPr marL="0" indent="0">
              <a:buNone/>
            </a:pPr>
            <a:r>
              <a:rPr lang="en-US" sz="950" dirty="0">
                <a:solidFill>
                  <a:srgbClr val="0369A1"/>
                </a:solidFill>
                <a:latin typeface="Calibri" pitchFamily="34" charset="0"/>
                <a:ea typeface="Calibri" pitchFamily="34" charset="-122"/>
                <a:cs typeface="Calibri" pitchFamily="34" charset="-120"/>
              </a:rPr>
              <a:t>avg_resolution_days</a:t>
            </a:r>
            <a:endParaRPr lang="en-US" sz="950" dirty="0"/>
          </a:p>
        </p:txBody>
      </p:sp>
      <p:sp>
        <p:nvSpPr>
          <p:cNvPr id="24" name="Shape 22"/>
          <p:cNvSpPr/>
          <p:nvPr>
            <p:custDataLst>
              <p:tags r:id="rId24"/>
            </p:custDataLst>
          </p:nvPr>
        </p:nvSpPr>
        <p:spPr>
          <a:xfrm>
            <a:off x="731520" y="4237079"/>
            <a:ext cx="7680960" cy="442319"/>
          </a:xfrm>
          <a:prstGeom prst="rect">
            <a:avLst/>
          </a:prstGeom>
          <a:solidFill>
            <a:srgbClr val="0F1629"/>
          </a:solidFill>
          <a:ln/>
        </p:spPr>
        <p:txBody>
          <a:bodyPr/>
          <a:lstStyle/>
          <a:p>
            <a:endParaRPr lang="en-GB"/>
          </a:p>
        </p:txBody>
      </p:sp>
      <p:sp>
        <p:nvSpPr>
          <p:cNvPr id="25" name="Text 23"/>
          <p:cNvSpPr/>
          <p:nvPr>
            <p:custDataLst>
              <p:tags r:id="rId25"/>
            </p:custDataLst>
          </p:nvPr>
        </p:nvSpPr>
        <p:spPr>
          <a:xfrm>
            <a:off x="914400" y="4237079"/>
            <a:ext cx="7315200" cy="442319"/>
          </a:xfrm>
          <a:prstGeom prst="rect">
            <a:avLst/>
          </a:prstGeom>
          <a:noFill/>
          <a:ln/>
        </p:spPr>
        <p:txBody>
          <a:bodyPr wrap="square" lIns="0" tIns="0" rIns="0" bIns="0"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Result: </a:t>
            </a:r>
            <a:r>
              <a:rPr lang="en-US" sz="1200" dirty="0">
                <a:solidFill>
                  <a:srgbClr val="FFFFFF"/>
                </a:solidFill>
                <a:latin typeface="Calibri Light" pitchFamily="34" charset="0"/>
                <a:ea typeface="Calibri Light" pitchFamily="34" charset="-122"/>
                <a:cs typeface="Calibri Light" pitchFamily="34" charset="-120"/>
              </a:rPr>
              <a:t>All top </a:t>
            </a:r>
            <a:r>
              <a:rPr lang="en-DK" sz="1200" dirty="0">
                <a:solidFill>
                  <a:srgbClr val="FFFFFF"/>
                </a:solidFill>
                <a:latin typeface="Calibri Light" pitchFamily="34" charset="0"/>
                <a:ea typeface="Calibri Light" pitchFamily="34" charset="-122"/>
                <a:cs typeface="Calibri Light" pitchFamily="34" charset="-120"/>
              </a:rPr>
              <a:t>4</a:t>
            </a:r>
            <a:r>
              <a:rPr lang="en-US" sz="1200" dirty="0">
                <a:solidFill>
                  <a:srgbClr val="FFFFFF"/>
                </a:solidFill>
                <a:latin typeface="Calibri Light" pitchFamily="34" charset="0"/>
                <a:ea typeface="Calibri Light" pitchFamily="34" charset="-122"/>
                <a:cs typeface="Calibri Light" pitchFamily="34" charset="-120"/>
              </a:rPr>
              <a:t> predictive features are protective. Higher engagement and loyalty = lower churn risk.</a:t>
            </a:r>
            <a:endParaRPr lang="en-US" sz="1300" dirty="0"/>
          </a:p>
        </p:txBody>
      </p:sp>
      <p:sp>
        <p:nvSpPr>
          <p:cNvPr id="26" name="TextBox 25">
            <a:extLst>
              <a:ext uri="{FF2B5EF4-FFF2-40B4-BE49-F238E27FC236}">
                <a16:creationId xmlns:a16="http://schemas.microsoft.com/office/drawing/2014/main" id="{DF7482B0-AAFB-4CF3-BB84-84B35646CC51}"/>
              </a:ext>
            </a:extLst>
          </p:cNvPr>
          <p:cNvSpPr txBox="1"/>
          <p:nvPr>
            <p:custDataLst>
              <p:tags r:id="rId26"/>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a:t>
            </a:r>
            <a:r>
              <a:rPr lang="en-GB" sz="1000" dirty="0">
                <a:solidFill>
                  <a:srgbClr val="475569"/>
                </a:solidFill>
                <a:latin typeface="Calibri Light" pitchFamily="34" charset="0"/>
                <a:ea typeface="Calibri Light" pitchFamily="34" charset="-122"/>
                <a:cs typeface="Calibri Light" pitchFamily="34" charset="-120"/>
              </a:rPr>
              <a:t>3</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Model Results</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Performance comparison across three approaches (202 churners in test set)</a:t>
            </a:r>
          </a:p>
        </p:txBody>
      </p:sp>
      <p:graphicFrame>
        <p:nvGraphicFramePr>
          <p:cNvPr id="6" name="Table 0"/>
          <p:cNvGraphicFramePr>
            <a:graphicFrameLocks noGrp="1"/>
          </p:cNvGraphicFramePr>
          <p:nvPr>
            <p:custDataLst>
              <p:tags r:id="rId4"/>
            </p:custDataLst>
            <p:extLst>
              <p:ext uri="{D42A27DB-BD31-4B8C-83A1-F6EECF244321}">
                <p14:modId xmlns:p14="http://schemas.microsoft.com/office/powerpoint/2010/main" val="3748176171"/>
              </p:ext>
            </p:extLst>
          </p:nvPr>
        </p:nvGraphicFramePr>
        <p:xfrm>
          <a:off x="731520" y="1188720"/>
          <a:ext cx="7680960" cy="1554480"/>
        </p:xfrm>
        <a:graphic>
          <a:graphicData uri="http://schemas.openxmlformats.org/drawingml/2006/table">
            <a:tbl>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743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Heuristic Baseline</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256032">
                <a:tc>
                  <a:txBody>
                    <a:bodyPr/>
                    <a:lstStyle/>
                    <a:p>
                      <a:pPr marL="0" indent="0">
                        <a:buNone/>
                      </a:pPr>
                      <a:r>
                        <a:rPr lang="en-US" sz="1000" b="1" dirty="0">
                          <a:solidFill>
                            <a:srgbClr val="1E293B"/>
                          </a:solidFill>
                          <a:latin typeface="Calibri Light" pitchFamily="34" charset="0"/>
                          <a:ea typeface="Calibri Light" pitchFamily="34" charset="-122"/>
                          <a:cs typeface="Calibri Light" pitchFamily="34" charset="-120"/>
                        </a:rPr>
                        <a:t>F1 Score</a:t>
                      </a:r>
                      <a:endParaRPr lang="en-US" sz="1000" b="1"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Light" pitchFamily="34" charset="0"/>
                          <a:ea typeface="Calibri Light" pitchFamily="34" charset="-122"/>
                          <a:cs typeface="Calibri Light" pitchFamily="34" charset="-120"/>
                        </a:rPr>
                        <a:t>0.764</a:t>
                      </a:r>
                      <a:endParaRPr lang="en-US" sz="1000" b="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0.993</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0.990</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000" b="1" dirty="0">
                          <a:solidFill>
                            <a:srgbClr val="1E293B"/>
                          </a:solidFill>
                          <a:latin typeface="Calibri Light" pitchFamily="34" charset="0"/>
                          <a:ea typeface="Calibri Light" pitchFamily="34" charset="-122"/>
                          <a:cs typeface="Calibri Light" pitchFamily="34" charset="-120"/>
                        </a:rPr>
                        <a:t>Precision</a:t>
                      </a:r>
                      <a:endParaRPr lang="en-US" sz="1000" b="1"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Light" pitchFamily="34" charset="0"/>
                          <a:ea typeface="Calibri Light" pitchFamily="34" charset="-122"/>
                          <a:cs typeface="Calibri Light" pitchFamily="34" charset="-120"/>
                        </a:rPr>
                        <a:t>80.3%</a:t>
                      </a:r>
                      <a:endParaRPr lang="en-US" sz="1000" b="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99.5%</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98.1%</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000" b="1" dirty="0">
                          <a:solidFill>
                            <a:srgbClr val="1E293B"/>
                          </a:solidFill>
                          <a:latin typeface="Calibri Light" pitchFamily="34" charset="0"/>
                          <a:ea typeface="Calibri Light" pitchFamily="34" charset="-122"/>
                          <a:cs typeface="Calibri Light" pitchFamily="34" charset="-120"/>
                        </a:rPr>
                        <a:t>Recall</a:t>
                      </a:r>
                      <a:endParaRPr lang="en-US" sz="1000" b="1"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Light" pitchFamily="34" charset="0"/>
                          <a:ea typeface="Calibri Light" pitchFamily="34" charset="-122"/>
                          <a:cs typeface="Calibri Light" pitchFamily="34" charset="-120"/>
                        </a:rPr>
                        <a:t>72.8%</a:t>
                      </a:r>
                      <a:endParaRPr lang="en-US" sz="1000" b="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99.0%</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100.0%</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000" b="1" dirty="0">
                          <a:solidFill>
                            <a:srgbClr val="1E293B"/>
                          </a:solidFill>
                          <a:latin typeface="Calibri Light" pitchFamily="34" charset="0"/>
                          <a:ea typeface="Calibri Light" pitchFamily="34" charset="-122"/>
                          <a:cs typeface="Calibri Light" pitchFamily="34" charset="-120"/>
                        </a:rPr>
                        <a:t>AUC-ROC</a:t>
                      </a:r>
                      <a:endParaRPr lang="en-US" sz="1000" b="1"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Light" pitchFamily="34" charset="0"/>
                          <a:ea typeface="Calibri Light" pitchFamily="34" charset="-122"/>
                          <a:cs typeface="Calibri Light" pitchFamily="34" charset="-120"/>
                        </a:rPr>
                        <a:t>N/A</a:t>
                      </a:r>
                      <a:endParaRPr lang="en-US" sz="1000" b="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0.9991</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0.9990</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1000" b="1" dirty="0">
                          <a:solidFill>
                            <a:srgbClr val="1E293B"/>
                          </a:solidFill>
                          <a:latin typeface="Calibri Light" pitchFamily="34" charset="0"/>
                          <a:ea typeface="Calibri Light" pitchFamily="34" charset="-122"/>
                          <a:cs typeface="Calibri Light" pitchFamily="34" charset="-120"/>
                        </a:rPr>
                        <a:t>Churners missed</a:t>
                      </a:r>
                      <a:endParaRPr lang="en-US" sz="1000" b="1"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DC2626"/>
                          </a:solidFill>
                          <a:latin typeface="Calibri Light" pitchFamily="34" charset="0"/>
                          <a:ea typeface="Calibri Light" pitchFamily="34" charset="-122"/>
                          <a:cs typeface="Calibri Light" pitchFamily="34" charset="-120"/>
                        </a:rPr>
                        <a:t>55 of 202</a:t>
                      </a:r>
                      <a:endParaRPr lang="en-US" sz="1000" b="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E293B"/>
                          </a:solidFill>
                          <a:latin typeface="Calibri" pitchFamily="34" charset="0"/>
                          <a:ea typeface="Calibri" pitchFamily="34" charset="-122"/>
                          <a:cs typeface="Calibri" pitchFamily="34" charset="-120"/>
                        </a:rPr>
                        <a:t>2 of 202</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0" dirty="0">
                          <a:solidFill>
                            <a:srgbClr val="16A34A"/>
                          </a:solidFill>
                          <a:latin typeface="Calibri" pitchFamily="34" charset="0"/>
                          <a:ea typeface="Calibri" pitchFamily="34" charset="-122"/>
                          <a:cs typeface="Calibri" pitchFamily="34" charset="-120"/>
                        </a:rPr>
                        <a:t>0 of 202</a:t>
                      </a:r>
                      <a:endParaRPr lang="en-US" sz="1000" b="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custDataLst>
              <p:tags r:id="rId5"/>
            </p:custDataLst>
          </p:nvPr>
        </p:nvSpPr>
        <p:spPr>
          <a:xfrm>
            <a:off x="731520" y="2971800"/>
            <a:ext cx="370332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Top 5 Churn Predictors (Logistic Regression)</a:t>
            </a:r>
            <a:endParaRPr lang="en-US" sz="1400" dirty="0"/>
          </a:p>
        </p:txBody>
      </p:sp>
      <p:graphicFrame>
        <p:nvGraphicFramePr>
          <p:cNvPr id="11" name="Table 1"/>
          <p:cNvGraphicFramePr>
            <a:graphicFrameLocks noGrp="1"/>
          </p:cNvGraphicFramePr>
          <p:nvPr>
            <p:custDataLst>
              <p:tags r:id="rId6"/>
            </p:custDataLst>
            <p:extLst>
              <p:ext uri="{D42A27DB-BD31-4B8C-83A1-F6EECF244321}">
                <p14:modId xmlns:p14="http://schemas.microsoft.com/office/powerpoint/2010/main" val="1579011935"/>
              </p:ext>
            </p:extLst>
          </p:nvPr>
        </p:nvGraphicFramePr>
        <p:xfrm>
          <a:off x="731520" y="3246120"/>
          <a:ext cx="3703320" cy="1140968"/>
        </p:xfrm>
        <a:graphic>
          <a:graphicData uri="http://schemas.openxmlformats.org/drawingml/2006/table">
            <a:tbl>
              <a:tblPr/>
              <a:tblGrid>
                <a:gridCol w="365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20116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Effect</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1</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total_orders</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Decreases churn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2</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order_completion_rate</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Decreases churn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3</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lifetime_recipes_rated</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Decreases churn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4</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frequency_trend</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Decreases churn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82880">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5</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late_order_freq</a:t>
                      </a:r>
                      <a:endParaRPr lang="en-US" sz="900" dirty="0">
                        <a:latin typeface="Calibri" charset="0"/>
                        <a:ea typeface="Calibri" charset="0"/>
                        <a:cs typeface="Calibri"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Light" pitchFamily="34" charset="0"/>
                          <a:ea typeface="Calibri Light" pitchFamily="34" charset="-122"/>
                          <a:cs typeface="Calibri Light" pitchFamily="34" charset="-120"/>
                        </a:rPr>
                        <a:t>Decreases churn</a:t>
                      </a:r>
                      <a:endParaRPr lang="en-US" sz="900" dirty="0">
                        <a:latin typeface="Calibri Light" charset="0"/>
                        <a:ea typeface="Calibri Light" charset="0"/>
                        <a:cs typeface="Calibri Light" charset="0"/>
                      </a:endParaRPr>
                    </a:p>
                  </a:txBody>
                  <a:tcPr marL="63500" marR="635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custDataLst>
              <p:tags r:id="rId7"/>
            </p:custDataLst>
          </p:nvPr>
        </p:nvSpPr>
        <p:spPr>
          <a:xfrm>
            <a:off x="4709160" y="2971800"/>
            <a:ext cx="370332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Deployment Recommendation</a:t>
            </a:r>
            <a:endParaRPr lang="en-US" sz="1400" dirty="0"/>
          </a:p>
        </p:txBody>
      </p:sp>
      <p:sp>
        <p:nvSpPr>
          <p:cNvPr id="8" name="Shape 4"/>
          <p:cNvSpPr/>
          <p:nvPr>
            <p:custDataLst>
              <p:tags r:id="rId8"/>
            </p:custDataLst>
          </p:nvPr>
        </p:nvSpPr>
        <p:spPr>
          <a:xfrm>
            <a:off x="4709160" y="3291840"/>
            <a:ext cx="3703320" cy="150876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9" name="Text 5"/>
          <p:cNvSpPr/>
          <p:nvPr>
            <p:custDataLst>
              <p:tags r:id="rId9"/>
            </p:custDataLst>
          </p:nvPr>
        </p:nvSpPr>
        <p:spPr>
          <a:xfrm>
            <a:off x="4846320" y="3364992"/>
            <a:ext cx="3429000" cy="1325880"/>
          </a:xfrm>
          <a:prstGeom prst="rect">
            <a:avLst/>
          </a:prstGeom>
          <a:noFill/>
          <a:ln/>
        </p:spPr>
        <p:txBody>
          <a:bodyPr wrap="square" lIns="0" tIns="0" rIns="0" bIns="0" rtlCol="0" anchor="ctr"/>
          <a:lstStyle/>
          <a:p>
            <a:r>
              <a:rPr lang="en-DK" sz="1100" b="1" dirty="0">
                <a:solidFill>
                  <a:srgbClr val="0EA5E9"/>
                </a:solidFill>
                <a:latin typeface="Calibri" pitchFamily="34" charset="0"/>
                <a:ea typeface="Calibri" pitchFamily="34" charset="-122"/>
                <a:cs typeface="Calibri" pitchFamily="34" charset="-120"/>
              </a:rPr>
              <a:t>Week 4-6: Retention Pilot</a:t>
            </a:r>
            <a:r>
              <a:rPr lang="en-US" sz="1100" b="1" dirty="0">
                <a:solidFill>
                  <a:srgbClr val="0EA5E9"/>
                </a:solidFill>
                <a:latin typeface="Calibri" pitchFamily="34" charset="0"/>
                <a:ea typeface="Calibri" pitchFamily="34" charset="-122"/>
                <a:cs typeface="Calibri" pitchFamily="34" charset="-120"/>
              </a:rPr>
              <a:t>
</a:t>
            </a:r>
            <a:r>
              <a:rPr lang="en-GB" sz="950" dirty="0">
                <a:solidFill>
                  <a:srgbClr val="475569"/>
                </a:solidFill>
                <a:latin typeface="Calibri Light" pitchFamily="34" charset="0"/>
                <a:ea typeface="Calibri Light" pitchFamily="34" charset="-122"/>
                <a:cs typeface="Calibri Light" pitchFamily="34" charset="-120"/>
              </a:rPr>
              <a:t>Every flag explains why that customer is at risk. Retention team begins outreach from Week 4. Go/no-go at end of Week 6: proceed to CRM integration if 2</a:t>
            </a:r>
            <a:r>
              <a:rPr lang="en-DK" sz="950" dirty="0">
                <a:solidFill>
                  <a:srgbClr val="475569"/>
                </a:solidFill>
                <a:latin typeface="Calibri Light" pitchFamily="34" charset="0"/>
                <a:ea typeface="Calibri Light" pitchFamily="34" charset="-122"/>
                <a:cs typeface="Calibri Light" pitchFamily="34" charset="-120"/>
              </a:rPr>
              <a:t>5</a:t>
            </a:r>
            <a:r>
              <a:rPr lang="en-GB" sz="950" dirty="0">
                <a:solidFill>
                  <a:srgbClr val="475569"/>
                </a:solidFill>
                <a:latin typeface="Calibri Light" pitchFamily="34" charset="0"/>
                <a:ea typeface="Calibri Light" pitchFamily="34" charset="-122"/>
                <a:cs typeface="Calibri Light" pitchFamily="34" charset="-120"/>
              </a:rPr>
              <a:t>%+ response rate within 7 days.</a:t>
            </a:r>
            <a:r>
              <a:rPr lang="en-US" sz="950" dirty="0">
                <a:solidFill>
                  <a:srgbClr val="475569"/>
                </a:solidFill>
                <a:latin typeface="Calibri Light" pitchFamily="34" charset="0"/>
                <a:ea typeface="Calibri Light" pitchFamily="34" charset="-122"/>
                <a:cs typeface="Calibri Light" pitchFamily="34" charset="-120"/>
              </a:rPr>
              <a:t>
</a:t>
            </a:r>
            <a:r>
              <a:rPr lang="en-DK" sz="1100" b="1" dirty="0">
                <a:solidFill>
                  <a:srgbClr val="0EA5E9"/>
                </a:solidFill>
                <a:latin typeface="Calibri" pitchFamily="34" charset="0"/>
                <a:ea typeface="Calibri" pitchFamily="34" charset="-122"/>
                <a:cs typeface="Calibri" pitchFamily="34" charset="-120"/>
              </a:rPr>
              <a:t>Week 7-10: CRM Integration</a:t>
            </a:r>
            <a:r>
              <a:rPr lang="en-US" sz="1100" b="1" dirty="0">
                <a:solidFill>
                  <a:srgbClr val="0EA5E9"/>
                </a:solidFill>
                <a:latin typeface="Calibri" pitchFamily="34" charset="0"/>
                <a:ea typeface="Calibri" pitchFamily="34" charset="-122"/>
                <a:cs typeface="Calibri" pitchFamily="34" charset="-120"/>
              </a:rPr>
              <a:t>
</a:t>
            </a:r>
            <a:r>
              <a:rPr lang="en-GB" sz="950" dirty="0">
                <a:solidFill>
                  <a:srgbClr val="475569"/>
                </a:solidFill>
                <a:latin typeface="Calibri Light" pitchFamily="34" charset="0"/>
                <a:ea typeface="Calibri Light" pitchFamily="34" charset="-122"/>
                <a:cs typeface="Calibri Light" pitchFamily="34" charset="-120"/>
              </a:rPr>
              <a:t>Scoring pipeline integrated into CRM. A/B test runs to determine </a:t>
            </a:r>
            <a:r>
              <a:rPr lang="en-DK" sz="950" dirty="0">
                <a:solidFill>
                  <a:srgbClr val="475569"/>
                </a:solidFill>
                <a:latin typeface="Calibri Light" pitchFamily="34" charset="0"/>
                <a:ea typeface="Calibri Light" pitchFamily="34" charset="-122"/>
                <a:cs typeface="Calibri Light" pitchFamily="34" charset="-120"/>
              </a:rPr>
              <a:t>the best retention strategies over time</a:t>
            </a:r>
            <a:r>
              <a:rPr lang="en-GB" sz="950" dirty="0">
                <a:solidFill>
                  <a:srgbClr val="475569"/>
                </a:solidFill>
                <a:latin typeface="Calibri Light" pitchFamily="34" charset="0"/>
                <a:ea typeface="Calibri Light" pitchFamily="34" charset="-122"/>
                <a:cs typeface="Calibri Light" pitchFamily="34" charset="-120"/>
              </a:rPr>
              <a:t>. Team trained, monitoring and retraining schedule established.</a:t>
            </a:r>
            <a:endParaRPr lang="en-US" sz="1100" dirty="0"/>
          </a:p>
        </p:txBody>
      </p:sp>
      <p:sp>
        <p:nvSpPr>
          <p:cNvPr id="4" name="TextBox 3">
            <a:extLst>
              <a:ext uri="{FF2B5EF4-FFF2-40B4-BE49-F238E27FC236}">
                <a16:creationId xmlns:a16="http://schemas.microsoft.com/office/drawing/2014/main" id="{1803C9C0-64C5-654D-D1AC-759874C38C4F}"/>
              </a:ext>
            </a:extLst>
          </p:cNvPr>
          <p:cNvSpPr txBox="1"/>
          <p:nvPr>
            <p:custDataLst>
              <p:tags r:id="rId10"/>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a:t>
            </a:r>
            <a:r>
              <a:rPr lang="en-GB" sz="1000" dirty="0">
                <a:solidFill>
                  <a:srgbClr val="475569"/>
                </a:solidFill>
                <a:latin typeface="Calibri Light" pitchFamily="34" charset="0"/>
                <a:ea typeface="Calibri Light" pitchFamily="34" charset="-122"/>
                <a:cs typeface="Calibri Light" pitchFamily="34" charset="-120"/>
              </a:rPr>
              <a:t>4</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Churn Risk Segmentation</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5,000 customers flagged per week (top 6.25% of the 80,000 subscriber base), segmented into three risk tiers</a:t>
            </a:r>
          </a:p>
        </p:txBody>
      </p:sp>
      <p:sp>
        <p:nvSpPr>
          <p:cNvPr id="4" name="Shape 2"/>
          <p:cNvSpPr/>
          <p:nvPr>
            <p:custDataLst>
              <p:tags r:id="rId4"/>
            </p:custDataLst>
          </p:nvPr>
        </p:nvSpPr>
        <p:spPr>
          <a:xfrm>
            <a:off x="731520" y="1142292"/>
            <a:ext cx="2404872" cy="25146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Shape 3"/>
          <p:cNvSpPr/>
          <p:nvPr>
            <p:custDataLst>
              <p:tags r:id="rId5"/>
            </p:custDataLst>
          </p:nvPr>
        </p:nvSpPr>
        <p:spPr>
          <a:xfrm>
            <a:off x="731520" y="1142292"/>
            <a:ext cx="2404872" cy="54864"/>
          </a:xfrm>
          <a:prstGeom prst="rect">
            <a:avLst/>
          </a:prstGeom>
          <a:solidFill>
            <a:srgbClr val="DC2626"/>
          </a:solidFill>
          <a:ln/>
        </p:spPr>
        <p:txBody>
          <a:bodyPr/>
          <a:lstStyle/>
          <a:p>
            <a:endParaRPr lang="en-GB"/>
          </a:p>
        </p:txBody>
      </p:sp>
      <p:sp>
        <p:nvSpPr>
          <p:cNvPr id="6" name="Text 4"/>
          <p:cNvSpPr/>
          <p:nvPr>
            <p:custDataLst>
              <p:tags r:id="rId6"/>
            </p:custDataLst>
          </p:nvPr>
        </p:nvSpPr>
        <p:spPr>
          <a:xfrm>
            <a:off x="868680" y="1325172"/>
            <a:ext cx="2130552"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Tier 1: High Risk</a:t>
            </a:r>
            <a:endParaRPr lang="en-US" sz="1200" dirty="0"/>
          </a:p>
        </p:txBody>
      </p:sp>
      <p:sp>
        <p:nvSpPr>
          <p:cNvPr id="7" name="Text 5"/>
          <p:cNvSpPr/>
          <p:nvPr>
            <p:custDataLst>
              <p:tags r:id="rId7"/>
            </p:custDataLst>
          </p:nvPr>
        </p:nvSpPr>
        <p:spPr>
          <a:xfrm>
            <a:off x="868680" y="1572060"/>
            <a:ext cx="2130552" cy="182880"/>
          </a:xfrm>
          <a:prstGeom prst="rect">
            <a:avLst/>
          </a:prstGeom>
          <a:noFill/>
          <a:ln/>
        </p:spPr>
        <p:txBody>
          <a:bodyPr wrap="square" lIns="0" tIns="0" rIns="0" bIns="0" rtlCol="0" anchor="ctr"/>
          <a:lstStyle/>
          <a:p>
            <a:pPr marL="0" indent="0">
              <a:buNone/>
            </a:pPr>
            <a:r>
              <a:rPr lang="en-US" sz="900" i="1" dirty="0">
                <a:solidFill>
                  <a:srgbClr val="DC2626"/>
                </a:solidFill>
                <a:latin typeface="Calibri" pitchFamily="34" charset="0"/>
                <a:ea typeface="Calibri" pitchFamily="34" charset="-122"/>
                <a:cs typeface="Calibri" pitchFamily="34" charset="-120"/>
              </a:rPr>
              <a:t>Churn probability &gt; </a:t>
            </a:r>
            <a:r>
              <a:rPr lang="en-DK" sz="900" i="1" dirty="0">
                <a:solidFill>
                  <a:srgbClr val="DC2626"/>
                </a:solidFill>
                <a:latin typeface="Calibri" pitchFamily="34" charset="0"/>
                <a:ea typeface="Calibri" pitchFamily="34" charset="-122"/>
                <a:cs typeface="Calibri" pitchFamily="34" charset="-120"/>
              </a:rPr>
              <a:t>80%</a:t>
            </a:r>
            <a:endParaRPr lang="en-US" sz="900" dirty="0"/>
          </a:p>
        </p:txBody>
      </p:sp>
      <p:sp>
        <p:nvSpPr>
          <p:cNvPr id="8" name="Text 6"/>
          <p:cNvSpPr/>
          <p:nvPr>
            <p:custDataLst>
              <p:tags r:id="rId8"/>
            </p:custDataLst>
          </p:nvPr>
        </p:nvSpPr>
        <p:spPr>
          <a:xfrm>
            <a:off x="868680" y="1782372"/>
            <a:ext cx="2130552"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~500 customers/week</a:t>
            </a:r>
            <a:endParaRPr lang="en-US" sz="1600" dirty="0"/>
          </a:p>
        </p:txBody>
      </p:sp>
      <p:sp>
        <p:nvSpPr>
          <p:cNvPr id="9" name="Text 7"/>
          <p:cNvSpPr/>
          <p:nvPr>
            <p:custDataLst>
              <p:tags r:id="rId9"/>
            </p:custDataLst>
          </p:nvPr>
        </p:nvSpPr>
        <p:spPr>
          <a:xfrm>
            <a:off x="868680" y="2102412"/>
            <a:ext cx="2130552"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Expected save rate: 20-30%</a:t>
            </a:r>
            <a:endParaRPr lang="en-US" sz="1000" dirty="0"/>
          </a:p>
        </p:txBody>
      </p:sp>
      <p:sp>
        <p:nvSpPr>
          <p:cNvPr id="10" name="Text 8"/>
          <p:cNvSpPr/>
          <p:nvPr>
            <p:custDataLst>
              <p:tags r:id="rId10"/>
            </p:custDataLst>
          </p:nvPr>
        </p:nvSpPr>
        <p:spPr>
          <a:xfrm>
            <a:off x="868680" y="2422452"/>
            <a:ext cx="2130552" cy="822960"/>
          </a:xfrm>
          <a:prstGeom prst="rect">
            <a:avLst/>
          </a:prstGeom>
          <a:noFill/>
          <a:ln/>
        </p:spPr>
        <p:txBody>
          <a:bodyPr wrap="square" lIns="0" tIns="0" rIns="0" bIns="0" rtlCol="0" anchor="t"/>
          <a:lstStyle/>
          <a:p>
            <a:pPr marL="0" indent="0">
              <a:buNone/>
            </a:pPr>
            <a:r>
              <a:rPr lang="en-US" sz="950" dirty="0">
                <a:solidFill>
                  <a:srgbClr val="475569"/>
                </a:solidFill>
                <a:latin typeface="Calibri Light" pitchFamily="34" charset="0"/>
                <a:ea typeface="Calibri Light" pitchFamily="34" charset="-122"/>
                <a:cs typeface="Calibri Light" pitchFamily="34" charset="-120"/>
              </a:rPr>
              <a:t>Immediate intervention required.</a:t>
            </a:r>
            <a:endParaRPr lang="en-US" sz="950" dirty="0"/>
          </a:p>
          <a:p>
            <a:pPr marL="0" indent="0">
              <a:buNone/>
            </a:pPr>
            <a:r>
              <a:rPr lang="en-US" sz="950" dirty="0">
                <a:solidFill>
                  <a:srgbClr val="475569"/>
                </a:solidFill>
                <a:latin typeface="Calibri Light" pitchFamily="34" charset="0"/>
                <a:ea typeface="Calibri Light" pitchFamily="34" charset="-122"/>
                <a:cs typeface="Calibri Light" pitchFamily="34" charset="-120"/>
              </a:rPr>
              <a:t>Declined frequency, low ratings,</a:t>
            </a:r>
            <a:endParaRPr lang="en-US" sz="950" dirty="0"/>
          </a:p>
          <a:p>
            <a:pPr marL="0" indent="0">
              <a:buNone/>
            </a:pPr>
            <a:r>
              <a:rPr lang="en-US" sz="950" dirty="0">
                <a:solidFill>
                  <a:srgbClr val="475569"/>
                </a:solidFill>
                <a:latin typeface="Calibri Light" pitchFamily="34" charset="0"/>
                <a:ea typeface="Calibri Light" pitchFamily="34" charset="-122"/>
                <a:cs typeface="Calibri Light" pitchFamily="34" charset="-120"/>
              </a:rPr>
              <a:t>2+ support tickets.</a:t>
            </a:r>
            <a:endParaRPr lang="en-US" sz="950" dirty="0"/>
          </a:p>
        </p:txBody>
      </p:sp>
      <p:sp>
        <p:nvSpPr>
          <p:cNvPr id="11" name="Shape 9"/>
          <p:cNvSpPr/>
          <p:nvPr>
            <p:custDataLst>
              <p:tags r:id="rId11"/>
            </p:custDataLst>
          </p:nvPr>
        </p:nvSpPr>
        <p:spPr>
          <a:xfrm>
            <a:off x="3410712" y="1142292"/>
            <a:ext cx="2404872" cy="25146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2" name="Shape 10"/>
          <p:cNvSpPr/>
          <p:nvPr>
            <p:custDataLst>
              <p:tags r:id="rId12"/>
            </p:custDataLst>
          </p:nvPr>
        </p:nvSpPr>
        <p:spPr>
          <a:xfrm>
            <a:off x="3410712" y="1142292"/>
            <a:ext cx="2404872" cy="54864"/>
          </a:xfrm>
          <a:prstGeom prst="rect">
            <a:avLst/>
          </a:prstGeom>
          <a:solidFill>
            <a:srgbClr val="F59E0B"/>
          </a:solidFill>
          <a:ln/>
        </p:spPr>
        <p:txBody>
          <a:bodyPr/>
          <a:lstStyle/>
          <a:p>
            <a:endParaRPr lang="en-GB"/>
          </a:p>
        </p:txBody>
      </p:sp>
      <p:sp>
        <p:nvSpPr>
          <p:cNvPr id="13" name="Text 11"/>
          <p:cNvSpPr/>
          <p:nvPr>
            <p:custDataLst>
              <p:tags r:id="rId13"/>
            </p:custDataLst>
          </p:nvPr>
        </p:nvSpPr>
        <p:spPr>
          <a:xfrm>
            <a:off x="3547872" y="1325172"/>
            <a:ext cx="2130552"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Tier 2: Medium Risk</a:t>
            </a:r>
            <a:endParaRPr lang="en-US" sz="1200" dirty="0"/>
          </a:p>
        </p:txBody>
      </p:sp>
      <p:sp>
        <p:nvSpPr>
          <p:cNvPr id="14" name="Text 12"/>
          <p:cNvSpPr/>
          <p:nvPr>
            <p:custDataLst>
              <p:tags r:id="rId14"/>
            </p:custDataLst>
          </p:nvPr>
        </p:nvSpPr>
        <p:spPr>
          <a:xfrm>
            <a:off x="3547872" y="1572060"/>
            <a:ext cx="2130552" cy="182880"/>
          </a:xfrm>
          <a:prstGeom prst="rect">
            <a:avLst/>
          </a:prstGeom>
          <a:noFill/>
          <a:ln/>
        </p:spPr>
        <p:txBody>
          <a:bodyPr wrap="square" lIns="0" tIns="0" rIns="0" bIns="0" rtlCol="0" anchor="ctr"/>
          <a:lstStyle/>
          <a:p>
            <a:pPr marL="0" indent="0">
              <a:buNone/>
            </a:pPr>
            <a:r>
              <a:rPr lang="en-US" sz="900" i="1" dirty="0">
                <a:solidFill>
                  <a:srgbClr val="F59E0B"/>
                </a:solidFill>
                <a:latin typeface="Calibri" pitchFamily="34" charset="0"/>
                <a:ea typeface="Calibri" pitchFamily="34" charset="-122"/>
                <a:cs typeface="Calibri" pitchFamily="34" charset="-120"/>
              </a:rPr>
              <a:t>Churn probability 5</a:t>
            </a:r>
            <a:r>
              <a:rPr lang="en-DK" sz="900" i="1" dirty="0">
                <a:solidFill>
                  <a:srgbClr val="F59E0B"/>
                </a:solidFill>
                <a:latin typeface="Calibri" pitchFamily="34" charset="0"/>
                <a:ea typeface="Calibri" pitchFamily="34" charset="-122"/>
                <a:cs typeface="Calibri" pitchFamily="34" charset="-120"/>
              </a:rPr>
              <a:t>0</a:t>
            </a:r>
            <a:r>
              <a:rPr lang="en-US" sz="900" i="1" dirty="0">
                <a:solidFill>
                  <a:srgbClr val="F59E0B"/>
                </a:solidFill>
                <a:latin typeface="Calibri" pitchFamily="34" charset="0"/>
                <a:ea typeface="Calibri" pitchFamily="34" charset="-122"/>
                <a:cs typeface="Calibri" pitchFamily="34" charset="-120"/>
              </a:rPr>
              <a:t>-</a:t>
            </a:r>
            <a:r>
              <a:rPr lang="en-DK" sz="900" i="1" dirty="0">
                <a:solidFill>
                  <a:srgbClr val="F59E0B"/>
                </a:solidFill>
                <a:latin typeface="Calibri" pitchFamily="34" charset="0"/>
                <a:ea typeface="Calibri" pitchFamily="34" charset="-122"/>
                <a:cs typeface="Calibri" pitchFamily="34" charset="-120"/>
              </a:rPr>
              <a:t>80%</a:t>
            </a:r>
            <a:endParaRPr lang="en-US" sz="900" dirty="0"/>
          </a:p>
        </p:txBody>
      </p:sp>
      <p:sp>
        <p:nvSpPr>
          <p:cNvPr id="15" name="Text 13"/>
          <p:cNvSpPr/>
          <p:nvPr>
            <p:custDataLst>
              <p:tags r:id="rId15"/>
            </p:custDataLst>
          </p:nvPr>
        </p:nvSpPr>
        <p:spPr>
          <a:xfrm>
            <a:off x="3547872" y="1782372"/>
            <a:ext cx="2130552"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~1,500 customers/week</a:t>
            </a:r>
            <a:endParaRPr lang="en-US" sz="1600" dirty="0"/>
          </a:p>
        </p:txBody>
      </p:sp>
      <p:sp>
        <p:nvSpPr>
          <p:cNvPr id="16" name="Text 14"/>
          <p:cNvSpPr/>
          <p:nvPr>
            <p:custDataLst>
              <p:tags r:id="rId16"/>
            </p:custDataLst>
          </p:nvPr>
        </p:nvSpPr>
        <p:spPr>
          <a:xfrm>
            <a:off x="3547872" y="2102412"/>
            <a:ext cx="2130552"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Expected save rate: 10-15%</a:t>
            </a:r>
            <a:endParaRPr lang="en-US" sz="1000" dirty="0"/>
          </a:p>
        </p:txBody>
      </p:sp>
      <p:sp>
        <p:nvSpPr>
          <p:cNvPr id="17" name="Text 15"/>
          <p:cNvSpPr/>
          <p:nvPr>
            <p:custDataLst>
              <p:tags r:id="rId17"/>
            </p:custDataLst>
          </p:nvPr>
        </p:nvSpPr>
        <p:spPr>
          <a:xfrm>
            <a:off x="3547872" y="2422452"/>
            <a:ext cx="2130552" cy="822960"/>
          </a:xfrm>
          <a:prstGeom prst="rect">
            <a:avLst/>
          </a:prstGeom>
          <a:noFill/>
          <a:ln/>
        </p:spPr>
        <p:txBody>
          <a:bodyPr wrap="square" lIns="0" tIns="0" rIns="0" bIns="0" rtlCol="0" anchor="t"/>
          <a:lstStyle/>
          <a:p>
            <a:pPr marL="0" indent="0">
              <a:buNone/>
            </a:pPr>
            <a:r>
              <a:rPr lang="en-US" sz="950" dirty="0">
                <a:solidFill>
                  <a:srgbClr val="475569"/>
                </a:solidFill>
                <a:latin typeface="Calibri Light" pitchFamily="34" charset="0"/>
                <a:ea typeface="Calibri Light" pitchFamily="34" charset="-122"/>
                <a:cs typeface="Calibri Light" pitchFamily="34" charset="-120"/>
              </a:rPr>
              <a:t>Proactive outreach recommended.</a:t>
            </a:r>
            <a:endParaRPr lang="en-US" sz="950" dirty="0"/>
          </a:p>
          <a:p>
            <a:pPr marL="0" indent="0">
              <a:buNone/>
            </a:pPr>
            <a:r>
              <a:rPr lang="en-US" sz="950" dirty="0">
                <a:solidFill>
                  <a:srgbClr val="475569"/>
                </a:solidFill>
                <a:latin typeface="Calibri Light" pitchFamily="34" charset="0"/>
                <a:ea typeface="Calibri Light" pitchFamily="34" charset="-122"/>
                <a:cs typeface="Calibri Light" pitchFamily="34" charset="-120"/>
              </a:rPr>
              <a:t>Early signs of disengagement,</a:t>
            </a:r>
            <a:endParaRPr lang="en-US" sz="950" dirty="0"/>
          </a:p>
          <a:p>
            <a:pPr marL="0" indent="0">
              <a:buNone/>
            </a:pPr>
            <a:r>
              <a:rPr lang="en-US" sz="950" dirty="0">
                <a:solidFill>
                  <a:srgbClr val="475569"/>
                </a:solidFill>
                <a:latin typeface="Calibri Light" pitchFamily="34" charset="0"/>
                <a:ea typeface="Calibri Light" pitchFamily="34" charset="-122"/>
                <a:cs typeface="Calibri Light" pitchFamily="34" charset="-120"/>
              </a:rPr>
              <a:t>increasing skip frequency.</a:t>
            </a:r>
            <a:endParaRPr lang="en-US" sz="950" dirty="0"/>
          </a:p>
        </p:txBody>
      </p:sp>
      <p:sp>
        <p:nvSpPr>
          <p:cNvPr id="18" name="Shape 16"/>
          <p:cNvSpPr/>
          <p:nvPr>
            <p:custDataLst>
              <p:tags r:id="rId18"/>
            </p:custDataLst>
          </p:nvPr>
        </p:nvSpPr>
        <p:spPr>
          <a:xfrm>
            <a:off x="6089904" y="1142292"/>
            <a:ext cx="2404872" cy="251460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9" name="Shape 17"/>
          <p:cNvSpPr/>
          <p:nvPr>
            <p:custDataLst>
              <p:tags r:id="rId19"/>
            </p:custDataLst>
          </p:nvPr>
        </p:nvSpPr>
        <p:spPr>
          <a:xfrm>
            <a:off x="6089904" y="1142292"/>
            <a:ext cx="2404872" cy="54864"/>
          </a:xfrm>
          <a:prstGeom prst="rect">
            <a:avLst/>
          </a:prstGeom>
          <a:solidFill>
            <a:srgbClr val="16A34A"/>
          </a:solidFill>
          <a:ln/>
        </p:spPr>
        <p:txBody>
          <a:bodyPr/>
          <a:lstStyle/>
          <a:p>
            <a:endParaRPr lang="en-GB"/>
          </a:p>
        </p:txBody>
      </p:sp>
      <p:sp>
        <p:nvSpPr>
          <p:cNvPr id="20" name="Text 18"/>
          <p:cNvSpPr/>
          <p:nvPr>
            <p:custDataLst>
              <p:tags r:id="rId20"/>
            </p:custDataLst>
          </p:nvPr>
        </p:nvSpPr>
        <p:spPr>
          <a:xfrm>
            <a:off x="6227064" y="1325172"/>
            <a:ext cx="2130552"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Tier 3: Low Risk</a:t>
            </a:r>
            <a:endParaRPr lang="en-US" sz="1200" dirty="0"/>
          </a:p>
        </p:txBody>
      </p:sp>
      <p:sp>
        <p:nvSpPr>
          <p:cNvPr id="21" name="Text 19"/>
          <p:cNvSpPr/>
          <p:nvPr>
            <p:custDataLst>
              <p:tags r:id="rId21"/>
            </p:custDataLst>
          </p:nvPr>
        </p:nvSpPr>
        <p:spPr>
          <a:xfrm>
            <a:off x="6227064" y="1572060"/>
            <a:ext cx="2130552" cy="182880"/>
          </a:xfrm>
          <a:prstGeom prst="rect">
            <a:avLst/>
          </a:prstGeom>
          <a:noFill/>
          <a:ln/>
        </p:spPr>
        <p:txBody>
          <a:bodyPr wrap="square" lIns="0" tIns="0" rIns="0" bIns="0" rtlCol="0" anchor="ctr"/>
          <a:lstStyle/>
          <a:p>
            <a:pPr marL="0" indent="0">
              <a:buNone/>
            </a:pPr>
            <a:r>
              <a:rPr lang="en-US" sz="900" i="1" dirty="0">
                <a:solidFill>
                  <a:srgbClr val="16A34A"/>
                </a:solidFill>
                <a:latin typeface="Calibri" pitchFamily="34" charset="0"/>
                <a:ea typeface="Calibri" pitchFamily="34" charset="-122"/>
                <a:cs typeface="Calibri" pitchFamily="34" charset="-120"/>
              </a:rPr>
              <a:t>Churn probability 3</a:t>
            </a:r>
            <a:r>
              <a:rPr lang="en-DK" sz="900" i="1" dirty="0">
                <a:solidFill>
                  <a:srgbClr val="16A34A"/>
                </a:solidFill>
                <a:latin typeface="Calibri" pitchFamily="34" charset="0"/>
                <a:ea typeface="Calibri" pitchFamily="34" charset="-122"/>
                <a:cs typeface="Calibri" pitchFamily="34" charset="-120"/>
              </a:rPr>
              <a:t>0-</a:t>
            </a:r>
            <a:r>
              <a:rPr lang="en-US" sz="900" i="1" dirty="0">
                <a:solidFill>
                  <a:srgbClr val="16A34A"/>
                </a:solidFill>
                <a:latin typeface="Calibri" pitchFamily="34" charset="0"/>
                <a:ea typeface="Calibri" pitchFamily="34" charset="-122"/>
                <a:cs typeface="Calibri" pitchFamily="34" charset="-120"/>
              </a:rPr>
              <a:t>5</a:t>
            </a:r>
            <a:r>
              <a:rPr lang="en-DK" sz="900" i="1" dirty="0">
                <a:solidFill>
                  <a:srgbClr val="16A34A"/>
                </a:solidFill>
                <a:latin typeface="Calibri" pitchFamily="34" charset="0"/>
                <a:ea typeface="Calibri" pitchFamily="34" charset="-122"/>
                <a:cs typeface="Calibri" pitchFamily="34" charset="-120"/>
              </a:rPr>
              <a:t>0%</a:t>
            </a:r>
            <a:endParaRPr lang="en-US" sz="900" dirty="0"/>
          </a:p>
        </p:txBody>
      </p:sp>
      <p:sp>
        <p:nvSpPr>
          <p:cNvPr id="22" name="Text 20"/>
          <p:cNvSpPr/>
          <p:nvPr>
            <p:custDataLst>
              <p:tags r:id="rId22"/>
            </p:custDataLst>
          </p:nvPr>
        </p:nvSpPr>
        <p:spPr>
          <a:xfrm>
            <a:off x="6227064" y="1782372"/>
            <a:ext cx="2130552"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~3,000 customers/week</a:t>
            </a:r>
            <a:endParaRPr lang="en-US" sz="1600" dirty="0"/>
          </a:p>
        </p:txBody>
      </p:sp>
      <p:sp>
        <p:nvSpPr>
          <p:cNvPr id="23" name="Text 21"/>
          <p:cNvSpPr/>
          <p:nvPr>
            <p:custDataLst>
              <p:tags r:id="rId23"/>
            </p:custDataLst>
          </p:nvPr>
        </p:nvSpPr>
        <p:spPr>
          <a:xfrm>
            <a:off x="6227064" y="2102412"/>
            <a:ext cx="2130552"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Expected save rate: 2-5%</a:t>
            </a:r>
            <a:endParaRPr lang="en-US" sz="1000" dirty="0"/>
          </a:p>
        </p:txBody>
      </p:sp>
      <p:sp>
        <p:nvSpPr>
          <p:cNvPr id="24" name="Text 22"/>
          <p:cNvSpPr/>
          <p:nvPr>
            <p:custDataLst>
              <p:tags r:id="rId24"/>
            </p:custDataLst>
          </p:nvPr>
        </p:nvSpPr>
        <p:spPr>
          <a:xfrm>
            <a:off x="6227064" y="2422452"/>
            <a:ext cx="2130552" cy="822960"/>
          </a:xfrm>
          <a:prstGeom prst="rect">
            <a:avLst/>
          </a:prstGeom>
          <a:noFill/>
          <a:ln/>
        </p:spPr>
        <p:txBody>
          <a:bodyPr wrap="square" lIns="0" tIns="0" rIns="0" bIns="0" rtlCol="0" anchor="t"/>
          <a:lstStyle/>
          <a:p>
            <a:pPr marL="0" indent="0">
              <a:buNone/>
            </a:pPr>
            <a:r>
              <a:rPr lang="en-US" sz="950" dirty="0">
                <a:solidFill>
                  <a:srgbClr val="475569"/>
                </a:solidFill>
                <a:latin typeface="Calibri Light" pitchFamily="34" charset="0"/>
                <a:ea typeface="Calibri Light" pitchFamily="34" charset="-122"/>
                <a:cs typeface="Calibri Light" pitchFamily="34" charset="-120"/>
              </a:rPr>
              <a:t>Monitor and nurture.</a:t>
            </a:r>
            <a:endParaRPr lang="en-US" sz="950" dirty="0"/>
          </a:p>
          <a:p>
            <a:pPr marL="0" indent="0">
              <a:buNone/>
            </a:pPr>
            <a:r>
              <a:rPr lang="en-US" sz="950" dirty="0">
                <a:solidFill>
                  <a:srgbClr val="475569"/>
                </a:solidFill>
                <a:latin typeface="Calibri Light" pitchFamily="34" charset="0"/>
                <a:ea typeface="Calibri Light" pitchFamily="34" charset="-122"/>
                <a:cs typeface="Calibri Light" pitchFamily="34" charset="-120"/>
              </a:rPr>
              <a:t>Loyalty reinforcement,</a:t>
            </a:r>
            <a:endParaRPr lang="en-US" sz="950" dirty="0"/>
          </a:p>
          <a:p>
            <a:pPr marL="0" indent="0">
              <a:buNone/>
            </a:pPr>
            <a:r>
              <a:rPr lang="en-US" sz="950" dirty="0">
                <a:solidFill>
                  <a:srgbClr val="475569"/>
                </a:solidFill>
                <a:latin typeface="Calibri Light" pitchFamily="34" charset="0"/>
                <a:ea typeface="Calibri Light" pitchFamily="34" charset="-122"/>
                <a:cs typeface="Calibri Light" pitchFamily="34" charset="-120"/>
              </a:rPr>
              <a:t>preventive engagement.</a:t>
            </a:r>
            <a:endParaRPr lang="en-US" sz="950" dirty="0"/>
          </a:p>
        </p:txBody>
      </p:sp>
      <p:sp>
        <p:nvSpPr>
          <p:cNvPr id="25" name="Shape 23"/>
          <p:cNvSpPr/>
          <p:nvPr>
            <p:custDataLst>
              <p:tags r:id="rId25"/>
            </p:custDataLst>
          </p:nvPr>
        </p:nvSpPr>
        <p:spPr>
          <a:xfrm>
            <a:off x="731520" y="3818508"/>
            <a:ext cx="7680960" cy="86868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26" name="Text 24"/>
          <p:cNvSpPr/>
          <p:nvPr>
            <p:custDataLst>
              <p:tags r:id="rId26"/>
            </p:custDataLst>
          </p:nvPr>
        </p:nvSpPr>
        <p:spPr>
          <a:xfrm>
            <a:off x="914400" y="3864228"/>
            <a:ext cx="7315200" cy="201168"/>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Typical Tier 1 Customer Profile</a:t>
            </a:r>
            <a:endParaRPr lang="en-US" sz="1100" dirty="0"/>
          </a:p>
        </p:txBody>
      </p:sp>
      <p:sp>
        <p:nvSpPr>
          <p:cNvPr id="27" name="Text 25"/>
          <p:cNvSpPr/>
          <p:nvPr>
            <p:custDataLst>
              <p:tags r:id="rId27"/>
            </p:custDataLst>
          </p:nvPr>
        </p:nvSpPr>
        <p:spPr>
          <a:xfrm>
            <a:off x="914400" y="4092828"/>
            <a:ext cx="7315200" cy="5029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2-person plan, acquired via Paid Social with 50% intro discount. Ordered consistently for 6 weeks then skipped 3 of the last 4 weeks. Recipe ratings dropped from 4.2 to 2.8. Raised 2 support tickets about delivery timing. Discount dependency rate above </a:t>
            </a:r>
            <a:r>
              <a:rPr lang="en-DK" sz="1000" dirty="0">
                <a:solidFill>
                  <a:srgbClr val="475569"/>
                </a:solidFill>
                <a:latin typeface="Calibri Light" pitchFamily="34" charset="0"/>
                <a:ea typeface="Calibri Light" pitchFamily="34" charset="-122"/>
                <a:cs typeface="Calibri Light" pitchFamily="34" charset="-120"/>
              </a:rPr>
              <a:t>4</a:t>
            </a:r>
            <a:r>
              <a:rPr lang="en-US" sz="1000" dirty="0">
                <a:solidFill>
                  <a:srgbClr val="475569"/>
                </a:solidFill>
                <a:latin typeface="Calibri Light" pitchFamily="34" charset="0"/>
                <a:ea typeface="Calibri Light" pitchFamily="34" charset="-122"/>
                <a:cs typeface="Calibri Light" pitchFamily="34" charset="-120"/>
              </a:rPr>
              <a:t>0%. Without intervention, this customer cancels within </a:t>
            </a:r>
            <a:r>
              <a:rPr lang="en-DK" sz="1000" dirty="0">
                <a:solidFill>
                  <a:srgbClr val="475569"/>
                </a:solidFill>
                <a:latin typeface="Calibri Light" pitchFamily="34" charset="0"/>
                <a:ea typeface="Calibri Light" pitchFamily="34" charset="-122"/>
                <a:cs typeface="Calibri Light" pitchFamily="34" charset="-120"/>
              </a:rPr>
              <a:t>an estimated </a:t>
            </a:r>
            <a:r>
              <a:rPr lang="en-US" sz="1000" dirty="0">
                <a:solidFill>
                  <a:srgbClr val="475569"/>
                </a:solidFill>
                <a:latin typeface="Calibri Light" pitchFamily="34" charset="0"/>
                <a:ea typeface="Calibri Light" pitchFamily="34" charset="-122"/>
                <a:cs typeface="Calibri Light" pitchFamily="34" charset="-120"/>
              </a:rPr>
              <a:t>7-10 days.</a:t>
            </a:r>
            <a:endParaRPr lang="en-US" sz="1000" dirty="0"/>
          </a:p>
        </p:txBody>
      </p:sp>
      <p:sp>
        <p:nvSpPr>
          <p:cNvPr id="28" name="TextBox 27">
            <a:extLst>
              <a:ext uri="{FF2B5EF4-FFF2-40B4-BE49-F238E27FC236}">
                <a16:creationId xmlns:a16="http://schemas.microsoft.com/office/drawing/2014/main" id="{16AE308A-2E0A-D147-7E39-DE0DC3C1E15E}"/>
              </a:ext>
            </a:extLst>
          </p:cNvPr>
          <p:cNvSpPr txBox="1"/>
          <p:nvPr>
            <p:custDataLst>
              <p:tags r:id="rId28"/>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a:t>
            </a:r>
            <a:r>
              <a:rPr lang="en-GB" sz="1000" dirty="0">
                <a:solidFill>
                  <a:srgbClr val="475569"/>
                </a:solidFill>
                <a:latin typeface="Calibri Light" pitchFamily="34" charset="0"/>
                <a:ea typeface="Calibri Light" pitchFamily="34" charset="-122"/>
                <a:cs typeface="Calibri Light" pitchFamily="34" charset="-120"/>
              </a:rPr>
              <a:t>5</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Intervention Playbook</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r>
              <a:rPr lang="en-US" sz="1200" dirty="0">
                <a:solidFill>
                  <a:srgbClr val="475569"/>
                </a:solidFill>
                <a:latin typeface="Calibri" pitchFamily="34" charset="0"/>
                <a:ea typeface="Calibri" pitchFamily="34" charset="-122"/>
                <a:cs typeface="Calibri" pitchFamily="34" charset="-120"/>
              </a:rPr>
              <a:t>Churn driver → retention action mapping for the retention team</a:t>
            </a:r>
          </a:p>
        </p:txBody>
      </p:sp>
      <p:graphicFrame>
        <p:nvGraphicFramePr>
          <p:cNvPr id="8" name="Table 0"/>
          <p:cNvGraphicFramePr>
            <a:graphicFrameLocks noGrp="1"/>
          </p:cNvGraphicFramePr>
          <p:nvPr>
            <p:custDataLst>
              <p:tags r:id="rId4"/>
            </p:custDataLst>
            <p:extLst>
              <p:ext uri="{D42A27DB-BD31-4B8C-83A1-F6EECF244321}">
                <p14:modId xmlns:p14="http://schemas.microsoft.com/office/powerpoint/2010/main" val="3912767235"/>
              </p:ext>
            </p:extLst>
          </p:nvPr>
        </p:nvGraphicFramePr>
        <p:xfrm>
          <a:off x="731520" y="1188720"/>
          <a:ext cx="6858000" cy="127000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Customer Type</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 At-Risk</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Indicator</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Tactic</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Save Rate</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Disengaged</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40%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Declining order frequency</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Phone call + discount</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25-30%</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Low Satisfaction</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a:solidFill>
                            <a:srgbClr val="1E293B"/>
                          </a:solidFill>
                          <a:latin typeface="Calibri Light" pitchFamily="34" charset="0"/>
                          <a:ea typeface="Calibri Light" pitchFamily="34" charset="-122"/>
                          <a:cs typeface="Calibri Light" pitchFamily="34" charset="-120"/>
                        </a:rPr>
                        <a:t>30%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a:solidFill>
                            <a:srgbClr val="1E293B"/>
                          </a:solidFill>
                          <a:latin typeface="Calibri Light" pitchFamily="34" charset="0"/>
                          <a:ea typeface="Calibri Light" pitchFamily="34" charset="-122"/>
                          <a:cs typeface="Calibri Light" pitchFamily="34" charset="-120"/>
                        </a:rPr>
                        <a:t>Ratings below 3.0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a:solidFill>
                            <a:srgbClr val="1E293B"/>
                          </a:solidFill>
                          <a:latin typeface="Calibri Light" pitchFamily="34" charset="0"/>
                          <a:ea typeface="Calibri Light" pitchFamily="34" charset="-122"/>
                          <a:cs typeface="Calibri Light" pitchFamily="34" charset="-120"/>
                        </a:rPr>
                        <a:t>Free week + menu options</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20-25%</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High-Support</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20%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2+ tickets in 60 days</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CSM call + loyalty credit</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35-40%</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Bargain Hunters</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a:solidFill>
                            <a:srgbClr val="1E293B"/>
                          </a:solidFill>
                          <a:latin typeface="Calibri Light" pitchFamily="34" charset="0"/>
                          <a:ea typeface="Calibri Light" pitchFamily="34" charset="-122"/>
                          <a:cs typeface="Calibri Light" pitchFamily="34" charset="-120"/>
                        </a:rPr>
                        <a:t>10%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Light" pitchFamily="34" charset="0"/>
                          <a:ea typeface="Calibri Light" pitchFamily="34" charset="-122"/>
                          <a:cs typeface="Calibri Light" pitchFamily="34" charset="-120"/>
                        </a:rPr>
                        <a:t>Discount dependency &gt;</a:t>
                      </a:r>
                      <a:r>
                        <a:rPr lang="en-DK" sz="1000" dirty="0">
                          <a:solidFill>
                            <a:srgbClr val="1E293B"/>
                          </a:solidFill>
                          <a:latin typeface="Calibri Light" pitchFamily="34" charset="0"/>
                          <a:ea typeface="Calibri Light" pitchFamily="34" charset="-122"/>
                          <a:cs typeface="Calibri Light" pitchFamily="34" charset="-120"/>
                        </a:rPr>
                        <a:t> 4</a:t>
                      </a:r>
                      <a:r>
                        <a:rPr lang="en-US" sz="1000" dirty="0">
                          <a:solidFill>
                            <a:srgbClr val="1E293B"/>
                          </a:solidFill>
                          <a:latin typeface="Calibri Light" pitchFamily="34" charset="0"/>
                          <a:ea typeface="Calibri Light" pitchFamily="34" charset="-122"/>
                          <a:cs typeface="Calibri Light" pitchFamily="34" charset="-120"/>
                        </a:rPr>
                        <a:t>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a:solidFill>
                            <a:srgbClr val="1E293B"/>
                          </a:solidFill>
                          <a:latin typeface="Calibri Light" pitchFamily="34" charset="0"/>
                          <a:ea typeface="Calibri Light" pitchFamily="34" charset="-122"/>
                          <a:cs typeface="Calibri Light" pitchFamily="34" charset="-120"/>
                        </a:rPr>
                        <a:t>Tiered loyalty incentives</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10-15%</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custDataLst>
              <p:tags r:id="rId5"/>
            </p:custDataLst>
          </p:nvPr>
        </p:nvSpPr>
        <p:spPr>
          <a:xfrm>
            <a:off x="731520" y="2926080"/>
            <a:ext cx="7680960" cy="640080"/>
          </a:xfrm>
          <a:prstGeom prst="rect">
            <a:avLst/>
          </a:prstGeom>
          <a:solidFill>
            <a:srgbClr val="0F1629"/>
          </a:solidFill>
          <a:ln/>
        </p:spPr>
        <p:txBody>
          <a:bodyPr/>
          <a:lstStyle/>
          <a:p>
            <a:endParaRPr lang="en-GB"/>
          </a:p>
        </p:txBody>
      </p:sp>
      <p:sp>
        <p:nvSpPr>
          <p:cNvPr id="6" name="Text 3"/>
          <p:cNvSpPr/>
          <p:nvPr>
            <p:custDataLst>
              <p:tags r:id="rId6"/>
            </p:custDataLst>
          </p:nvPr>
        </p:nvSpPr>
        <p:spPr>
          <a:xfrm>
            <a:off x="914400" y="2926080"/>
            <a:ext cx="7315200" cy="640080"/>
          </a:xfrm>
          <a:prstGeom prst="rect">
            <a:avLst/>
          </a:prstGeom>
          <a:noFill/>
          <a:ln/>
        </p:spPr>
        <p:txBody>
          <a:bodyPr wrap="square" lIns="0" tIns="0" rIns="0" bIns="0"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Highest leverage: </a:t>
            </a:r>
            <a:r>
              <a:rPr lang="en-US" sz="1200" dirty="0">
                <a:solidFill>
                  <a:srgbClr val="FFFFFF"/>
                </a:solidFill>
                <a:latin typeface="Calibri Light" pitchFamily="34" charset="0"/>
                <a:ea typeface="Calibri Light" pitchFamily="34" charset="-122"/>
                <a:cs typeface="Calibri Light" pitchFamily="34" charset="-120"/>
              </a:rPr>
              <a:t>High-Support customers have the best save rate (35-40%) because the fix is operational, not behavioural.</a:t>
            </a:r>
            <a:endParaRPr lang="en-US" sz="1300" dirty="0"/>
          </a:p>
        </p:txBody>
      </p:sp>
      <p:sp>
        <p:nvSpPr>
          <p:cNvPr id="4" name="TextBox 3">
            <a:extLst>
              <a:ext uri="{FF2B5EF4-FFF2-40B4-BE49-F238E27FC236}">
                <a16:creationId xmlns:a16="http://schemas.microsoft.com/office/drawing/2014/main" id="{BE329436-81FA-E1D6-DCF8-2B264249DD50}"/>
              </a:ext>
            </a:extLst>
          </p:cNvPr>
          <p:cNvSpPr txBox="1"/>
          <p:nvPr>
            <p:custDataLst>
              <p:tags r:id="rId7"/>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a:t>
            </a:r>
            <a:r>
              <a:rPr lang="en-GB" sz="1000" dirty="0">
                <a:solidFill>
                  <a:srgbClr val="475569"/>
                </a:solidFill>
                <a:latin typeface="Calibri Light" pitchFamily="34" charset="0"/>
                <a:ea typeface="Calibri Light" pitchFamily="34" charset="-122"/>
                <a:cs typeface="Calibri Light" pitchFamily="34" charset="-120"/>
              </a:rPr>
              <a:t>6</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320040"/>
            <a:ext cx="768096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Commercial Impact</a:t>
            </a:r>
            <a:endParaRPr lang="en-US" sz="2800" dirty="0"/>
          </a:p>
        </p:txBody>
      </p:sp>
      <p:sp>
        <p:nvSpPr>
          <p:cNvPr id="3" name="Text 1"/>
          <p:cNvSpPr/>
          <p:nvPr>
            <p:custDataLst>
              <p:tags r:id="rId3"/>
            </p:custDataLst>
          </p:nvPr>
        </p:nvSpPr>
        <p:spPr>
          <a:xfrm>
            <a:off x="731520" y="777240"/>
            <a:ext cx="76809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Revenue protection from the churn prediction model based on actual data analysis</a:t>
            </a:r>
          </a:p>
        </p:txBody>
      </p:sp>
      <p:sp>
        <p:nvSpPr>
          <p:cNvPr id="4" name="Shape 2"/>
          <p:cNvSpPr/>
          <p:nvPr>
            <p:custDataLst>
              <p:tags r:id="rId4"/>
            </p:custDataLst>
          </p:nvPr>
        </p:nvSpPr>
        <p:spPr>
          <a:xfrm>
            <a:off x="731520"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5" name="Text 3"/>
          <p:cNvSpPr/>
          <p:nvPr>
            <p:custDataLst>
              <p:tags r:id="rId5"/>
            </p:custDataLst>
          </p:nvPr>
        </p:nvSpPr>
        <p:spPr>
          <a:xfrm>
            <a:off x="868680"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Avg. Order Value</a:t>
            </a:r>
            <a:endParaRPr lang="en-US" sz="1000" dirty="0"/>
          </a:p>
        </p:txBody>
      </p:sp>
      <p:sp>
        <p:nvSpPr>
          <p:cNvPr id="6" name="Text 4"/>
          <p:cNvSpPr/>
          <p:nvPr>
            <p:custDataLst>
              <p:tags r:id="rId6"/>
            </p:custDataLst>
          </p:nvPr>
        </p:nvSpPr>
        <p:spPr>
          <a:xfrm>
            <a:off x="868680"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£45.37 (actual)</a:t>
            </a:r>
            <a:endParaRPr lang="en-US" sz="1600" dirty="0"/>
          </a:p>
        </p:txBody>
      </p:sp>
      <p:sp>
        <p:nvSpPr>
          <p:cNvPr id="7" name="Shape 5"/>
          <p:cNvSpPr/>
          <p:nvPr>
            <p:custDataLst>
              <p:tags r:id="rId7"/>
            </p:custDataLst>
          </p:nvPr>
        </p:nvSpPr>
        <p:spPr>
          <a:xfrm>
            <a:off x="3410712"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8" name="Text 6"/>
          <p:cNvSpPr/>
          <p:nvPr>
            <p:custDataLst>
              <p:tags r:id="rId8"/>
            </p:custDataLst>
          </p:nvPr>
        </p:nvSpPr>
        <p:spPr>
          <a:xfrm>
            <a:off x="3547872" y="1252728"/>
            <a:ext cx="2130552" cy="201168"/>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Avg. Customer LTV</a:t>
            </a:r>
            <a:endParaRPr lang="en-US" sz="1000" dirty="0"/>
          </a:p>
        </p:txBody>
      </p:sp>
      <p:sp>
        <p:nvSpPr>
          <p:cNvPr id="9" name="Text 7"/>
          <p:cNvSpPr/>
          <p:nvPr>
            <p:custDataLst>
              <p:tags r:id="rId9"/>
            </p:custDataLst>
          </p:nvPr>
        </p:nvSpPr>
        <p:spPr>
          <a:xfrm>
            <a:off x="3547872" y="1481328"/>
            <a:ext cx="2130552"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£400 (actual)</a:t>
            </a:r>
            <a:endParaRPr lang="en-US" sz="1600" dirty="0"/>
          </a:p>
        </p:txBody>
      </p:sp>
      <p:sp>
        <p:nvSpPr>
          <p:cNvPr id="10" name="Shape 8"/>
          <p:cNvSpPr/>
          <p:nvPr>
            <p:custDataLst>
              <p:tags r:id="rId10"/>
            </p:custDataLst>
          </p:nvPr>
        </p:nvSpPr>
        <p:spPr>
          <a:xfrm>
            <a:off x="6089904" y="1188720"/>
            <a:ext cx="2404872" cy="77724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1" name="Text 9"/>
          <p:cNvSpPr/>
          <p:nvPr>
            <p:custDataLst>
              <p:tags r:id="rId11"/>
            </p:custDataLst>
          </p:nvPr>
        </p:nvSpPr>
        <p:spPr>
          <a:xfrm>
            <a:off x="6227064" y="1252728"/>
            <a:ext cx="2130552" cy="201168"/>
          </a:xfrm>
          <a:prstGeom prst="rect">
            <a:avLst/>
          </a:prstGeom>
          <a:noFill/>
          <a:ln/>
        </p:spPr>
        <p:txBody>
          <a:bodyPr wrap="square" lIns="0" tIns="0" rIns="0" bIns="0" rtlCol="0" anchor="ctr"/>
          <a:lstStyle/>
          <a:p>
            <a:pPr marL="0" indent="0">
              <a:buNone/>
            </a:pPr>
            <a:r>
              <a:rPr lang="en-DK" sz="1000" b="1" dirty="0">
                <a:solidFill>
                  <a:srgbClr val="0EA5E9"/>
                </a:solidFill>
                <a:latin typeface="Calibri" pitchFamily="34" charset="0"/>
                <a:ea typeface="Calibri" pitchFamily="34" charset="-122"/>
                <a:cs typeface="Calibri" pitchFamily="34" charset="-120"/>
              </a:rPr>
              <a:t>Additional Retention (conservative)</a:t>
            </a:r>
            <a:endParaRPr lang="en-US" sz="1000" dirty="0"/>
          </a:p>
        </p:txBody>
      </p:sp>
      <p:sp>
        <p:nvSpPr>
          <p:cNvPr id="12" name="Text 10"/>
          <p:cNvSpPr/>
          <p:nvPr>
            <p:custDataLst>
              <p:tags r:id="rId12"/>
            </p:custDataLst>
          </p:nvPr>
        </p:nvSpPr>
        <p:spPr>
          <a:xfrm>
            <a:off x="6227064" y="1481328"/>
            <a:ext cx="2130552" cy="320040"/>
          </a:xfrm>
          <a:prstGeom prst="rect">
            <a:avLst/>
          </a:prstGeom>
          <a:noFill/>
          <a:ln/>
        </p:spPr>
        <p:txBody>
          <a:bodyPr wrap="square" lIns="0" tIns="0" rIns="0" bIns="0" rtlCol="0" anchor="ctr"/>
          <a:lstStyle/>
          <a:p>
            <a:pPr marL="0" indent="0">
              <a:buNone/>
            </a:pPr>
            <a:r>
              <a:rPr lang="en-DK" sz="1600" b="1" dirty="0">
                <a:solidFill>
                  <a:srgbClr val="1E293B"/>
                </a:solidFill>
                <a:latin typeface="Calibri" pitchFamily="34" charset="0"/>
                <a:ea typeface="Calibri" pitchFamily="34" charset="-122"/>
                <a:cs typeface="Calibri" pitchFamily="34" charset="-120"/>
              </a:rPr>
              <a:t>8 weeks</a:t>
            </a:r>
            <a:endParaRPr lang="en-US" sz="1600" dirty="0"/>
          </a:p>
        </p:txBody>
      </p:sp>
      <p:graphicFrame>
        <p:nvGraphicFramePr>
          <p:cNvPr id="13" name="Table 0"/>
          <p:cNvGraphicFramePr>
            <a:graphicFrameLocks noGrp="1"/>
          </p:cNvGraphicFramePr>
          <p:nvPr>
            <p:custDataLst>
              <p:tags r:id="rId13"/>
            </p:custDataLst>
            <p:extLst>
              <p:ext uri="{D42A27DB-BD31-4B8C-83A1-F6EECF244321}">
                <p14:modId xmlns:p14="http://schemas.microsoft.com/office/powerpoint/2010/main" val="3237956506"/>
              </p:ext>
            </p:extLst>
          </p:nvPr>
        </p:nvGraphicFramePr>
        <p:xfrm>
          <a:off x="731520" y="2126867"/>
          <a:ext cx="7680960" cy="76200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DK" sz="1000" b="1" dirty="0">
                          <a:solidFill>
                            <a:srgbClr val="FFFFFF"/>
                          </a:solidFill>
                          <a:latin typeface="Calibri" pitchFamily="34" charset="0"/>
                          <a:ea typeface="Calibri" pitchFamily="34" charset="-122"/>
                          <a:cs typeface="Calibri" pitchFamily="34" charset="-120"/>
                        </a:rPr>
                        <a:t>Additional Value per Customer</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Churners Prevented</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Revenue Protected</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629"/>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Year 1</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DK" sz="1000" dirty="0">
                          <a:solidFill>
                            <a:srgbClr val="1E293B"/>
                          </a:solidFill>
                          <a:latin typeface="Calibri Light" pitchFamily="34" charset="0"/>
                          <a:ea typeface="Calibri Light" pitchFamily="34" charset="-122"/>
                          <a:cs typeface="Calibri Light" pitchFamily="34" charset="-120"/>
                        </a:rPr>
                        <a:t>~ £400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200-300</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6A34A"/>
                          </a:solidFill>
                          <a:latin typeface="Calibri" pitchFamily="34" charset="0"/>
                          <a:ea typeface="Calibri" pitchFamily="34" charset="-122"/>
                          <a:cs typeface="Calibri" pitchFamily="34" charset="-120"/>
                        </a:rPr>
                        <a:t>£80-120K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Year 2+</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DK" sz="1000" dirty="0">
                          <a:solidFill>
                            <a:srgbClr val="1E293B"/>
                          </a:solidFill>
                          <a:latin typeface="Calibri Light" pitchFamily="34" charset="0"/>
                          <a:ea typeface="Calibri Light" pitchFamily="34" charset="-122"/>
                          <a:cs typeface="Calibri Light" pitchFamily="34" charset="-120"/>
                        </a:rPr>
                        <a:t>~ £400</a:t>
                      </a:r>
                      <a:endParaRPr lang="en-US" sz="1000" dirty="0">
                        <a:latin typeface="Calibri Light" charset="0"/>
                        <a:ea typeface="Calibri Light" charset="0"/>
                        <a:cs typeface="Calibri Light"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250-400</a:t>
                      </a:r>
                      <a:endParaRPr lang="en-US" sz="1000" dirty="0">
                        <a:latin typeface="Calibri" charset="0"/>
                        <a:ea typeface="Calibri" charset="0"/>
                        <a:cs typeface="Calibri" charset="0"/>
                      </a:endParaRPr>
                    </a:p>
                  </a:txBody>
                  <a:tcPr marL="101600" marR="1016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16A34A"/>
                          </a:solidFill>
                          <a:latin typeface="Calibri" pitchFamily="34" charset="0"/>
                          <a:ea typeface="Calibri" pitchFamily="34" charset="-122"/>
                          <a:cs typeface="Calibri" pitchFamily="34" charset="-120"/>
                        </a:rPr>
                        <a:t>£100-160K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grpSp>
        <p:nvGrpSpPr>
          <p:cNvPr id="20" name="Group 19">
            <a:extLst>
              <a:ext uri="{FF2B5EF4-FFF2-40B4-BE49-F238E27FC236}">
                <a16:creationId xmlns:a16="http://schemas.microsoft.com/office/drawing/2014/main" id="{F37ADC05-62B1-86E6-CFEB-184ED4C0163D}"/>
              </a:ext>
            </a:extLst>
          </p:cNvPr>
          <p:cNvGrpSpPr/>
          <p:nvPr>
            <p:custDataLst>
              <p:tags r:id="rId14"/>
            </p:custDataLst>
          </p:nvPr>
        </p:nvGrpSpPr>
        <p:grpSpPr>
          <a:xfrm>
            <a:off x="731520" y="3016811"/>
            <a:ext cx="7680960" cy="640080"/>
            <a:chOff x="731520" y="2995547"/>
            <a:chExt cx="7680960" cy="640080"/>
          </a:xfrm>
        </p:grpSpPr>
        <p:sp>
          <p:nvSpPr>
            <p:cNvPr id="14" name="Shape 11"/>
            <p:cNvSpPr/>
            <p:nvPr>
              <p:custDataLst>
                <p:tags r:id="rId19"/>
              </p:custDataLst>
            </p:nvPr>
          </p:nvSpPr>
          <p:spPr>
            <a:xfrm>
              <a:off x="731520" y="2995547"/>
              <a:ext cx="7680960" cy="640080"/>
            </a:xfrm>
            <a:prstGeom prst="rect">
              <a:avLst/>
            </a:prstGeom>
            <a:solidFill>
              <a:srgbClr val="0F1629"/>
            </a:solidFill>
            <a:ln/>
          </p:spPr>
          <p:txBody>
            <a:bodyPr/>
            <a:lstStyle/>
            <a:p>
              <a:endParaRPr lang="en-GB"/>
            </a:p>
          </p:txBody>
        </p:sp>
        <p:sp>
          <p:nvSpPr>
            <p:cNvPr id="15" name="Text 12"/>
            <p:cNvSpPr/>
            <p:nvPr>
              <p:custDataLst>
                <p:tags r:id="rId20"/>
              </p:custDataLst>
            </p:nvPr>
          </p:nvSpPr>
          <p:spPr>
            <a:xfrm>
              <a:off x="914400" y="2995547"/>
              <a:ext cx="7315200" cy="640080"/>
            </a:xfrm>
            <a:prstGeom prst="rect">
              <a:avLst/>
            </a:prstGeom>
            <a:noFill/>
            <a:ln/>
          </p:spPr>
          <p:txBody>
            <a:bodyPr wrap="square" lIns="0" tIns="0" rIns="0" bIns="0" rtlCol="0" anchor="ctr"/>
            <a:lstStyle/>
            <a:p>
              <a:pPr marL="0" indent="0">
                <a:buNone/>
              </a:pPr>
              <a:r>
                <a:rPr lang="en-US" sz="1600" b="1" dirty="0">
                  <a:solidFill>
                    <a:srgbClr val="0EA5E9"/>
                  </a:solidFill>
                  <a:latin typeface="Calibri" pitchFamily="34" charset="0"/>
                  <a:ea typeface="Calibri" pitchFamily="34" charset="-122"/>
                  <a:cs typeface="Calibri" pitchFamily="34" charset="-120"/>
                </a:rPr>
                <a:t>Year 1: </a:t>
              </a:r>
              <a:r>
                <a:rPr lang="en-US" sz="1200" dirty="0">
                  <a:solidFill>
                    <a:srgbClr val="FFFFFF"/>
                  </a:solidFill>
                  <a:latin typeface="Calibri Light" pitchFamily="34" charset="0"/>
                  <a:ea typeface="Calibri Light" pitchFamily="34" charset="-122"/>
                  <a:cs typeface="Calibri Light" pitchFamily="34" charset="-120"/>
                </a:rPr>
                <a:t>200-300 customers saved × £400 = </a:t>
              </a:r>
              <a:r>
                <a:rPr lang="en-US" sz="1600" b="1" dirty="0">
                  <a:solidFill>
                    <a:srgbClr val="0EA5E9"/>
                  </a:solidFill>
                  <a:latin typeface="Calibri" pitchFamily="34" charset="0"/>
                  <a:ea typeface="Calibri" pitchFamily="34" charset="-122"/>
                  <a:cs typeface="Calibri" pitchFamily="34" charset="-120"/>
                </a:rPr>
                <a:t>£80-120K </a:t>
              </a:r>
              <a:r>
                <a:rPr lang="en-US" sz="1200" dirty="0">
                  <a:solidFill>
                    <a:srgbClr val="FFFFFF"/>
                  </a:solidFill>
                  <a:latin typeface="Calibri Light" pitchFamily="34" charset="0"/>
                  <a:ea typeface="Calibri Light" pitchFamily="34" charset="-122"/>
                  <a:cs typeface="Calibri Light" pitchFamily="34" charset="-120"/>
                </a:rPr>
                <a:t>revenue protected</a:t>
              </a:r>
              <a:endParaRPr lang="en-US" sz="1600" dirty="0"/>
            </a:p>
          </p:txBody>
        </p:sp>
      </p:grpSp>
      <p:sp>
        <p:nvSpPr>
          <p:cNvPr id="16" name="Shape 13"/>
          <p:cNvSpPr/>
          <p:nvPr>
            <p:custDataLst>
              <p:tags r:id="rId15"/>
            </p:custDataLst>
          </p:nvPr>
        </p:nvSpPr>
        <p:spPr>
          <a:xfrm>
            <a:off x="731520" y="3775978"/>
            <a:ext cx="7680960" cy="868680"/>
          </a:xfrm>
          <a:prstGeom prst="rect">
            <a:avLst/>
          </a:prstGeom>
          <a:solidFill>
            <a:srgbClr val="FFFFFF"/>
          </a:solidFill>
          <a:ln w="6350">
            <a:solidFill>
              <a:srgbClr val="E2E8F0"/>
            </a:solidFill>
            <a:prstDash val="solid"/>
          </a:ln>
          <a:effectLst>
            <a:outerShdw blurRad="50800" dist="25400" dir="8100000" algn="bl" rotWithShape="0">
              <a:srgbClr val="000000">
                <a:alpha val="8000"/>
              </a:srgbClr>
            </a:outerShdw>
          </a:effectLst>
        </p:spPr>
        <p:txBody>
          <a:bodyPr/>
          <a:lstStyle/>
          <a:p>
            <a:endParaRPr lang="en-GB"/>
          </a:p>
        </p:txBody>
      </p:sp>
      <p:sp>
        <p:nvSpPr>
          <p:cNvPr id="17" name="Text 14"/>
          <p:cNvSpPr/>
          <p:nvPr>
            <p:custDataLst>
              <p:tags r:id="rId16"/>
            </p:custDataLst>
          </p:nvPr>
        </p:nvSpPr>
        <p:spPr>
          <a:xfrm>
            <a:off x="914400" y="3849130"/>
            <a:ext cx="7315200" cy="201168"/>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Why Year 2+ improves</a:t>
            </a:r>
            <a:endParaRPr lang="en-US" sz="1100" dirty="0"/>
          </a:p>
        </p:txBody>
      </p:sp>
      <p:sp>
        <p:nvSpPr>
          <p:cNvPr id="18" name="Text 15"/>
          <p:cNvSpPr/>
          <p:nvPr>
            <p:custDataLst>
              <p:tags r:id="rId17"/>
            </p:custDataLst>
          </p:nvPr>
        </p:nvSpPr>
        <p:spPr>
          <a:xfrm>
            <a:off x="914400" y="4096018"/>
            <a:ext cx="7315200" cy="502920"/>
          </a:xfrm>
          <a:prstGeom prst="rect">
            <a:avLst/>
          </a:prstGeom>
          <a:noFill/>
          <a:ln/>
        </p:spPr>
        <p:txBody>
          <a:bodyPr wrap="square" lIns="0" tIns="0" rIns="0" bIns="0" rtlCol="0" anchor="ctr"/>
          <a:lstStyle/>
          <a:p>
            <a:pPr marL="0" indent="0">
              <a:buNone/>
            </a:pPr>
            <a:r>
              <a:rPr lang="en-US" sz="1000" dirty="0">
                <a:solidFill>
                  <a:srgbClr val="475569"/>
                </a:solidFill>
                <a:latin typeface="Calibri Light" pitchFamily="34" charset="0"/>
                <a:ea typeface="Calibri Light" pitchFamily="34" charset="-122"/>
                <a:cs typeface="Calibri Light" pitchFamily="34" charset="-120"/>
              </a:rPr>
              <a:t>The model creates a flywheel: churn driver insights inform product improvements (better meals, fewer delivery issues), which reduces structural churn over time. Meanwhile, the model itself improves with more training data, catching increasingly nuanced patterns. Revenue protection compounds year on year.</a:t>
            </a:r>
            <a:endParaRPr lang="en-US" sz="1000" dirty="0"/>
          </a:p>
        </p:txBody>
      </p:sp>
      <p:sp>
        <p:nvSpPr>
          <p:cNvPr id="19" name="TextBox 18">
            <a:extLst>
              <a:ext uri="{FF2B5EF4-FFF2-40B4-BE49-F238E27FC236}">
                <a16:creationId xmlns:a16="http://schemas.microsoft.com/office/drawing/2014/main" id="{98DDC70C-AB21-C58C-472B-1EC309E5ADE7}"/>
              </a:ext>
            </a:extLst>
          </p:cNvPr>
          <p:cNvSpPr txBox="1"/>
          <p:nvPr>
            <p:custDataLst>
              <p:tags r:id="rId18"/>
            </p:custDataLst>
          </p:nvPr>
        </p:nvSpPr>
        <p:spPr>
          <a:xfrm>
            <a:off x="639371" y="4744603"/>
            <a:ext cx="3176300" cy="246221"/>
          </a:xfrm>
          <a:prstGeom prst="rect">
            <a:avLst/>
          </a:prstGeom>
          <a:noFill/>
        </p:spPr>
        <p:txBody>
          <a:bodyPr wrap="square" rtlCol="0">
            <a:spAutoFit/>
          </a:bodyPr>
          <a:lstStyle/>
          <a:p>
            <a:r>
              <a:rPr lang="en-DK" sz="1000" dirty="0">
                <a:solidFill>
                  <a:srgbClr val="475569"/>
                </a:solidFill>
                <a:latin typeface="Calibri Light" pitchFamily="34" charset="0"/>
                <a:ea typeface="Calibri Light" pitchFamily="34" charset="-122"/>
                <a:cs typeface="Calibri Light" pitchFamily="34" charset="-120"/>
              </a:rPr>
              <a:t>FreshBox – Churn Prediction | </a:t>
            </a:r>
            <a:r>
              <a:rPr lang="en-GB" sz="1000" dirty="0">
                <a:solidFill>
                  <a:srgbClr val="475569"/>
                </a:solidFill>
                <a:latin typeface="Calibri Light" pitchFamily="34" charset="0"/>
                <a:ea typeface="Calibri Light" pitchFamily="34" charset="-122"/>
                <a:cs typeface="Calibri Light" pitchFamily="34" charset="-120"/>
              </a:rPr>
              <a:t>7</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9"/>
        </a:solidFill>
        <a:effectLst/>
      </p:bgPr>
    </p:bg>
    <p:spTree>
      <p:nvGrpSpPr>
        <p:cNvPr id="1" name=""/>
        <p:cNvGrpSpPr/>
        <p:nvPr/>
      </p:nvGrpSpPr>
      <p:grpSpPr>
        <a:xfrm>
          <a:off x="0" y="0"/>
          <a:ext cx="0" cy="0"/>
          <a:chOff x="0" y="0"/>
          <a:chExt cx="0" cy="0"/>
        </a:xfrm>
      </p:grpSpPr>
      <p:sp>
        <p:nvSpPr>
          <p:cNvPr id="2" name="Text 0"/>
          <p:cNvSpPr/>
          <p:nvPr>
            <p:custDataLst>
              <p:tags r:id="rId2"/>
            </p:custDataLst>
          </p:nvPr>
        </p:nvSpPr>
        <p:spPr>
          <a:xfrm>
            <a:off x="731520" y="1371600"/>
            <a:ext cx="768096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custDataLst>
              <p:tags r:id="rId3"/>
            </p:custDataLst>
          </p:nvPr>
        </p:nvSpPr>
        <p:spPr>
          <a:xfrm>
            <a:off x="731520" y="2286000"/>
            <a:ext cx="7680960" cy="457200"/>
          </a:xfrm>
          <a:prstGeom prst="rect">
            <a:avLst/>
          </a:prstGeom>
          <a:noFill/>
          <a:ln/>
        </p:spPr>
        <p:txBody>
          <a:bodyPr wrap="square" lIns="0" tIns="0" rIns="0" bIns="0" rtlCol="0" anchor="ctr"/>
          <a:lstStyle/>
          <a:p>
            <a:pPr marL="0" indent="0" algn="ctr">
              <a:buNone/>
            </a:pPr>
            <a:r>
              <a:rPr lang="en-US" sz="1800" dirty="0">
                <a:solidFill>
                  <a:srgbClr val="94A3B8"/>
                </a:solidFill>
                <a:latin typeface="Calibri Light" pitchFamily="34" charset="0"/>
                <a:ea typeface="Calibri Light" pitchFamily="34" charset="-122"/>
                <a:cs typeface="Calibri Light" pitchFamily="34" charset="-120"/>
              </a:rPr>
              <a:t>Ready to discuss </a:t>
            </a:r>
            <a:r>
              <a:rPr lang="en-US" sz="1800" dirty="0">
                <a:solidFill>
                  <a:srgbClr val="0EA5E9"/>
                </a:solidFill>
                <a:latin typeface="Calibri Light" pitchFamily="34" charset="0"/>
                <a:ea typeface="Calibri Light" pitchFamily="34" charset="-122"/>
                <a:cs typeface="Calibri Light" pitchFamily="34" charset="-120"/>
              </a:rPr>
              <a:t>next steps</a:t>
            </a:r>
            <a:endParaRPr lang="en-US" sz="1800"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S_COMPARE_SLIDE_ID" val="174029df-be06-45a5-81dc-006cc1d4a044"/>
</p:tagLst>
</file>

<file path=ppt/tags/tag2.xml><?xml version="1.0" encoding="utf-8"?>
<p:tagLst xmlns:a="http://schemas.openxmlformats.org/drawingml/2006/main" xmlns:r="http://schemas.openxmlformats.org/officeDocument/2006/relationships" xmlns:p="http://schemas.openxmlformats.org/presentationml/2006/main">
  <p:tag name="PS_COMPARE_SHAPE_ID" val="2174cde9-1758-4b83-b042-d34cfb6205d8"/>
</p:tagLst>
</file>

<file path=ppt/tags/tag3.xml><?xml version="1.0" encoding="utf-8"?>
<p:tagLst xmlns:a="http://schemas.openxmlformats.org/drawingml/2006/main" xmlns:r="http://schemas.openxmlformats.org/officeDocument/2006/relationships" xmlns:p="http://schemas.openxmlformats.org/presentationml/2006/main">
  <p:tag name="PS_COMPARE_SHAPE_ID" val="e65e2af0-c46c-44ee-ad52-819341e97f54"/>
</p:tagLst>
</file>

<file path=ppt/tags/tag4.xml><?xml version="1.0" encoding="utf-8"?>
<p:tagLst xmlns:a="http://schemas.openxmlformats.org/drawingml/2006/main" xmlns:r="http://schemas.openxmlformats.org/officeDocument/2006/relationships" xmlns:p="http://schemas.openxmlformats.org/presentationml/2006/main">
  <p:tag name="PS_COMPARE_SHAPE_ID" val="b2f45867-030e-4584-9602-2219ba691304"/>
</p:tagLst>
</file>

<file path=ppt/tags/tag5.xml><?xml version="1.0" encoding="utf-8"?>
<p:tagLst xmlns:a="http://schemas.openxmlformats.org/drawingml/2006/main" xmlns:r="http://schemas.openxmlformats.org/officeDocument/2006/relationships" xmlns:p="http://schemas.openxmlformats.org/presentationml/2006/main">
  <p:tag name="PS_COMPARE_SHAPE_ID" val="9b8f4625-315b-4ec5-b699-0edbaf3c7413"/>
</p:tagLst>
</file>

<file path=ppt/tags/tag6.xml><?xml version="1.0" encoding="utf-8"?>
<p:tagLst xmlns:a="http://schemas.openxmlformats.org/drawingml/2006/main" xmlns:r="http://schemas.openxmlformats.org/officeDocument/2006/relationships" xmlns:p="http://schemas.openxmlformats.org/presentationml/2006/main">
  <p:tag name="PS_COMPARE_SLIDE_ID" val="1b054df7-3b66-4409-a620-78bbbedd3e61"/>
</p:tagLst>
</file>

<file path=ppt/tags/tag7.xml><?xml version="1.0" encoding="utf-8"?>
<p:tagLst xmlns:a="http://schemas.openxmlformats.org/drawingml/2006/main" xmlns:r="http://schemas.openxmlformats.org/officeDocument/2006/relationships" xmlns:p="http://schemas.openxmlformats.org/presentationml/2006/main">
  <p:tag name="PS_COMPARE_SHAPE_ID" val="defe6489-6848-43c9-8cd8-ba947760238d"/>
</p:tagLst>
</file>

<file path=ppt/tags/tag8.xml><?xml version="1.0" encoding="utf-8"?>
<p:tagLst xmlns:a="http://schemas.openxmlformats.org/drawingml/2006/main" xmlns:r="http://schemas.openxmlformats.org/officeDocument/2006/relationships" xmlns:p="http://schemas.openxmlformats.org/presentationml/2006/main">
  <p:tag name="PS_COMPARE_SHAPE_ID" val="94785953-4b0a-44b4-82eb-710a27a5698a"/>
</p:tagLst>
</file>

<file path=ppt/tags/tag9.xml><?xml version="1.0" encoding="utf-8"?>
<p:tagLst xmlns:a="http://schemas.openxmlformats.org/drawingml/2006/main" xmlns:r="http://schemas.openxmlformats.org/officeDocument/2006/relationships" xmlns:p="http://schemas.openxmlformats.org/presentationml/2006/main">
  <p:tag name="PS_COMPARE_SHAPE_ID" val="90b4d572-56e8-4793-b38d-55cb25822fc3"/>
</p:tagLst>
</file>

<file path=ppt/tags/tag10.xml><?xml version="1.0" encoding="utf-8"?>
<p:tagLst xmlns:a="http://schemas.openxmlformats.org/drawingml/2006/main" xmlns:r="http://schemas.openxmlformats.org/officeDocument/2006/relationships" xmlns:p="http://schemas.openxmlformats.org/presentationml/2006/main">
  <p:tag name="PS_COMPARE_SHAPE_ID" val="1da4bcd4-8df2-4f5a-beaf-10ee8c437acb"/>
</p:tagLst>
</file>

<file path=ppt/tags/tag11.xml><?xml version="1.0" encoding="utf-8"?>
<p:tagLst xmlns:a="http://schemas.openxmlformats.org/drawingml/2006/main" xmlns:r="http://schemas.openxmlformats.org/officeDocument/2006/relationships" xmlns:p="http://schemas.openxmlformats.org/presentationml/2006/main">
  <p:tag name="PS_COMPARE_SHAPE_ID" val="c46558d4-4243-4603-82d5-cbba5377f985"/>
</p:tagLst>
</file>

<file path=ppt/tags/tag12.xml><?xml version="1.0" encoding="utf-8"?>
<p:tagLst xmlns:a="http://schemas.openxmlformats.org/drawingml/2006/main" xmlns:r="http://schemas.openxmlformats.org/officeDocument/2006/relationships" xmlns:p="http://schemas.openxmlformats.org/presentationml/2006/main">
  <p:tag name="PS_COMPARE_SHAPE_ID" val="73396858-bfff-4bbf-8580-00ae648ecc69"/>
</p:tagLst>
</file>

<file path=ppt/tags/tag13.xml><?xml version="1.0" encoding="utf-8"?>
<p:tagLst xmlns:a="http://schemas.openxmlformats.org/drawingml/2006/main" xmlns:r="http://schemas.openxmlformats.org/officeDocument/2006/relationships" xmlns:p="http://schemas.openxmlformats.org/presentationml/2006/main">
  <p:tag name="PS_COMPARE_SHAPE_ID" val="49286cf4-9993-40e0-8e21-837a21bfd142"/>
</p:tagLst>
</file>

<file path=ppt/tags/tag14.xml><?xml version="1.0" encoding="utf-8"?>
<p:tagLst xmlns:a="http://schemas.openxmlformats.org/drawingml/2006/main" xmlns:r="http://schemas.openxmlformats.org/officeDocument/2006/relationships" xmlns:p="http://schemas.openxmlformats.org/presentationml/2006/main">
  <p:tag name="PS_COMPARE_SHAPE_ID" val="901c5dfb-51c9-45e8-b4d9-b07a225b91c5"/>
</p:tagLst>
</file>

<file path=ppt/tags/tag15.xml><?xml version="1.0" encoding="utf-8"?>
<p:tagLst xmlns:a="http://schemas.openxmlformats.org/drawingml/2006/main" xmlns:r="http://schemas.openxmlformats.org/officeDocument/2006/relationships" xmlns:p="http://schemas.openxmlformats.org/presentationml/2006/main">
  <p:tag name="PS_COMPARE_SHAPE_ID" val="a2b0166b-13c4-4d75-89d6-4821bb86b82b"/>
</p:tagLst>
</file>

<file path=ppt/tags/tag16.xml><?xml version="1.0" encoding="utf-8"?>
<p:tagLst xmlns:a="http://schemas.openxmlformats.org/drawingml/2006/main" xmlns:r="http://schemas.openxmlformats.org/officeDocument/2006/relationships" xmlns:p="http://schemas.openxmlformats.org/presentationml/2006/main">
  <p:tag name="PS_COMPARE_SHAPE_ID" val="4eba5350-84f3-43b0-b6c9-926ab4be99cf"/>
</p:tagLst>
</file>

<file path=ppt/tags/tag17.xml><?xml version="1.0" encoding="utf-8"?>
<p:tagLst xmlns:a="http://schemas.openxmlformats.org/drawingml/2006/main" xmlns:r="http://schemas.openxmlformats.org/officeDocument/2006/relationships" xmlns:p="http://schemas.openxmlformats.org/presentationml/2006/main">
  <p:tag name="PS_COMPARE_SHAPE_ID" val="52539763-35ce-408e-b0e9-07ab2be53717"/>
</p:tagLst>
</file>

<file path=ppt/tags/tag18.xml><?xml version="1.0" encoding="utf-8"?>
<p:tagLst xmlns:a="http://schemas.openxmlformats.org/drawingml/2006/main" xmlns:r="http://schemas.openxmlformats.org/officeDocument/2006/relationships" xmlns:p="http://schemas.openxmlformats.org/presentationml/2006/main">
  <p:tag name="PS_COMPARE_SHAPE_ID" val="cb1040d5-8b9d-43a1-8d7b-2bf4451e7211"/>
</p:tagLst>
</file>

<file path=ppt/tags/tag19.xml><?xml version="1.0" encoding="utf-8"?>
<p:tagLst xmlns:a="http://schemas.openxmlformats.org/drawingml/2006/main" xmlns:r="http://schemas.openxmlformats.org/officeDocument/2006/relationships" xmlns:p="http://schemas.openxmlformats.org/presentationml/2006/main">
  <p:tag name="PS_COMPARE_SHAPE_ID" val="3ec0173b-674c-4683-bc1c-d6e059e599ac"/>
</p:tagLst>
</file>

<file path=ppt/tags/tag20.xml><?xml version="1.0" encoding="utf-8"?>
<p:tagLst xmlns:a="http://schemas.openxmlformats.org/drawingml/2006/main" xmlns:r="http://schemas.openxmlformats.org/officeDocument/2006/relationships" xmlns:p="http://schemas.openxmlformats.org/presentationml/2006/main">
  <p:tag name="PS_COMPARE_SHAPE_ID" val="1c592317-5fb3-423b-aa92-949cd7b03a2f"/>
</p:tagLst>
</file>

<file path=ppt/tags/tag21.xml><?xml version="1.0" encoding="utf-8"?>
<p:tagLst xmlns:a="http://schemas.openxmlformats.org/drawingml/2006/main" xmlns:r="http://schemas.openxmlformats.org/officeDocument/2006/relationships" xmlns:p="http://schemas.openxmlformats.org/presentationml/2006/main">
  <p:tag name="PS_COMPARE_SHAPE_ID" val="e2763aab-fdc3-4ca5-b058-2728457316f4"/>
</p:tagLst>
</file>

<file path=ppt/tags/tag22.xml><?xml version="1.0" encoding="utf-8"?>
<p:tagLst xmlns:a="http://schemas.openxmlformats.org/drawingml/2006/main" xmlns:r="http://schemas.openxmlformats.org/officeDocument/2006/relationships" xmlns:p="http://schemas.openxmlformats.org/presentationml/2006/main">
  <p:tag name="PS_COMPARE_SHAPE_ID" val="bb58938f-7649-4da3-887d-b5ec6cdce3b8"/>
</p:tagLst>
</file>

<file path=ppt/tags/tag23.xml><?xml version="1.0" encoding="utf-8"?>
<p:tagLst xmlns:a="http://schemas.openxmlformats.org/drawingml/2006/main" xmlns:r="http://schemas.openxmlformats.org/officeDocument/2006/relationships" xmlns:p="http://schemas.openxmlformats.org/presentationml/2006/main">
  <p:tag name="PS_COMPARE_SHAPE_ID" val="47ffe88c-fb9a-415b-9dfb-f106a675ecc7"/>
</p:tagLst>
</file>

<file path=ppt/tags/tag24.xml><?xml version="1.0" encoding="utf-8"?>
<p:tagLst xmlns:a="http://schemas.openxmlformats.org/drawingml/2006/main" xmlns:r="http://schemas.openxmlformats.org/officeDocument/2006/relationships" xmlns:p="http://schemas.openxmlformats.org/presentationml/2006/main">
  <p:tag name="PS_COMPARE_SHAPE_ID" val="dfa3156f-1856-4d44-bad4-5d13bc250c6e"/>
</p:tagLst>
</file>

<file path=ppt/tags/tag25.xml><?xml version="1.0" encoding="utf-8"?>
<p:tagLst xmlns:a="http://schemas.openxmlformats.org/drawingml/2006/main" xmlns:r="http://schemas.openxmlformats.org/officeDocument/2006/relationships" xmlns:p="http://schemas.openxmlformats.org/presentationml/2006/main">
  <p:tag name="PS_COMPARE_SHAPE_ID" val="fc486e30-6de5-4cc1-bc3f-02e624b350d3"/>
</p:tagLst>
</file>

<file path=ppt/tags/tag26.xml><?xml version="1.0" encoding="utf-8"?>
<p:tagLst xmlns:a="http://schemas.openxmlformats.org/drawingml/2006/main" xmlns:r="http://schemas.openxmlformats.org/officeDocument/2006/relationships" xmlns:p="http://schemas.openxmlformats.org/presentationml/2006/main">
  <p:tag name="PS_COMPARE_SHAPE_ID" val="70d6ff7d-1850-4e5b-b0b5-3ec997de6032"/>
</p:tagLst>
</file>

<file path=ppt/tags/tag27.xml><?xml version="1.0" encoding="utf-8"?>
<p:tagLst xmlns:a="http://schemas.openxmlformats.org/drawingml/2006/main" xmlns:r="http://schemas.openxmlformats.org/officeDocument/2006/relationships" xmlns:p="http://schemas.openxmlformats.org/presentationml/2006/main">
  <p:tag name="PS_COMPARE_SHAPE_ID" val="e8fb7eea-9d43-4bfa-8697-846569ca2b7a"/>
</p:tagLst>
</file>

<file path=ppt/tags/tag28.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29.xml><?xml version="1.0" encoding="utf-8"?>
<p:tagLst xmlns:a="http://schemas.openxmlformats.org/drawingml/2006/main" xmlns:r="http://schemas.openxmlformats.org/officeDocument/2006/relationships" xmlns:p="http://schemas.openxmlformats.org/presentationml/2006/main">
  <p:tag name="PS_COMPARE_SLIDE_ID" val="526a4178-ed4c-46d6-852c-431c1af16407"/>
</p:tagLst>
</file>

<file path=ppt/tags/tag30.xml><?xml version="1.0" encoding="utf-8"?>
<p:tagLst xmlns:a="http://schemas.openxmlformats.org/drawingml/2006/main" xmlns:r="http://schemas.openxmlformats.org/officeDocument/2006/relationships" xmlns:p="http://schemas.openxmlformats.org/presentationml/2006/main">
  <p:tag name="PS_COMPARE_SHAPE_ID" val="b07e4eae-6d0b-4607-ba24-a5643112063e"/>
</p:tagLst>
</file>

<file path=ppt/tags/tag31.xml><?xml version="1.0" encoding="utf-8"?>
<p:tagLst xmlns:a="http://schemas.openxmlformats.org/drawingml/2006/main" xmlns:r="http://schemas.openxmlformats.org/officeDocument/2006/relationships" xmlns:p="http://schemas.openxmlformats.org/presentationml/2006/main">
  <p:tag name="PS_COMPARE_SHAPE_ID" val="177a09e3-8c8f-4a3c-a386-76e07e37151a"/>
</p:tagLst>
</file>

<file path=ppt/tags/tag32.xml><?xml version="1.0" encoding="utf-8"?>
<p:tagLst xmlns:a="http://schemas.openxmlformats.org/drawingml/2006/main" xmlns:r="http://schemas.openxmlformats.org/officeDocument/2006/relationships" xmlns:p="http://schemas.openxmlformats.org/presentationml/2006/main">
  <p:tag name="PS_COMPARE_SHAPE_ID" val="4078d35d-4a3c-4121-a342-ddceaa7eac8b"/>
</p:tagLst>
</file>

<file path=ppt/tags/tag33.xml><?xml version="1.0" encoding="utf-8"?>
<p:tagLst xmlns:a="http://schemas.openxmlformats.org/drawingml/2006/main" xmlns:r="http://schemas.openxmlformats.org/officeDocument/2006/relationships" xmlns:p="http://schemas.openxmlformats.org/presentationml/2006/main">
  <p:tag name="PS_COMPARE_SHAPE_ID" val="bc3a95eb-a8ab-404a-bc2c-52833f0d4ff4"/>
</p:tagLst>
</file>

<file path=ppt/tags/tag34.xml><?xml version="1.0" encoding="utf-8"?>
<p:tagLst xmlns:a="http://schemas.openxmlformats.org/drawingml/2006/main" xmlns:r="http://schemas.openxmlformats.org/officeDocument/2006/relationships" xmlns:p="http://schemas.openxmlformats.org/presentationml/2006/main">
  <p:tag name="PS_COMPARE_SHAPE_ID" val="be5f3586-c920-4494-99fa-0b401b83b497"/>
</p:tagLst>
</file>

<file path=ppt/tags/tag35.xml><?xml version="1.0" encoding="utf-8"?>
<p:tagLst xmlns:a="http://schemas.openxmlformats.org/drawingml/2006/main" xmlns:r="http://schemas.openxmlformats.org/officeDocument/2006/relationships" xmlns:p="http://schemas.openxmlformats.org/presentationml/2006/main">
  <p:tag name="PS_COMPARE_SHAPE_ID" val="27fd54da-07e3-4700-89ec-a872e18b52b0"/>
</p:tagLst>
</file>

<file path=ppt/tags/tag36.xml><?xml version="1.0" encoding="utf-8"?>
<p:tagLst xmlns:a="http://schemas.openxmlformats.org/drawingml/2006/main" xmlns:r="http://schemas.openxmlformats.org/officeDocument/2006/relationships" xmlns:p="http://schemas.openxmlformats.org/presentationml/2006/main">
  <p:tag name="PS_COMPARE_SHAPE_ID" val="10db0ec3-1a63-438e-b311-168bb08c22b7"/>
</p:tagLst>
</file>

<file path=ppt/tags/tag37.xml><?xml version="1.0" encoding="utf-8"?>
<p:tagLst xmlns:a="http://schemas.openxmlformats.org/drawingml/2006/main" xmlns:r="http://schemas.openxmlformats.org/officeDocument/2006/relationships" xmlns:p="http://schemas.openxmlformats.org/presentationml/2006/main">
  <p:tag name="PS_COMPARE_SHAPE_ID" val="916ad92b-9a70-411b-b77c-6e625a61e95f"/>
</p:tagLst>
</file>

<file path=ppt/tags/tag38.xml><?xml version="1.0" encoding="utf-8"?>
<p:tagLst xmlns:a="http://schemas.openxmlformats.org/drawingml/2006/main" xmlns:r="http://schemas.openxmlformats.org/officeDocument/2006/relationships" xmlns:p="http://schemas.openxmlformats.org/presentationml/2006/main">
  <p:tag name="PS_COMPARE_SHAPE_ID" val="7c633b2a-22d1-4759-a894-551a74f733bc"/>
</p:tagLst>
</file>

<file path=ppt/tags/tag39.xml><?xml version="1.0" encoding="utf-8"?>
<p:tagLst xmlns:a="http://schemas.openxmlformats.org/drawingml/2006/main" xmlns:r="http://schemas.openxmlformats.org/officeDocument/2006/relationships" xmlns:p="http://schemas.openxmlformats.org/presentationml/2006/main">
  <p:tag name="PS_COMPARE_SHAPE_ID" val="eef72260-0627-4cfd-8a8b-ec0a10129522"/>
</p:tagLst>
</file>

<file path=ppt/tags/tag40.xml><?xml version="1.0" encoding="utf-8"?>
<p:tagLst xmlns:a="http://schemas.openxmlformats.org/drawingml/2006/main" xmlns:r="http://schemas.openxmlformats.org/officeDocument/2006/relationships" xmlns:p="http://schemas.openxmlformats.org/presentationml/2006/main">
  <p:tag name="PS_COMPARE_SHAPE_ID" val="3f97ecd9-2dc9-4a02-9c19-bfd8d7a215dc"/>
</p:tagLst>
</file>

<file path=ppt/tags/tag41.xml><?xml version="1.0" encoding="utf-8"?>
<p:tagLst xmlns:a="http://schemas.openxmlformats.org/drawingml/2006/main" xmlns:r="http://schemas.openxmlformats.org/officeDocument/2006/relationships" xmlns:p="http://schemas.openxmlformats.org/presentationml/2006/main">
  <p:tag name="PS_COMPARE_SHAPE_ID" val="55d1236d-f554-4b65-a381-0ba46ff64345"/>
</p:tagLst>
</file>

<file path=ppt/tags/tag42.xml><?xml version="1.0" encoding="utf-8"?>
<p:tagLst xmlns:a="http://schemas.openxmlformats.org/drawingml/2006/main" xmlns:r="http://schemas.openxmlformats.org/officeDocument/2006/relationships" xmlns:p="http://schemas.openxmlformats.org/presentationml/2006/main">
  <p:tag name="PS_COMPARE_SHAPE_ID" val="3b553c20-66f7-42d2-9c9f-6bd74ef991bd"/>
</p:tagLst>
</file>

<file path=ppt/tags/tag43.xml><?xml version="1.0" encoding="utf-8"?>
<p:tagLst xmlns:a="http://schemas.openxmlformats.org/drawingml/2006/main" xmlns:r="http://schemas.openxmlformats.org/officeDocument/2006/relationships" xmlns:p="http://schemas.openxmlformats.org/presentationml/2006/main">
  <p:tag name="PS_COMPARE_SHAPE_ID" val="dcb39d17-4145-4f67-b136-57f85735cb0f"/>
</p:tagLst>
</file>

<file path=ppt/tags/tag44.xml><?xml version="1.0" encoding="utf-8"?>
<p:tagLst xmlns:a="http://schemas.openxmlformats.org/drawingml/2006/main" xmlns:r="http://schemas.openxmlformats.org/officeDocument/2006/relationships" xmlns:p="http://schemas.openxmlformats.org/presentationml/2006/main">
  <p:tag name="PS_COMPARE_SHAPE_ID" val="e91db783-3e96-47fc-a301-16ecda6432ff"/>
</p:tagLst>
</file>

<file path=ppt/tags/tag45.xml><?xml version="1.0" encoding="utf-8"?>
<p:tagLst xmlns:a="http://schemas.openxmlformats.org/drawingml/2006/main" xmlns:r="http://schemas.openxmlformats.org/officeDocument/2006/relationships" xmlns:p="http://schemas.openxmlformats.org/presentationml/2006/main">
  <p:tag name="PS_COMPARE_SHAPE_ID" val="8ed77efe-d33f-4a7b-b045-305bddae515d"/>
</p:tagLst>
</file>

<file path=ppt/tags/tag46.xml><?xml version="1.0" encoding="utf-8"?>
<p:tagLst xmlns:a="http://schemas.openxmlformats.org/drawingml/2006/main" xmlns:r="http://schemas.openxmlformats.org/officeDocument/2006/relationships" xmlns:p="http://schemas.openxmlformats.org/presentationml/2006/main">
  <p:tag name="PS_COMPARE_SHAPE_ID" val="fbae38a5-e86f-4557-92a6-9ccb025d6f71"/>
</p:tagLst>
</file>

<file path=ppt/tags/tag47.xml><?xml version="1.0" encoding="utf-8"?>
<p:tagLst xmlns:a="http://schemas.openxmlformats.org/drawingml/2006/main" xmlns:r="http://schemas.openxmlformats.org/officeDocument/2006/relationships" xmlns:p="http://schemas.openxmlformats.org/presentationml/2006/main">
  <p:tag name="PS_COMPARE_SHAPE_ID" val="54cc7a2d-b0ab-4c23-8191-fdd5de0823fa"/>
</p:tagLst>
</file>

<file path=ppt/tags/tag48.xml><?xml version="1.0" encoding="utf-8"?>
<p:tagLst xmlns:a="http://schemas.openxmlformats.org/drawingml/2006/main" xmlns:r="http://schemas.openxmlformats.org/officeDocument/2006/relationships" xmlns:p="http://schemas.openxmlformats.org/presentationml/2006/main">
  <p:tag name="PS_COMPARE_SHAPE_ID" val="1bc9ed38-d88c-4759-88f2-d336a9894422"/>
</p:tagLst>
</file>

<file path=ppt/tags/tag49.xml><?xml version="1.0" encoding="utf-8"?>
<p:tagLst xmlns:a="http://schemas.openxmlformats.org/drawingml/2006/main" xmlns:r="http://schemas.openxmlformats.org/officeDocument/2006/relationships" xmlns:p="http://schemas.openxmlformats.org/presentationml/2006/main">
  <p:tag name="PS_COMPARE_SHAPE_ID" val="869bdba5-6aaf-43f6-9e47-fe34fe05a211"/>
</p:tagLst>
</file>

<file path=ppt/tags/tag50.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51.xml><?xml version="1.0" encoding="utf-8"?>
<p:tagLst xmlns:a="http://schemas.openxmlformats.org/drawingml/2006/main" xmlns:r="http://schemas.openxmlformats.org/officeDocument/2006/relationships" xmlns:p="http://schemas.openxmlformats.org/presentationml/2006/main">
  <p:tag name="PS_COMPARE_SLIDE_ID" val="ead39073-516c-4157-9ae7-a62a0e643601"/>
</p:tagLst>
</file>

<file path=ppt/tags/tag52.xml><?xml version="1.0" encoding="utf-8"?>
<p:tagLst xmlns:a="http://schemas.openxmlformats.org/drawingml/2006/main" xmlns:r="http://schemas.openxmlformats.org/officeDocument/2006/relationships" xmlns:p="http://schemas.openxmlformats.org/presentationml/2006/main">
  <p:tag name="PS_COMPARE_SHAPE_ID" val="b8111b7e-a84d-4680-b095-1ef267f502d1"/>
</p:tagLst>
</file>

<file path=ppt/tags/tag53.xml><?xml version="1.0" encoding="utf-8"?>
<p:tagLst xmlns:a="http://schemas.openxmlformats.org/drawingml/2006/main" xmlns:r="http://schemas.openxmlformats.org/officeDocument/2006/relationships" xmlns:p="http://schemas.openxmlformats.org/presentationml/2006/main">
  <p:tag name="PS_COMPARE_SHAPE_ID" val="eac5fffc-353c-4324-b3db-86db21639dcb"/>
</p:tagLst>
</file>

<file path=ppt/tags/tag54.xml><?xml version="1.0" encoding="utf-8"?>
<p:tagLst xmlns:a="http://schemas.openxmlformats.org/drawingml/2006/main" xmlns:r="http://schemas.openxmlformats.org/officeDocument/2006/relationships" xmlns:p="http://schemas.openxmlformats.org/presentationml/2006/main">
  <p:tag name="PS_COMPARE_SHAPE_ID" val="060e7cd3-03d3-4e65-b78f-b821dadf3a3d"/>
</p:tagLst>
</file>

<file path=ppt/tags/tag55.xml><?xml version="1.0" encoding="utf-8"?>
<p:tagLst xmlns:a="http://schemas.openxmlformats.org/drawingml/2006/main" xmlns:r="http://schemas.openxmlformats.org/officeDocument/2006/relationships" xmlns:p="http://schemas.openxmlformats.org/presentationml/2006/main">
  <p:tag name="PS_COMPARE_SHAPE_ID" val="676e25ef-dd87-4523-a2a9-167c82d4684d"/>
</p:tagLst>
</file>

<file path=ppt/tags/tag56.xml><?xml version="1.0" encoding="utf-8"?>
<p:tagLst xmlns:a="http://schemas.openxmlformats.org/drawingml/2006/main" xmlns:r="http://schemas.openxmlformats.org/officeDocument/2006/relationships" xmlns:p="http://schemas.openxmlformats.org/presentationml/2006/main">
  <p:tag name="PS_COMPARE_SHAPE_ID" val="0afa8839-3d6c-4fa5-a1ff-980b7808546f"/>
</p:tagLst>
</file>

<file path=ppt/tags/tag57.xml><?xml version="1.0" encoding="utf-8"?>
<p:tagLst xmlns:a="http://schemas.openxmlformats.org/drawingml/2006/main" xmlns:r="http://schemas.openxmlformats.org/officeDocument/2006/relationships" xmlns:p="http://schemas.openxmlformats.org/presentationml/2006/main">
  <p:tag name="PS_COMPARE_SHAPE_ID" val="207c93eb-6d88-4f57-b2ea-af67e0664194"/>
</p:tagLst>
</file>

<file path=ppt/tags/tag58.xml><?xml version="1.0" encoding="utf-8"?>
<p:tagLst xmlns:a="http://schemas.openxmlformats.org/drawingml/2006/main" xmlns:r="http://schemas.openxmlformats.org/officeDocument/2006/relationships" xmlns:p="http://schemas.openxmlformats.org/presentationml/2006/main">
  <p:tag name="PS_COMPARE_SHAPE_ID" val="5f91d929-baaf-4043-a685-ba297f588694"/>
</p:tagLst>
</file>

<file path=ppt/tags/tag59.xml><?xml version="1.0" encoding="utf-8"?>
<p:tagLst xmlns:a="http://schemas.openxmlformats.org/drawingml/2006/main" xmlns:r="http://schemas.openxmlformats.org/officeDocument/2006/relationships" xmlns:p="http://schemas.openxmlformats.org/presentationml/2006/main">
  <p:tag name="PS_COMPARE_SHAPE_ID" val="765c1e0f-37c4-4497-8a01-650b6807181c"/>
</p:tagLst>
</file>

<file path=ppt/tags/tag60.xml><?xml version="1.0" encoding="utf-8"?>
<p:tagLst xmlns:a="http://schemas.openxmlformats.org/drawingml/2006/main" xmlns:r="http://schemas.openxmlformats.org/officeDocument/2006/relationships" xmlns:p="http://schemas.openxmlformats.org/presentationml/2006/main">
  <p:tag name="PS_COMPARE_SHAPE_ID" val="7f0a3616-9227-4ea8-822a-0dccfc52abeb"/>
</p:tagLst>
</file>

<file path=ppt/tags/tag61.xml><?xml version="1.0" encoding="utf-8"?>
<p:tagLst xmlns:a="http://schemas.openxmlformats.org/drawingml/2006/main" xmlns:r="http://schemas.openxmlformats.org/officeDocument/2006/relationships" xmlns:p="http://schemas.openxmlformats.org/presentationml/2006/main">
  <p:tag name="PS_COMPARE_SHAPE_ID" val="fc260268-5f1f-47d0-bbb1-d02efb0b8e31"/>
</p:tagLst>
</file>

<file path=ppt/tags/tag62.xml><?xml version="1.0" encoding="utf-8"?>
<p:tagLst xmlns:a="http://schemas.openxmlformats.org/drawingml/2006/main" xmlns:r="http://schemas.openxmlformats.org/officeDocument/2006/relationships" xmlns:p="http://schemas.openxmlformats.org/presentationml/2006/main">
  <p:tag name="PS_COMPARE_SHAPE_ID" val="154c568b-4e38-4c96-895f-d283709388f2"/>
</p:tagLst>
</file>

<file path=ppt/tags/tag63.xml><?xml version="1.0" encoding="utf-8"?>
<p:tagLst xmlns:a="http://schemas.openxmlformats.org/drawingml/2006/main" xmlns:r="http://schemas.openxmlformats.org/officeDocument/2006/relationships" xmlns:p="http://schemas.openxmlformats.org/presentationml/2006/main">
  <p:tag name="PS_COMPARE_SHAPE_ID" val="e82b5b05-4142-4619-8d9c-676db95a2151"/>
</p:tagLst>
</file>

<file path=ppt/tags/tag64.xml><?xml version="1.0" encoding="utf-8"?>
<p:tagLst xmlns:a="http://schemas.openxmlformats.org/drawingml/2006/main" xmlns:r="http://schemas.openxmlformats.org/officeDocument/2006/relationships" xmlns:p="http://schemas.openxmlformats.org/presentationml/2006/main">
  <p:tag name="PS_COMPARE_SHAPE_ID" val="ddf2a5d4-7a2e-4c2c-8ff8-070e7568656c"/>
</p:tagLst>
</file>

<file path=ppt/tags/tag65.xml><?xml version="1.0" encoding="utf-8"?>
<p:tagLst xmlns:a="http://schemas.openxmlformats.org/drawingml/2006/main" xmlns:r="http://schemas.openxmlformats.org/officeDocument/2006/relationships" xmlns:p="http://schemas.openxmlformats.org/presentationml/2006/main">
  <p:tag name="PS_COMPARE_SHAPE_ID" val="eadb8877-7dd9-446b-bdf0-636309e346fa"/>
</p:tagLst>
</file>

<file path=ppt/tags/tag66.xml><?xml version="1.0" encoding="utf-8"?>
<p:tagLst xmlns:a="http://schemas.openxmlformats.org/drawingml/2006/main" xmlns:r="http://schemas.openxmlformats.org/officeDocument/2006/relationships" xmlns:p="http://schemas.openxmlformats.org/presentationml/2006/main">
  <p:tag name="PS_COMPARE_SHAPE_ID" val="6c90f254-b9e5-4b04-ab30-a25dce1a6432"/>
</p:tagLst>
</file>

<file path=ppt/tags/tag67.xml><?xml version="1.0" encoding="utf-8"?>
<p:tagLst xmlns:a="http://schemas.openxmlformats.org/drawingml/2006/main" xmlns:r="http://schemas.openxmlformats.org/officeDocument/2006/relationships" xmlns:p="http://schemas.openxmlformats.org/presentationml/2006/main">
  <p:tag name="PS_COMPARE_SHAPE_ID" val="11153527-09ca-4f48-8af5-5d749dd5acfe"/>
</p:tagLst>
</file>

<file path=ppt/tags/tag68.xml><?xml version="1.0" encoding="utf-8"?>
<p:tagLst xmlns:a="http://schemas.openxmlformats.org/drawingml/2006/main" xmlns:r="http://schemas.openxmlformats.org/officeDocument/2006/relationships" xmlns:p="http://schemas.openxmlformats.org/presentationml/2006/main">
  <p:tag name="PS_COMPARE_SHAPE_ID" val="dd74c2df-0518-412e-a3ab-b7138f5f9541"/>
</p:tagLst>
</file>

<file path=ppt/tags/tag69.xml><?xml version="1.0" encoding="utf-8"?>
<p:tagLst xmlns:a="http://schemas.openxmlformats.org/drawingml/2006/main" xmlns:r="http://schemas.openxmlformats.org/officeDocument/2006/relationships" xmlns:p="http://schemas.openxmlformats.org/presentationml/2006/main">
  <p:tag name="PS_COMPARE_SHAPE_ID" val="c37ae478-d0d7-463b-bed2-5703ae01e865"/>
</p:tagLst>
</file>

<file path=ppt/tags/tag70.xml><?xml version="1.0" encoding="utf-8"?>
<p:tagLst xmlns:a="http://schemas.openxmlformats.org/drawingml/2006/main" xmlns:r="http://schemas.openxmlformats.org/officeDocument/2006/relationships" xmlns:p="http://schemas.openxmlformats.org/presentationml/2006/main">
  <p:tag name="PS_COMPARE_SHAPE_ID" val="4451e4b6-c286-45c7-9cc7-d4cc44048590"/>
</p:tagLst>
</file>

<file path=ppt/tags/tag71.xml><?xml version="1.0" encoding="utf-8"?>
<p:tagLst xmlns:a="http://schemas.openxmlformats.org/drawingml/2006/main" xmlns:r="http://schemas.openxmlformats.org/officeDocument/2006/relationships" xmlns:p="http://schemas.openxmlformats.org/presentationml/2006/main">
  <p:tag name="PS_COMPARE_SHAPE_ID" val="a7608e34-dd68-4047-a783-547b4e4b5a20"/>
</p:tagLst>
</file>

<file path=ppt/tags/tag72.xml><?xml version="1.0" encoding="utf-8"?>
<p:tagLst xmlns:a="http://schemas.openxmlformats.org/drawingml/2006/main" xmlns:r="http://schemas.openxmlformats.org/officeDocument/2006/relationships" xmlns:p="http://schemas.openxmlformats.org/presentationml/2006/main">
  <p:tag name="PS_COMPARE_SHAPE_ID" val="b93dd49b-eaee-460a-a146-b48849ae5282"/>
</p:tagLst>
</file>

<file path=ppt/tags/tag73.xml><?xml version="1.0" encoding="utf-8"?>
<p:tagLst xmlns:a="http://schemas.openxmlformats.org/drawingml/2006/main" xmlns:r="http://schemas.openxmlformats.org/officeDocument/2006/relationships" xmlns:p="http://schemas.openxmlformats.org/presentationml/2006/main">
  <p:tag name="PS_COMPARE_SHAPE_ID" val="17808f4b-b18e-4de4-bd37-a1e2b4b4ae46"/>
</p:tagLst>
</file>

<file path=ppt/tags/tag74.xml><?xml version="1.0" encoding="utf-8"?>
<p:tagLst xmlns:a="http://schemas.openxmlformats.org/drawingml/2006/main" xmlns:r="http://schemas.openxmlformats.org/officeDocument/2006/relationships" xmlns:p="http://schemas.openxmlformats.org/presentationml/2006/main">
  <p:tag name="PS_COMPARE_SHAPE_ID" val="4a798c15-a6cc-410d-95e8-c02c642e1ade"/>
</p:tagLst>
</file>

<file path=ppt/tags/tag75.xml><?xml version="1.0" encoding="utf-8"?>
<p:tagLst xmlns:a="http://schemas.openxmlformats.org/drawingml/2006/main" xmlns:r="http://schemas.openxmlformats.org/officeDocument/2006/relationships" xmlns:p="http://schemas.openxmlformats.org/presentationml/2006/main">
  <p:tag name="PS_COMPARE_SHAPE_ID" val="7bd728f0-6e5b-4f7a-8a2e-7aa42c231620"/>
</p:tagLst>
</file>

<file path=ppt/tags/tag76.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77.xml><?xml version="1.0" encoding="utf-8"?>
<p:tagLst xmlns:a="http://schemas.openxmlformats.org/drawingml/2006/main" xmlns:r="http://schemas.openxmlformats.org/officeDocument/2006/relationships" xmlns:p="http://schemas.openxmlformats.org/presentationml/2006/main">
  <p:tag name="PS_COMPARE_SLIDE_ID" val="7554086e-8907-4c0d-a270-af31cc3f2203"/>
</p:tagLst>
</file>

<file path=ppt/tags/tag78.xml><?xml version="1.0" encoding="utf-8"?>
<p:tagLst xmlns:a="http://schemas.openxmlformats.org/drawingml/2006/main" xmlns:r="http://schemas.openxmlformats.org/officeDocument/2006/relationships" xmlns:p="http://schemas.openxmlformats.org/presentationml/2006/main">
  <p:tag name="PS_COMPARE_SHAPE_ID" val="783bf862-bbd3-427b-85eb-2191e57cf2ba"/>
</p:tagLst>
</file>

<file path=ppt/tags/tag79.xml><?xml version="1.0" encoding="utf-8"?>
<p:tagLst xmlns:a="http://schemas.openxmlformats.org/drawingml/2006/main" xmlns:r="http://schemas.openxmlformats.org/officeDocument/2006/relationships" xmlns:p="http://schemas.openxmlformats.org/presentationml/2006/main">
  <p:tag name="PS_COMPARE_SHAPE_ID" val="75b5b57e-6a82-45b3-9ea5-70ac1aea00de"/>
</p:tagLst>
</file>

<file path=ppt/tags/tag80.xml><?xml version="1.0" encoding="utf-8"?>
<p:tagLst xmlns:a="http://schemas.openxmlformats.org/drawingml/2006/main" xmlns:r="http://schemas.openxmlformats.org/officeDocument/2006/relationships" xmlns:p="http://schemas.openxmlformats.org/presentationml/2006/main">
  <p:tag name="PS_COMPARE_SHAPE_ID" val="cf34dec8-c2ca-4355-b9e3-a7f33c8715ef"/>
</p:tagLst>
</file>

<file path=ppt/tags/tag81.xml><?xml version="1.0" encoding="utf-8"?>
<p:tagLst xmlns:a="http://schemas.openxmlformats.org/drawingml/2006/main" xmlns:r="http://schemas.openxmlformats.org/officeDocument/2006/relationships" xmlns:p="http://schemas.openxmlformats.org/presentationml/2006/main">
  <p:tag name="PS_COMPARE_SHAPE_ID" val="d699c48c-0219-42e6-a926-56f80e75d0b7"/>
</p:tagLst>
</file>

<file path=ppt/tags/tag82.xml><?xml version="1.0" encoding="utf-8"?>
<p:tagLst xmlns:a="http://schemas.openxmlformats.org/drawingml/2006/main" xmlns:r="http://schemas.openxmlformats.org/officeDocument/2006/relationships" xmlns:p="http://schemas.openxmlformats.org/presentationml/2006/main">
  <p:tag name="PS_COMPARE_SHAPE_ID" val="4fc4d7b5-cce3-45ec-a9da-29128bfb7038"/>
</p:tagLst>
</file>

<file path=ppt/tags/tag83.xml><?xml version="1.0" encoding="utf-8"?>
<p:tagLst xmlns:a="http://schemas.openxmlformats.org/drawingml/2006/main" xmlns:r="http://schemas.openxmlformats.org/officeDocument/2006/relationships" xmlns:p="http://schemas.openxmlformats.org/presentationml/2006/main">
  <p:tag name="PS_COMPARE_SHAPE_ID" val="b61d7b14-1edc-4b03-b9f9-010b4ff9b813"/>
</p:tagLst>
</file>

<file path=ppt/tags/tag84.xml><?xml version="1.0" encoding="utf-8"?>
<p:tagLst xmlns:a="http://schemas.openxmlformats.org/drawingml/2006/main" xmlns:r="http://schemas.openxmlformats.org/officeDocument/2006/relationships" xmlns:p="http://schemas.openxmlformats.org/presentationml/2006/main">
  <p:tag name="PS_COMPARE_SHAPE_ID" val="94d36b97-ecba-47e2-b4bb-aad4d3d71097"/>
</p:tagLst>
</file>

<file path=ppt/tags/tag85.xml><?xml version="1.0" encoding="utf-8"?>
<p:tagLst xmlns:a="http://schemas.openxmlformats.org/drawingml/2006/main" xmlns:r="http://schemas.openxmlformats.org/officeDocument/2006/relationships" xmlns:p="http://schemas.openxmlformats.org/presentationml/2006/main">
  <p:tag name="PS_COMPARE_SHAPE_ID" val="88b4186b-cb1e-487c-96ec-9782d9d8022b"/>
</p:tagLst>
</file>

<file path=ppt/tags/tag86.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87.xml><?xml version="1.0" encoding="utf-8"?>
<p:tagLst xmlns:a="http://schemas.openxmlformats.org/drawingml/2006/main" xmlns:r="http://schemas.openxmlformats.org/officeDocument/2006/relationships" xmlns:p="http://schemas.openxmlformats.org/presentationml/2006/main">
  <p:tag name="PS_COMPARE_SLIDE_ID" val="f77dfad4-5fa9-48c8-854c-ccf225943cea"/>
</p:tagLst>
</file>

<file path=ppt/tags/tag88.xml><?xml version="1.0" encoding="utf-8"?>
<p:tagLst xmlns:a="http://schemas.openxmlformats.org/drawingml/2006/main" xmlns:r="http://schemas.openxmlformats.org/officeDocument/2006/relationships" xmlns:p="http://schemas.openxmlformats.org/presentationml/2006/main">
  <p:tag name="PS_COMPARE_SHAPE_ID" val="2c97b8fa-f434-4d7b-97a1-78322ddcb3c2"/>
</p:tagLst>
</file>

<file path=ppt/tags/tag89.xml><?xml version="1.0" encoding="utf-8"?>
<p:tagLst xmlns:a="http://schemas.openxmlformats.org/drawingml/2006/main" xmlns:r="http://schemas.openxmlformats.org/officeDocument/2006/relationships" xmlns:p="http://schemas.openxmlformats.org/presentationml/2006/main">
  <p:tag name="PS_COMPARE_SHAPE_ID" val="ace70d94-b6d3-4231-8e8b-51af67ac0e2f"/>
</p:tagLst>
</file>

<file path=ppt/tags/tag90.xml><?xml version="1.0" encoding="utf-8"?>
<p:tagLst xmlns:a="http://schemas.openxmlformats.org/drawingml/2006/main" xmlns:r="http://schemas.openxmlformats.org/officeDocument/2006/relationships" xmlns:p="http://schemas.openxmlformats.org/presentationml/2006/main">
  <p:tag name="PS_COMPARE_SHAPE_ID" val="6ada46d2-b260-4208-85b1-780acb69e327"/>
</p:tagLst>
</file>

<file path=ppt/tags/tag91.xml><?xml version="1.0" encoding="utf-8"?>
<p:tagLst xmlns:a="http://schemas.openxmlformats.org/drawingml/2006/main" xmlns:r="http://schemas.openxmlformats.org/officeDocument/2006/relationships" xmlns:p="http://schemas.openxmlformats.org/presentationml/2006/main">
  <p:tag name="PS_COMPARE_SHAPE_ID" val="90bbeb97-960e-4330-9a99-4d9224eb4154"/>
</p:tagLst>
</file>

<file path=ppt/tags/tag92.xml><?xml version="1.0" encoding="utf-8"?>
<p:tagLst xmlns:a="http://schemas.openxmlformats.org/drawingml/2006/main" xmlns:r="http://schemas.openxmlformats.org/officeDocument/2006/relationships" xmlns:p="http://schemas.openxmlformats.org/presentationml/2006/main">
  <p:tag name="PS_COMPARE_SHAPE_ID" val="cf496ef2-d9c6-4179-883a-b6d9cbe0c1e9"/>
</p:tagLst>
</file>

<file path=ppt/tags/tag93.xml><?xml version="1.0" encoding="utf-8"?>
<p:tagLst xmlns:a="http://schemas.openxmlformats.org/drawingml/2006/main" xmlns:r="http://schemas.openxmlformats.org/officeDocument/2006/relationships" xmlns:p="http://schemas.openxmlformats.org/presentationml/2006/main">
  <p:tag name="PS_COMPARE_SHAPE_ID" val="b7d18a12-0c01-4f0e-85f4-9b40426ad61b"/>
</p:tagLst>
</file>

<file path=ppt/tags/tag94.xml><?xml version="1.0" encoding="utf-8"?>
<p:tagLst xmlns:a="http://schemas.openxmlformats.org/drawingml/2006/main" xmlns:r="http://schemas.openxmlformats.org/officeDocument/2006/relationships" xmlns:p="http://schemas.openxmlformats.org/presentationml/2006/main">
  <p:tag name="PS_COMPARE_SHAPE_ID" val="53821fff-c545-49ca-90ee-654d298bf599"/>
</p:tagLst>
</file>

<file path=ppt/tags/tag95.xml><?xml version="1.0" encoding="utf-8"?>
<p:tagLst xmlns:a="http://schemas.openxmlformats.org/drawingml/2006/main" xmlns:r="http://schemas.openxmlformats.org/officeDocument/2006/relationships" xmlns:p="http://schemas.openxmlformats.org/presentationml/2006/main">
  <p:tag name="PS_COMPARE_SHAPE_ID" val="d0dc602f-b928-473d-b6ce-266e08df3687"/>
</p:tagLst>
</file>

<file path=ppt/tags/tag96.xml><?xml version="1.0" encoding="utf-8"?>
<p:tagLst xmlns:a="http://schemas.openxmlformats.org/drawingml/2006/main" xmlns:r="http://schemas.openxmlformats.org/officeDocument/2006/relationships" xmlns:p="http://schemas.openxmlformats.org/presentationml/2006/main">
  <p:tag name="PS_COMPARE_SHAPE_ID" val="eac37788-d06c-493a-8917-072298266688"/>
</p:tagLst>
</file>

<file path=ppt/tags/tag97.xml><?xml version="1.0" encoding="utf-8"?>
<p:tagLst xmlns:a="http://schemas.openxmlformats.org/drawingml/2006/main" xmlns:r="http://schemas.openxmlformats.org/officeDocument/2006/relationships" xmlns:p="http://schemas.openxmlformats.org/presentationml/2006/main">
  <p:tag name="PS_COMPARE_SHAPE_ID" val="e1bee203-aee4-4b19-a510-2d9cf845e847"/>
</p:tagLst>
</file>

<file path=ppt/tags/tag98.xml><?xml version="1.0" encoding="utf-8"?>
<p:tagLst xmlns:a="http://schemas.openxmlformats.org/drawingml/2006/main" xmlns:r="http://schemas.openxmlformats.org/officeDocument/2006/relationships" xmlns:p="http://schemas.openxmlformats.org/presentationml/2006/main">
  <p:tag name="PS_COMPARE_SHAPE_ID" val="81f9de7f-7a5f-4729-806e-fe1b9749b48b"/>
</p:tagLst>
</file>

<file path=ppt/tags/tag99.xml><?xml version="1.0" encoding="utf-8"?>
<p:tagLst xmlns:a="http://schemas.openxmlformats.org/drawingml/2006/main" xmlns:r="http://schemas.openxmlformats.org/officeDocument/2006/relationships" xmlns:p="http://schemas.openxmlformats.org/presentationml/2006/main">
  <p:tag name="PS_COMPARE_SHAPE_ID" val="f4cb2ab1-66a6-4f2a-9dbe-fe6253e8e9be"/>
</p:tagLst>
</file>

<file path=ppt/tags/tag100.xml><?xml version="1.0" encoding="utf-8"?>
<p:tagLst xmlns:a="http://schemas.openxmlformats.org/drawingml/2006/main" xmlns:r="http://schemas.openxmlformats.org/officeDocument/2006/relationships" xmlns:p="http://schemas.openxmlformats.org/presentationml/2006/main">
  <p:tag name="PS_COMPARE_SHAPE_ID" val="8d0cab82-c0d1-4adf-85c4-4fcf406a5acc"/>
</p:tagLst>
</file>

<file path=ppt/tags/tag101.xml><?xml version="1.0" encoding="utf-8"?>
<p:tagLst xmlns:a="http://schemas.openxmlformats.org/drawingml/2006/main" xmlns:r="http://schemas.openxmlformats.org/officeDocument/2006/relationships" xmlns:p="http://schemas.openxmlformats.org/presentationml/2006/main">
  <p:tag name="PS_COMPARE_SHAPE_ID" val="349e03f5-0c44-4160-803d-70d8485fcb2b"/>
</p:tagLst>
</file>

<file path=ppt/tags/tag102.xml><?xml version="1.0" encoding="utf-8"?>
<p:tagLst xmlns:a="http://schemas.openxmlformats.org/drawingml/2006/main" xmlns:r="http://schemas.openxmlformats.org/officeDocument/2006/relationships" xmlns:p="http://schemas.openxmlformats.org/presentationml/2006/main">
  <p:tag name="PS_COMPARE_SHAPE_ID" val="343b2dbe-de4e-48b4-9d0b-25153b29b5b2"/>
</p:tagLst>
</file>

<file path=ppt/tags/tag103.xml><?xml version="1.0" encoding="utf-8"?>
<p:tagLst xmlns:a="http://schemas.openxmlformats.org/drawingml/2006/main" xmlns:r="http://schemas.openxmlformats.org/officeDocument/2006/relationships" xmlns:p="http://schemas.openxmlformats.org/presentationml/2006/main">
  <p:tag name="PS_COMPARE_SHAPE_ID" val="e6971c3f-7ccb-4b78-a44a-57789826d9bf"/>
</p:tagLst>
</file>

<file path=ppt/tags/tag104.xml><?xml version="1.0" encoding="utf-8"?>
<p:tagLst xmlns:a="http://schemas.openxmlformats.org/drawingml/2006/main" xmlns:r="http://schemas.openxmlformats.org/officeDocument/2006/relationships" xmlns:p="http://schemas.openxmlformats.org/presentationml/2006/main">
  <p:tag name="PS_COMPARE_SHAPE_ID" val="514a4cb1-fa9c-476e-aabb-40a52fd7e652"/>
</p:tagLst>
</file>

<file path=ppt/tags/tag105.xml><?xml version="1.0" encoding="utf-8"?>
<p:tagLst xmlns:a="http://schemas.openxmlformats.org/drawingml/2006/main" xmlns:r="http://schemas.openxmlformats.org/officeDocument/2006/relationships" xmlns:p="http://schemas.openxmlformats.org/presentationml/2006/main">
  <p:tag name="PS_COMPARE_SHAPE_ID" val="857d3eda-ef0a-46f3-8bf7-3949af170859"/>
</p:tagLst>
</file>

<file path=ppt/tags/tag106.xml><?xml version="1.0" encoding="utf-8"?>
<p:tagLst xmlns:a="http://schemas.openxmlformats.org/drawingml/2006/main" xmlns:r="http://schemas.openxmlformats.org/officeDocument/2006/relationships" xmlns:p="http://schemas.openxmlformats.org/presentationml/2006/main">
  <p:tag name="PS_COMPARE_SHAPE_ID" val="195b2646-dcbc-437b-93d6-bf2f665e2f58"/>
</p:tagLst>
</file>

<file path=ppt/tags/tag107.xml><?xml version="1.0" encoding="utf-8"?>
<p:tagLst xmlns:a="http://schemas.openxmlformats.org/drawingml/2006/main" xmlns:r="http://schemas.openxmlformats.org/officeDocument/2006/relationships" xmlns:p="http://schemas.openxmlformats.org/presentationml/2006/main">
  <p:tag name="PS_COMPARE_SHAPE_ID" val="9c085bea-90cd-4d0d-b165-bb1271d67934"/>
</p:tagLst>
</file>

<file path=ppt/tags/tag108.xml><?xml version="1.0" encoding="utf-8"?>
<p:tagLst xmlns:a="http://schemas.openxmlformats.org/drawingml/2006/main" xmlns:r="http://schemas.openxmlformats.org/officeDocument/2006/relationships" xmlns:p="http://schemas.openxmlformats.org/presentationml/2006/main">
  <p:tag name="PS_COMPARE_SHAPE_ID" val="8e90b230-cb1c-4d5a-a7f9-3232a34dc3a3"/>
</p:tagLst>
</file>

<file path=ppt/tags/tag109.xml><?xml version="1.0" encoding="utf-8"?>
<p:tagLst xmlns:a="http://schemas.openxmlformats.org/drawingml/2006/main" xmlns:r="http://schemas.openxmlformats.org/officeDocument/2006/relationships" xmlns:p="http://schemas.openxmlformats.org/presentationml/2006/main">
  <p:tag name="PS_COMPARE_SHAPE_ID" val="cc0e0c40-1bec-4e1c-866b-2126e1c09bd6"/>
</p:tagLst>
</file>

<file path=ppt/tags/tag110.xml><?xml version="1.0" encoding="utf-8"?>
<p:tagLst xmlns:a="http://schemas.openxmlformats.org/drawingml/2006/main" xmlns:r="http://schemas.openxmlformats.org/officeDocument/2006/relationships" xmlns:p="http://schemas.openxmlformats.org/presentationml/2006/main">
  <p:tag name="PS_COMPARE_SHAPE_ID" val="706cbd57-8d9f-4a48-8ca1-aaf3f0db1016"/>
</p:tagLst>
</file>

<file path=ppt/tags/tag111.xml><?xml version="1.0" encoding="utf-8"?>
<p:tagLst xmlns:a="http://schemas.openxmlformats.org/drawingml/2006/main" xmlns:r="http://schemas.openxmlformats.org/officeDocument/2006/relationships" xmlns:p="http://schemas.openxmlformats.org/presentationml/2006/main">
  <p:tag name="PS_COMPARE_SHAPE_ID" val="f9b78ee1-bb30-4c68-8a21-171652cd556c"/>
</p:tagLst>
</file>

<file path=ppt/tags/tag112.xml><?xml version="1.0" encoding="utf-8"?>
<p:tagLst xmlns:a="http://schemas.openxmlformats.org/drawingml/2006/main" xmlns:r="http://schemas.openxmlformats.org/officeDocument/2006/relationships" xmlns:p="http://schemas.openxmlformats.org/presentationml/2006/main">
  <p:tag name="PS_COMPARE_SHAPE_ID" val="d301f378-8c3b-4dc2-a037-b1a89754afe6"/>
</p:tagLst>
</file>

<file path=ppt/tags/tag113.xml><?xml version="1.0" encoding="utf-8"?>
<p:tagLst xmlns:a="http://schemas.openxmlformats.org/drawingml/2006/main" xmlns:r="http://schemas.openxmlformats.org/officeDocument/2006/relationships" xmlns:p="http://schemas.openxmlformats.org/presentationml/2006/main">
  <p:tag name="PS_COMPARE_SHAPE_ID" val="831fc92d-82b0-460f-8f89-c82add054bb5"/>
</p:tagLst>
</file>

<file path=ppt/tags/tag114.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115.xml><?xml version="1.0" encoding="utf-8"?>
<p:tagLst xmlns:a="http://schemas.openxmlformats.org/drawingml/2006/main" xmlns:r="http://schemas.openxmlformats.org/officeDocument/2006/relationships" xmlns:p="http://schemas.openxmlformats.org/presentationml/2006/main">
  <p:tag name="PS_COMPARE_SLIDE_ID" val="8a998109-47de-4d69-9c5a-ee6ed5ccc585"/>
</p:tagLst>
</file>

<file path=ppt/tags/tag116.xml><?xml version="1.0" encoding="utf-8"?>
<p:tagLst xmlns:a="http://schemas.openxmlformats.org/drawingml/2006/main" xmlns:r="http://schemas.openxmlformats.org/officeDocument/2006/relationships" xmlns:p="http://schemas.openxmlformats.org/presentationml/2006/main">
  <p:tag name="PS_COMPARE_SHAPE_ID" val="e284e8ee-e77d-4274-90ad-f21b6d34dfb8"/>
</p:tagLst>
</file>

<file path=ppt/tags/tag117.xml><?xml version="1.0" encoding="utf-8"?>
<p:tagLst xmlns:a="http://schemas.openxmlformats.org/drawingml/2006/main" xmlns:r="http://schemas.openxmlformats.org/officeDocument/2006/relationships" xmlns:p="http://schemas.openxmlformats.org/presentationml/2006/main">
  <p:tag name="PS_COMPARE_SHAPE_ID" val="5be79132-3986-4997-b12b-1444f1e5cabd"/>
</p:tagLst>
</file>

<file path=ppt/tags/tag118.xml><?xml version="1.0" encoding="utf-8"?>
<p:tagLst xmlns:a="http://schemas.openxmlformats.org/drawingml/2006/main" xmlns:r="http://schemas.openxmlformats.org/officeDocument/2006/relationships" xmlns:p="http://schemas.openxmlformats.org/presentationml/2006/main">
  <p:tag name="PS_COMPARE_SHAPE_ID" val="c4f12a14-98c3-4143-8693-eb4cf0cfb27a"/>
</p:tagLst>
</file>

<file path=ppt/tags/tag119.xml><?xml version="1.0" encoding="utf-8"?>
<p:tagLst xmlns:a="http://schemas.openxmlformats.org/drawingml/2006/main" xmlns:r="http://schemas.openxmlformats.org/officeDocument/2006/relationships" xmlns:p="http://schemas.openxmlformats.org/presentationml/2006/main">
  <p:tag name="PS_COMPARE_SHAPE_ID" val="aa65985c-209e-4041-88bb-ba123d0937c0"/>
</p:tagLst>
</file>

<file path=ppt/tags/tag120.xml><?xml version="1.0" encoding="utf-8"?>
<p:tagLst xmlns:a="http://schemas.openxmlformats.org/drawingml/2006/main" xmlns:r="http://schemas.openxmlformats.org/officeDocument/2006/relationships" xmlns:p="http://schemas.openxmlformats.org/presentationml/2006/main">
  <p:tag name="PS_COMPARE_SHAPE_ID" val="a10db126-f788-4b0c-8289-913e417c8584"/>
</p:tagLst>
</file>

<file path=ppt/tags/tag121.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122.xml><?xml version="1.0" encoding="utf-8"?>
<p:tagLst xmlns:a="http://schemas.openxmlformats.org/drawingml/2006/main" xmlns:r="http://schemas.openxmlformats.org/officeDocument/2006/relationships" xmlns:p="http://schemas.openxmlformats.org/presentationml/2006/main">
  <p:tag name="PS_COMPARE_SLIDE_ID" val="b0d64faf-38e0-4910-b517-567d99ec79e9"/>
</p:tagLst>
</file>

<file path=ppt/tags/tag123.xml><?xml version="1.0" encoding="utf-8"?>
<p:tagLst xmlns:a="http://schemas.openxmlformats.org/drawingml/2006/main" xmlns:r="http://schemas.openxmlformats.org/officeDocument/2006/relationships" xmlns:p="http://schemas.openxmlformats.org/presentationml/2006/main">
  <p:tag name="PS_COMPARE_SHAPE_ID" val="f0777666-5f3c-4e73-8c72-e23496fc162e"/>
</p:tagLst>
</file>

<file path=ppt/tags/tag124.xml><?xml version="1.0" encoding="utf-8"?>
<p:tagLst xmlns:a="http://schemas.openxmlformats.org/drawingml/2006/main" xmlns:r="http://schemas.openxmlformats.org/officeDocument/2006/relationships" xmlns:p="http://schemas.openxmlformats.org/presentationml/2006/main">
  <p:tag name="PS_COMPARE_SHAPE_ID" val="652dfca9-0a2d-43d5-8a51-891742edf1ea"/>
</p:tagLst>
</file>

<file path=ppt/tags/tag125.xml><?xml version="1.0" encoding="utf-8"?>
<p:tagLst xmlns:a="http://schemas.openxmlformats.org/drawingml/2006/main" xmlns:r="http://schemas.openxmlformats.org/officeDocument/2006/relationships" xmlns:p="http://schemas.openxmlformats.org/presentationml/2006/main">
  <p:tag name="PS_COMPARE_SHAPE_ID" val="f1b55b5b-6926-4936-9665-71dbf8a32a40"/>
</p:tagLst>
</file>

<file path=ppt/tags/tag126.xml><?xml version="1.0" encoding="utf-8"?>
<p:tagLst xmlns:a="http://schemas.openxmlformats.org/drawingml/2006/main" xmlns:r="http://schemas.openxmlformats.org/officeDocument/2006/relationships" xmlns:p="http://schemas.openxmlformats.org/presentationml/2006/main">
  <p:tag name="PS_COMPARE_SHAPE_ID" val="da45ea9f-9e74-4cd8-8748-edc904c9df20"/>
</p:tagLst>
</file>

<file path=ppt/tags/tag127.xml><?xml version="1.0" encoding="utf-8"?>
<p:tagLst xmlns:a="http://schemas.openxmlformats.org/drawingml/2006/main" xmlns:r="http://schemas.openxmlformats.org/officeDocument/2006/relationships" xmlns:p="http://schemas.openxmlformats.org/presentationml/2006/main">
  <p:tag name="PS_COMPARE_SHAPE_ID" val="c79a0253-0b8d-43b3-a100-54c416a7defc"/>
</p:tagLst>
</file>

<file path=ppt/tags/tag128.xml><?xml version="1.0" encoding="utf-8"?>
<p:tagLst xmlns:a="http://schemas.openxmlformats.org/drawingml/2006/main" xmlns:r="http://schemas.openxmlformats.org/officeDocument/2006/relationships" xmlns:p="http://schemas.openxmlformats.org/presentationml/2006/main">
  <p:tag name="PS_COMPARE_SHAPE_ID" val="933443e7-53cf-418f-b434-8685aaea8fd0"/>
</p:tagLst>
</file>

<file path=ppt/tags/tag129.xml><?xml version="1.0" encoding="utf-8"?>
<p:tagLst xmlns:a="http://schemas.openxmlformats.org/drawingml/2006/main" xmlns:r="http://schemas.openxmlformats.org/officeDocument/2006/relationships" xmlns:p="http://schemas.openxmlformats.org/presentationml/2006/main">
  <p:tag name="PS_COMPARE_SHAPE_ID" val="512bde4b-d55b-47a2-a77c-ac0dd40a4f93"/>
</p:tagLst>
</file>

<file path=ppt/tags/tag130.xml><?xml version="1.0" encoding="utf-8"?>
<p:tagLst xmlns:a="http://schemas.openxmlformats.org/drawingml/2006/main" xmlns:r="http://schemas.openxmlformats.org/officeDocument/2006/relationships" xmlns:p="http://schemas.openxmlformats.org/presentationml/2006/main">
  <p:tag name="PS_COMPARE_SHAPE_ID" val="d8e45fd9-cdb7-4fa9-ae38-c16b0e0a2f02"/>
</p:tagLst>
</file>

<file path=ppt/tags/tag131.xml><?xml version="1.0" encoding="utf-8"?>
<p:tagLst xmlns:a="http://schemas.openxmlformats.org/drawingml/2006/main" xmlns:r="http://schemas.openxmlformats.org/officeDocument/2006/relationships" xmlns:p="http://schemas.openxmlformats.org/presentationml/2006/main">
  <p:tag name="PS_COMPARE_SHAPE_ID" val="892b051d-5f8e-405e-91f9-e8c3923254c3"/>
</p:tagLst>
</file>

<file path=ppt/tags/tag132.xml><?xml version="1.0" encoding="utf-8"?>
<p:tagLst xmlns:a="http://schemas.openxmlformats.org/drawingml/2006/main" xmlns:r="http://schemas.openxmlformats.org/officeDocument/2006/relationships" xmlns:p="http://schemas.openxmlformats.org/presentationml/2006/main">
  <p:tag name="PS_COMPARE_SHAPE_ID" val="a97aaf6d-cd52-4141-b094-4d274249961f"/>
</p:tagLst>
</file>

<file path=ppt/tags/tag133.xml><?xml version="1.0" encoding="utf-8"?>
<p:tagLst xmlns:a="http://schemas.openxmlformats.org/drawingml/2006/main" xmlns:r="http://schemas.openxmlformats.org/officeDocument/2006/relationships" xmlns:p="http://schemas.openxmlformats.org/presentationml/2006/main">
  <p:tag name="PS_COMPARE_SHAPE_ID" val="da19500e-6a96-4462-8b5a-af8652606c20"/>
</p:tagLst>
</file>

<file path=ppt/tags/tag134.xml><?xml version="1.0" encoding="utf-8"?>
<p:tagLst xmlns:a="http://schemas.openxmlformats.org/drawingml/2006/main" xmlns:r="http://schemas.openxmlformats.org/officeDocument/2006/relationships" xmlns:p="http://schemas.openxmlformats.org/presentationml/2006/main">
  <p:tag name="PS_COMPARE_SHAPE_ID" val="242e52cb-127c-40c7-8027-23cf0f65602c"/>
</p:tagLst>
</file>

<file path=ppt/tags/tag135.xml><?xml version="1.0" encoding="utf-8"?>
<p:tagLst xmlns:a="http://schemas.openxmlformats.org/drawingml/2006/main" xmlns:r="http://schemas.openxmlformats.org/officeDocument/2006/relationships" xmlns:p="http://schemas.openxmlformats.org/presentationml/2006/main">
  <p:tag name="PS_COMPARE_SHAPE_ID" val="657714d2-c7fd-4941-9834-1acfa0367577"/>
</p:tagLst>
</file>

<file path=ppt/tags/tag136.xml><?xml version="1.0" encoding="utf-8"?>
<p:tagLst xmlns:a="http://schemas.openxmlformats.org/drawingml/2006/main" xmlns:r="http://schemas.openxmlformats.org/officeDocument/2006/relationships" xmlns:p="http://schemas.openxmlformats.org/presentationml/2006/main">
  <p:tag name="PS_COMPARE_SHAPE_ID" val="352920b4-2c2e-42d1-bc9a-785a09fd91d4"/>
</p:tagLst>
</file>

<file path=ppt/tags/tag137.xml><?xml version="1.0" encoding="utf-8"?>
<p:tagLst xmlns:a="http://schemas.openxmlformats.org/drawingml/2006/main" xmlns:r="http://schemas.openxmlformats.org/officeDocument/2006/relationships" xmlns:p="http://schemas.openxmlformats.org/presentationml/2006/main">
  <p:tag name="PS_COMPARE_SHAPE_ID" val="9362a13a-d604-415c-9ba8-2b35edbf16cf"/>
</p:tagLst>
</file>

<file path=ppt/tags/tag138.xml><?xml version="1.0" encoding="utf-8"?>
<p:tagLst xmlns:a="http://schemas.openxmlformats.org/drawingml/2006/main" xmlns:r="http://schemas.openxmlformats.org/officeDocument/2006/relationships" xmlns:p="http://schemas.openxmlformats.org/presentationml/2006/main">
  <p:tag name="PS_COMPARE_SHAPE_ID" val="4d0a3a1c-09be-42f1-a520-2151a097da01"/>
</p:tagLst>
</file>

<file path=ppt/tags/tag139.xml><?xml version="1.0" encoding="utf-8"?>
<p:tagLst xmlns:a="http://schemas.openxmlformats.org/drawingml/2006/main" xmlns:r="http://schemas.openxmlformats.org/officeDocument/2006/relationships" xmlns:p="http://schemas.openxmlformats.org/presentationml/2006/main">
  <p:tag name="PS_COMPARE_SHAPE_ID" val="17f0863a-7b1b-4710-9091-a19ab400cf25"/>
</p:tagLst>
</file>

<file path=ppt/tags/tag140.xml><?xml version="1.0" encoding="utf-8"?>
<p:tagLst xmlns:a="http://schemas.openxmlformats.org/drawingml/2006/main" xmlns:r="http://schemas.openxmlformats.org/officeDocument/2006/relationships" xmlns:p="http://schemas.openxmlformats.org/presentationml/2006/main">
  <p:tag name="PS_COMPARE_SHAPE_ID" val="22f6410e-48fb-41dc-bac5-dadd881f44f4"/>
</p:tagLst>
</file>

<file path=ppt/tags/tag141.xml><?xml version="1.0" encoding="utf-8"?>
<p:tagLst xmlns:a="http://schemas.openxmlformats.org/drawingml/2006/main" xmlns:r="http://schemas.openxmlformats.org/officeDocument/2006/relationships" xmlns:p="http://schemas.openxmlformats.org/presentationml/2006/main">
  <p:tag name="PS_COMPARE_SHAPE_ID" val="c9d70236-eb1c-4ac6-81ac-29fcf2c8a200"/>
</p:tagLst>
</file>

<file path=ppt/tags/tag142.xml><?xml version="1.0" encoding="utf-8"?>
<p:tagLst xmlns:a="http://schemas.openxmlformats.org/drawingml/2006/main" xmlns:r="http://schemas.openxmlformats.org/officeDocument/2006/relationships" xmlns:p="http://schemas.openxmlformats.org/presentationml/2006/main">
  <p:tag name="PS_COMPARE_SLIDE_ID" val="cb822d14-f183-42d5-b78a-280fb321f1b3"/>
</p:tagLst>
</file>

<file path=ppt/tags/tag143.xml><?xml version="1.0" encoding="utf-8"?>
<p:tagLst xmlns:a="http://schemas.openxmlformats.org/drawingml/2006/main" xmlns:r="http://schemas.openxmlformats.org/officeDocument/2006/relationships" xmlns:p="http://schemas.openxmlformats.org/presentationml/2006/main">
  <p:tag name="PS_COMPARE_SHAPE_ID" val="6afef9a7-4504-4693-bd77-410891544f37"/>
</p:tagLst>
</file>

<file path=ppt/tags/tag144.xml><?xml version="1.0" encoding="utf-8"?>
<p:tagLst xmlns:a="http://schemas.openxmlformats.org/drawingml/2006/main" xmlns:r="http://schemas.openxmlformats.org/officeDocument/2006/relationships" xmlns:p="http://schemas.openxmlformats.org/presentationml/2006/main">
  <p:tag name="PS_COMPARE_SHAPE_ID" val="af35fe6c-ef1a-4ff7-923e-6d6f3b4cb6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1870</Words>
  <Application>Microsoft Office PowerPoint</Application>
  <PresentationFormat>On-screen Show (16:9)</PresentationFormat>
  <Paragraphs>281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FreshBox: The Model Build</dc:title>
  <dc:subject>PptxGenJS Presentation</dc:subject>
  <dc:creator>Alex Olsen</dc:creator>
  <cp:lastModifiedBy>Alex Olsen</cp:lastModifiedBy>
  <cp:revision>6</cp:revision>
  <dcterms:created xsi:type="dcterms:W3CDTF">2026-04-26T21:24:22Z</dcterms:created>
  <dcterms:modified xsi:type="dcterms:W3CDTF">2026-04-27T18:01:45Z</dcterms:modified>
</cp:coreProperties>
</file>