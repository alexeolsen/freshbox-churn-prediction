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 SPEAKER NOTES
Business Context (30 seconds):
FreshBox has ~80,000 active subscribers across three plan tiers (Classic, Family, Veggie). Growth has been driven by aggressive discounted acquisition, but churn of 65-70% within six months is undermining unit economics. Currently running blanket retention campaigns with no ability to distinguish recoverable from unrecoverable churn.
Data Inputs Required:
- Customer master data: sign-up date, acquisition channel, initial discount tier, demographics
- Subscription data: plan type, meals per week, price tier, invoice history
- Behavioural data: skip/pause frequency, recipe ratings, menu customisation, support tickets, delivery complaints
- Financial data: average order value, discount dependency, total lifetime revenue
- Churn labels: cancellation date and reason (where captured)
Delivery tip: Structure as 30s business context, 60s key questions, 45s data inputs, 45s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&amp; RESPONSIBILITIES - SPEAKER NOTES
Key message: Governance is lightweight but structured.
Finance Director is the make-or-break relationship day-to-day.
Weekly steering with CFO ensures senior buy-in stays active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OVERVIEW - SPEAKER NOTES
Map-Identify-Build-Deploy philosophy: Being strategic about what you build matters more than the ability to build it.
Technical detail for Q&amp;A:
- Why both logistic regression AND XGBoost? Interpretability vs. accuracy trade-off.
- Why time-based split? Prevents data leakage from temporal patterns.
- What are SHAP values? They show which factors pushed each customer's score up or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PLAN - SPEAKER NOTES
Sprint rhythm: Planning Monday, working sessions Tue-Thu, demo Friday.
Key Risks (back pocket for Q&amp;A):
1. Data access delays (Medium) - engage FD in Week 0
2. Mapping reveals different use case (Low) - flexibility in Identify phase
3. Churn reason data incomplete (High) - use behavioural proxies
4. Low model performance (Low) - reframe as segmentation tool
5. Low adoption (Medium) - Ops Lead involved from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STRUCTURE - SPEAKER NOTES
CLOSING LINE: "The best model in the world is worthless if the retention team doesn't use it. That's the Engagement Manager's job - and that's why I'm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IMPACT - SPEAKER NOTES
Unit metric to memorise: £320k per 1pp churn improvement.
If challenged on the 8-week assumption: "This is the conservative floor. If even a portion of these customers convert to the loyal segment that stays 2+ years, the actual value is multiples of this."
If challenged on margin: "Revenue figures are gross. At 35% contribution margin the impact is roughly a third. We'd validate the exact margin with your finance team in the Map phase."
Benchmark context: HelloFresh 6-month churn ~83-85%, Gousto ~70-75%, Riverford ~20%+ 12-month retention. A 5-10pp improvement is realistic, not aspirational.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SPEAKER NOTES
Questions to ask:
1. How does QuantSpark handle handoff from prototype to production?
2. What does a successful first 90 days look like?
3. How do you balance strategic consulting with pressure to build quickly?
4. What's the typical split between Labs Discovery and Full Build?
5. How do you measure engagement success beyond technical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9"/>
        </a:solidFill>
      </p:bgPr>
    </p:bg>
    <p:spTree>
      <p:nvGrpSpPr>
        <p:cNvPr id="1" name=""/>
        <p:cNvGrpSpPr/>
        <p:nvPr/>
      </p:nvGrpSpPr>
      <p:grpSpPr>
        <a:xfrm>
          <a:off x="0" y="0"/>
          <a:ext cx="0" cy="0"/>
          <a:chOff x="0" y="0"/>
          <a:chExt cx="0" cy="0"/>
        </a:xfrm>
      </p:grpSpPr>
      <p:sp>
        <p:nvSpPr>
          <p:cNvPr id="2" name="Text 0"/>
          <p:cNvSpPr/>
          <p:nvPr/>
        </p:nvSpPr>
        <p:spPr>
          <a:xfrm>
            <a:off x="731520" y="1097280"/>
            <a:ext cx="7680960" cy="365760"/>
          </a:xfrm>
          <a:prstGeom prst="rect">
            <a:avLst/>
          </a:prstGeom>
          <a:noFill/>
          <a:ln/>
        </p:spPr>
        <p:txBody>
          <a:bodyPr wrap="square" lIns="0" tIns="0" rIns="0" bIns="0" rtlCol="0" anchor="ctr"/>
          <a:lstStyle/>
          <a:p>
            <a:pPr algn="l" indent="0" marL="0">
              <a:buNone/>
            </a:pPr>
            <a:r>
              <a:rPr lang="en-US" sz="1200" spc="400" kern="0" dirty="0">
                <a:solidFill>
                  <a:srgbClr val="0EA5E9"/>
                </a:solidFill>
                <a:latin typeface="Calibri" pitchFamily="34" charset="0"/>
                <a:ea typeface="Calibri" pitchFamily="34" charset="-122"/>
                <a:cs typeface="Calibri" pitchFamily="34" charset="-120"/>
              </a:rPr>
              <a:t>THE PROPOSAL</a:t>
            </a:r>
            <a:endParaRPr lang="en-US" sz="1200" dirty="0"/>
          </a:p>
        </p:txBody>
      </p:sp>
      <p:sp>
        <p:nvSpPr>
          <p:cNvPr id="3" name="Text 1"/>
          <p:cNvSpPr/>
          <p:nvPr/>
        </p:nvSpPr>
        <p:spPr>
          <a:xfrm>
            <a:off x="731520" y="1554480"/>
            <a:ext cx="7680960" cy="182880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FreshBox: Predicting and</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Preventing Subscriber </a:t>
            </a:r>
            <a:endParaRPr lang="en-US" sz="3600" dirty="0"/>
          </a:p>
          <a:p>
            <a:pPr algn="l" indent="0" marL="0">
              <a:buNone/>
            </a:pPr>
            <a:r>
              <a:rPr lang="en-US" sz="3600" b="1" dirty="0">
                <a:solidFill>
                  <a:srgbClr val="0EA5E9"/>
                </a:solidFill>
                <a:latin typeface="Calibri" pitchFamily="34" charset="0"/>
                <a:ea typeface="Calibri" pitchFamily="34" charset="-122"/>
                <a:cs typeface="Calibri" pitchFamily="34" charset="-120"/>
              </a:rPr>
              <a:t>Churn</a:t>
            </a:r>
            <a:endParaRPr lang="en-US" sz="3600" dirty="0"/>
          </a:p>
        </p:txBody>
      </p:sp>
      <p:sp>
        <p:nvSpPr>
          <p:cNvPr id="4" name="Text 2"/>
          <p:cNvSpPr/>
          <p:nvPr/>
        </p:nvSpPr>
        <p:spPr>
          <a:xfrm>
            <a:off x="731520" y="3474720"/>
            <a:ext cx="6400800" cy="731520"/>
          </a:xfrm>
          <a:prstGeom prst="rect">
            <a:avLst/>
          </a:prstGeom>
          <a:noFill/>
          <a:ln/>
        </p:spPr>
        <p:txBody>
          <a:bodyPr wrap="square" lIns="0" tIns="0" rIns="0" bIns="0" rtlCol="0" anchor="ctr"/>
          <a:lstStyle/>
          <a:p>
            <a:pPr algn="l" indent="0" marL="0">
              <a:buNone/>
            </a:pPr>
            <a:r>
              <a:rPr lang="en-US" sz="1300" dirty="0">
                <a:solidFill>
                  <a:srgbClr val="94A3B8"/>
                </a:solidFill>
                <a:latin typeface="Calibri Light" pitchFamily="34" charset="0"/>
                <a:ea typeface="Calibri Light" pitchFamily="34" charset="-122"/>
                <a:cs typeface="Calibri Light" pitchFamily="34" charset="-120"/>
              </a:rPr>
              <a:t>A predictive churn model to help FreshBox identify at-risk subscribers,</a:t>
            </a:r>
            <a:endParaRPr lang="en-US" sz="1300" dirty="0"/>
          </a:p>
          <a:p>
            <a:pPr algn="l" indent="0" marL="0">
              <a:buNone/>
            </a:pPr>
            <a:r>
              <a:rPr lang="en-US" sz="1300" dirty="0">
                <a:solidFill>
                  <a:srgbClr val="94A3B8"/>
                </a:solidFill>
                <a:latin typeface="Calibri Light" pitchFamily="34" charset="0"/>
                <a:ea typeface="Calibri Light" pitchFamily="34" charset="-122"/>
                <a:cs typeface="Calibri Light" pitchFamily="34" charset="-120"/>
              </a:rPr>
              <a:t>understand why they leave and take targeted action to retain them.</a:t>
            </a:r>
            <a:endParaRPr lang="en-US" sz="1300" dirty="0"/>
          </a:p>
        </p:txBody>
      </p:sp>
      <p:sp>
        <p:nvSpPr>
          <p:cNvPr id="5" name="Text 3"/>
          <p:cNvSpPr/>
          <p:nvPr/>
        </p:nvSpPr>
        <p:spPr>
          <a:xfrm>
            <a:off x="731520" y="4480560"/>
            <a:ext cx="2743200" cy="32004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Problem Statement</a:t>
            </a:r>
            <a:endParaRPr lang="en-US" sz="2800" dirty="0"/>
          </a:p>
        </p:txBody>
      </p:sp>
      <p:sp>
        <p:nvSpPr>
          <p:cNvPr id="3" name="Text 1"/>
          <p:cNvSpPr/>
          <p:nvPr/>
        </p:nvSpPr>
        <p:spPr>
          <a:xfrm>
            <a:off x="731520" y="868680"/>
            <a:ext cx="7680960" cy="502920"/>
          </a:xfrm>
          <a:prstGeom prst="rect">
            <a:avLst/>
          </a:prstGeom>
          <a:noFill/>
          <a:ln/>
        </p:spPr>
        <p:txBody>
          <a:bodyPr wrap="square" lIns="0" tIns="0" rIns="0" bIns="0" rtlCol="0" anchor="ctr"/>
          <a:lstStyle/>
          <a:p>
            <a:pPr indent="0" marL="0">
              <a:buNone/>
            </a:pPr>
            <a:r>
              <a:rPr lang="en-US" sz="1200" dirty="0">
                <a:solidFill>
                  <a:srgbClr val="475569"/>
                </a:solidFill>
                <a:latin typeface="Calibri Light" pitchFamily="34" charset="0"/>
                <a:ea typeface="Calibri Light" pitchFamily="34" charset="-122"/>
                <a:cs typeface="Calibri Light" pitchFamily="34" charset="-120"/>
              </a:rPr>
              <a:t>FreshBox is a UK meal kit subscription company with ~80,000 subscribers. Rapid growth through discounted acquisition has driven volume, but retention is undermining unit economics.</a:t>
            </a:r>
            <a:endParaRPr lang="en-US" sz="1200" dirty="0"/>
          </a:p>
        </p:txBody>
      </p:sp>
      <p:sp>
        <p:nvSpPr>
          <p:cNvPr id="4" name="Shape 2"/>
          <p:cNvSpPr/>
          <p:nvPr/>
        </p:nvSpPr>
        <p:spPr>
          <a:xfrm>
            <a:off x="731520" y="1508760"/>
            <a:ext cx="2377440" cy="118872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pic>
        <p:nvPicPr>
          <p:cNvPr id="5" name="Image 0" descr="preencoded.png">    </p:cNvPr>
          <p:cNvPicPr>
            <a:picLocks noChangeAspect="1"/>
          </p:cNvPicPr>
          <p:nvPr/>
        </p:nvPicPr>
        <p:blipFill>
          <a:blip r:embed="rId1"/>
          <a:stretch>
            <a:fillRect/>
          </a:stretch>
        </p:blipFill>
        <p:spPr>
          <a:xfrm>
            <a:off x="914400" y="1691640"/>
            <a:ext cx="320040" cy="320040"/>
          </a:xfrm>
          <a:prstGeom prst="rect">
            <a:avLst/>
          </a:prstGeom>
        </p:spPr>
      </p:pic>
      <p:sp>
        <p:nvSpPr>
          <p:cNvPr id="6" name="Text 3"/>
          <p:cNvSpPr/>
          <p:nvPr/>
        </p:nvSpPr>
        <p:spPr>
          <a:xfrm>
            <a:off x="1325880" y="1627632"/>
            <a:ext cx="1600200" cy="41148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80k</a:t>
            </a:r>
            <a:endParaRPr lang="en-US" sz="2400" dirty="0"/>
          </a:p>
        </p:txBody>
      </p:sp>
      <p:sp>
        <p:nvSpPr>
          <p:cNvPr id="7" name="Text 4"/>
          <p:cNvSpPr/>
          <p:nvPr/>
        </p:nvSpPr>
        <p:spPr>
          <a:xfrm>
            <a:off x="1325880" y="2057400"/>
            <a:ext cx="16002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Light" pitchFamily="34" charset="0"/>
                <a:ea typeface="Calibri Light" pitchFamily="34" charset="-122"/>
                <a:cs typeface="Calibri Light" pitchFamily="34" charset="-120"/>
              </a:rPr>
              <a:t>Active subscribers</a:t>
            </a:r>
            <a:endParaRPr lang="en-US" sz="1100" dirty="0"/>
          </a:p>
        </p:txBody>
      </p:sp>
      <p:sp>
        <p:nvSpPr>
          <p:cNvPr id="8" name="Shape 5"/>
          <p:cNvSpPr/>
          <p:nvPr/>
        </p:nvSpPr>
        <p:spPr>
          <a:xfrm>
            <a:off x="3383280" y="1508760"/>
            <a:ext cx="2377440" cy="118872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pic>
        <p:nvPicPr>
          <p:cNvPr id="9" name="Image 1" descr="preencoded.png">    </p:cNvPr>
          <p:cNvPicPr>
            <a:picLocks noChangeAspect="1"/>
          </p:cNvPicPr>
          <p:nvPr/>
        </p:nvPicPr>
        <p:blipFill>
          <a:blip r:embed="rId2"/>
          <a:stretch>
            <a:fillRect/>
          </a:stretch>
        </p:blipFill>
        <p:spPr>
          <a:xfrm>
            <a:off x="3566160" y="1691640"/>
            <a:ext cx="320040" cy="320040"/>
          </a:xfrm>
          <a:prstGeom prst="rect">
            <a:avLst/>
          </a:prstGeom>
        </p:spPr>
      </p:pic>
      <p:sp>
        <p:nvSpPr>
          <p:cNvPr id="10" name="Text 6"/>
          <p:cNvSpPr/>
          <p:nvPr/>
        </p:nvSpPr>
        <p:spPr>
          <a:xfrm>
            <a:off x="3977640" y="1627632"/>
            <a:ext cx="1600200" cy="41148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65-70%</a:t>
            </a:r>
            <a:endParaRPr lang="en-US" sz="2400" dirty="0"/>
          </a:p>
        </p:txBody>
      </p:sp>
      <p:sp>
        <p:nvSpPr>
          <p:cNvPr id="11" name="Text 7"/>
          <p:cNvSpPr/>
          <p:nvPr/>
        </p:nvSpPr>
        <p:spPr>
          <a:xfrm>
            <a:off x="3977640" y="2057400"/>
            <a:ext cx="16002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Light" pitchFamily="34" charset="0"/>
                <a:ea typeface="Calibri Light" pitchFamily="34" charset="-122"/>
                <a:cs typeface="Calibri Light" pitchFamily="34" charset="-120"/>
              </a:rPr>
              <a:t>Churn within 6 months</a:t>
            </a:r>
            <a:endParaRPr lang="en-US" sz="1100" dirty="0"/>
          </a:p>
        </p:txBody>
      </p:sp>
      <p:sp>
        <p:nvSpPr>
          <p:cNvPr id="12" name="Shape 8"/>
          <p:cNvSpPr/>
          <p:nvPr/>
        </p:nvSpPr>
        <p:spPr>
          <a:xfrm>
            <a:off x="6035040" y="1508760"/>
            <a:ext cx="2377440" cy="118872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pic>
        <p:nvPicPr>
          <p:cNvPr id="13" name="Image 2" descr="preencoded.png">    </p:cNvPr>
          <p:cNvPicPr>
            <a:picLocks noChangeAspect="1"/>
          </p:cNvPicPr>
          <p:nvPr/>
        </p:nvPicPr>
        <p:blipFill>
          <a:blip r:embed="rId3"/>
          <a:stretch>
            <a:fillRect/>
          </a:stretch>
        </p:blipFill>
        <p:spPr>
          <a:xfrm>
            <a:off x="6217920" y="1691640"/>
            <a:ext cx="320040" cy="320040"/>
          </a:xfrm>
          <a:prstGeom prst="rect">
            <a:avLst/>
          </a:prstGeom>
        </p:spPr>
      </p:pic>
      <p:sp>
        <p:nvSpPr>
          <p:cNvPr id="14" name="Text 9"/>
          <p:cNvSpPr/>
          <p:nvPr/>
        </p:nvSpPr>
        <p:spPr>
          <a:xfrm>
            <a:off x="6629400" y="1627632"/>
            <a:ext cx="1600200" cy="41148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£0</a:t>
            </a:r>
            <a:endParaRPr lang="en-US" sz="2400" dirty="0"/>
          </a:p>
        </p:txBody>
      </p:sp>
      <p:sp>
        <p:nvSpPr>
          <p:cNvPr id="15" name="Text 10"/>
          <p:cNvSpPr/>
          <p:nvPr/>
        </p:nvSpPr>
        <p:spPr>
          <a:xfrm>
            <a:off x="6629400" y="2057400"/>
            <a:ext cx="16002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Light" pitchFamily="34" charset="0"/>
                <a:ea typeface="Calibri Light" pitchFamily="34" charset="-122"/>
                <a:cs typeface="Calibri Light" pitchFamily="34" charset="-120"/>
              </a:rPr>
              <a:t>Targeted retention ROI</a:t>
            </a:r>
            <a:endParaRPr lang="en-US" sz="1100" dirty="0"/>
          </a:p>
        </p:txBody>
      </p:sp>
      <p:sp>
        <p:nvSpPr>
          <p:cNvPr id="16" name="Text 11"/>
          <p:cNvSpPr/>
          <p:nvPr/>
        </p:nvSpPr>
        <p:spPr>
          <a:xfrm>
            <a:off x="731520" y="2880360"/>
            <a:ext cx="370332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Key Questions</a:t>
            </a:r>
            <a:endParaRPr lang="en-US" sz="1600" dirty="0"/>
          </a:p>
        </p:txBody>
      </p:sp>
      <p:sp>
        <p:nvSpPr>
          <p:cNvPr id="17" name="Text 12"/>
          <p:cNvSpPr/>
          <p:nvPr/>
        </p:nvSpPr>
        <p:spPr>
          <a:xfrm>
            <a:off x="731520" y="3200400"/>
            <a:ext cx="3703320" cy="16459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Which customers are most likely to churn in the next 30/60/90 days?</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What are the primary drivers of churn by plan type and channel?</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Which at-risk customers are worth retaining (positive ROI)?</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What specific actions should be triggered for each churn driver?</a:t>
            </a:r>
            <a:endParaRPr lang="en-US" sz="1100" dirty="0"/>
          </a:p>
        </p:txBody>
      </p:sp>
      <p:sp>
        <p:nvSpPr>
          <p:cNvPr id="18" name="Text 13"/>
          <p:cNvSpPr/>
          <p:nvPr/>
        </p:nvSpPr>
        <p:spPr>
          <a:xfrm>
            <a:off x="4709160" y="2880360"/>
            <a:ext cx="370332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Success Criteria</a:t>
            </a:r>
            <a:endParaRPr lang="en-US" sz="1600" dirty="0"/>
          </a:p>
        </p:txBody>
      </p:sp>
      <p:sp>
        <p:nvSpPr>
          <p:cNvPr id="19" name="Text 14"/>
          <p:cNvSpPr/>
          <p:nvPr/>
        </p:nvSpPr>
        <p:spPr>
          <a:xfrm>
            <a:off x="4709160" y="3200400"/>
            <a:ext cx="3703320" cy="16459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Model achieves AUC-ROC of 0.75+ on holdout data</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Weekly scored customer lists integrated into CRM</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Measurable churn reduction in high-risk cohort vs. control</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Intervention playbook adopted by retention team</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Roles &amp; Responsibilities</a:t>
            </a:r>
            <a:endParaRPr lang="en-US" sz="2800" dirty="0"/>
          </a:p>
        </p:txBody>
      </p:sp>
      <p:sp>
        <p:nvSpPr>
          <p:cNvPr id="3" name="Text 1"/>
          <p:cNvSpPr/>
          <p:nvPr/>
        </p:nvSpPr>
        <p:spPr>
          <a:xfrm>
            <a:off x="731520" y="960120"/>
            <a:ext cx="3703320" cy="320040"/>
          </a:xfrm>
          <a:prstGeom prst="rect">
            <a:avLst/>
          </a:prstGeom>
          <a:noFill/>
          <a:ln/>
        </p:spPr>
        <p:txBody>
          <a:bodyPr wrap="square" lIns="0" tIns="0" rIns="0" bIns="0" rtlCol="0" anchor="ctr"/>
          <a:lstStyle/>
          <a:p>
            <a:pPr indent="0" marL="0">
              <a:buNone/>
            </a:pPr>
            <a:r>
              <a:rPr lang="en-US" sz="1600" b="1" dirty="0">
                <a:solidFill>
                  <a:srgbClr val="0EA5E9"/>
                </a:solidFill>
                <a:latin typeface="Calibri" pitchFamily="34" charset="0"/>
                <a:ea typeface="Calibri" pitchFamily="34" charset="-122"/>
                <a:cs typeface="Calibri" pitchFamily="34" charset="-120"/>
              </a:rPr>
              <a:t>Client Side</a:t>
            </a:r>
            <a:endParaRPr lang="en-US" sz="1600" dirty="0"/>
          </a:p>
        </p:txBody>
      </p:sp>
      <p:sp>
        <p:nvSpPr>
          <p:cNvPr id="4" name="Shape 2"/>
          <p:cNvSpPr/>
          <p:nvPr/>
        </p:nvSpPr>
        <p:spPr>
          <a:xfrm>
            <a:off x="731520" y="1371600"/>
            <a:ext cx="3703320" cy="68580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5" name="Text 3"/>
          <p:cNvSpPr/>
          <p:nvPr/>
        </p:nvSpPr>
        <p:spPr>
          <a:xfrm>
            <a:off x="914400" y="1417320"/>
            <a:ext cx="3337560" cy="2286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CFO</a:t>
            </a:r>
            <a:endParaRPr lang="en-US" sz="1200" dirty="0"/>
          </a:p>
        </p:txBody>
      </p:sp>
      <p:sp>
        <p:nvSpPr>
          <p:cNvPr id="6" name="Text 4"/>
          <p:cNvSpPr/>
          <p:nvPr/>
        </p:nvSpPr>
        <p:spPr>
          <a:xfrm>
            <a:off x="914400" y="1645920"/>
            <a:ext cx="3337560" cy="365760"/>
          </a:xfrm>
          <a:prstGeom prst="rect">
            <a:avLst/>
          </a:prstGeom>
          <a:noFill/>
          <a:ln/>
        </p:spPr>
        <p:txBody>
          <a:bodyPr wrap="square" lIns="0" tIns="0" rIns="0" bIns="0" rtlCol="0" anchor="ctr"/>
          <a:lstStyle/>
          <a:p>
            <a:pPr indent="0" marL="0">
              <a:buNone/>
            </a:pPr>
            <a:r>
              <a:rPr lang="en-US" sz="900" dirty="0">
                <a:solidFill>
                  <a:srgbClr val="475569"/>
                </a:solidFill>
                <a:latin typeface="Calibri Light" pitchFamily="34" charset="0"/>
                <a:ea typeface="Calibri Light" pitchFamily="34" charset="-122"/>
                <a:cs typeface="Calibri Light" pitchFamily="34" charset="-120"/>
              </a:rPr>
              <a:t>Executive sponsor. Owns the business case, signs off on success criteria and budget. Attends weekly steering.</a:t>
            </a:r>
            <a:endParaRPr lang="en-US" sz="900" dirty="0"/>
          </a:p>
        </p:txBody>
      </p:sp>
      <p:sp>
        <p:nvSpPr>
          <p:cNvPr id="7" name="Shape 5"/>
          <p:cNvSpPr/>
          <p:nvPr/>
        </p:nvSpPr>
        <p:spPr>
          <a:xfrm>
            <a:off x="731520" y="2148840"/>
            <a:ext cx="3703320" cy="68580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8" name="Text 6"/>
          <p:cNvSpPr/>
          <p:nvPr/>
        </p:nvSpPr>
        <p:spPr>
          <a:xfrm>
            <a:off x="914400" y="2194560"/>
            <a:ext cx="3337560" cy="2286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Finance Director</a:t>
            </a:r>
            <a:endParaRPr lang="en-US" sz="1200" dirty="0"/>
          </a:p>
        </p:txBody>
      </p:sp>
      <p:sp>
        <p:nvSpPr>
          <p:cNvPr id="9" name="Text 7"/>
          <p:cNvSpPr/>
          <p:nvPr/>
        </p:nvSpPr>
        <p:spPr>
          <a:xfrm>
            <a:off x="914400" y="2423160"/>
            <a:ext cx="3337560" cy="365760"/>
          </a:xfrm>
          <a:prstGeom prst="rect">
            <a:avLst/>
          </a:prstGeom>
          <a:noFill/>
          <a:ln/>
        </p:spPr>
        <p:txBody>
          <a:bodyPr wrap="square" lIns="0" tIns="0" rIns="0" bIns="0" rtlCol="0" anchor="ctr"/>
          <a:lstStyle/>
          <a:p>
            <a:pPr indent="0" marL="0">
              <a:buNone/>
            </a:pPr>
            <a:r>
              <a:rPr lang="en-US" sz="900" dirty="0">
                <a:solidFill>
                  <a:srgbClr val="475569"/>
                </a:solidFill>
                <a:latin typeface="Calibri Light" pitchFamily="34" charset="0"/>
                <a:ea typeface="Calibri Light" pitchFamily="34" charset="-122"/>
                <a:cs typeface="Calibri Light" pitchFamily="34" charset="-120"/>
              </a:rPr>
              <a:t>Day-to-day point of contact. Validates financial assumptions, LTV calculations and commercial impact. Attends sprint reviews.</a:t>
            </a:r>
            <a:endParaRPr lang="en-US" sz="900" dirty="0"/>
          </a:p>
        </p:txBody>
      </p:sp>
      <p:sp>
        <p:nvSpPr>
          <p:cNvPr id="10" name="Shape 8"/>
          <p:cNvSpPr/>
          <p:nvPr/>
        </p:nvSpPr>
        <p:spPr>
          <a:xfrm>
            <a:off x="731520" y="2926080"/>
            <a:ext cx="3703320" cy="68580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1" name="Text 9"/>
          <p:cNvSpPr/>
          <p:nvPr/>
        </p:nvSpPr>
        <p:spPr>
          <a:xfrm>
            <a:off x="914400" y="2971800"/>
            <a:ext cx="3337560" cy="2286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Operations Lead</a:t>
            </a:r>
            <a:endParaRPr lang="en-US" sz="1200" dirty="0"/>
          </a:p>
        </p:txBody>
      </p:sp>
      <p:sp>
        <p:nvSpPr>
          <p:cNvPr id="12" name="Text 10"/>
          <p:cNvSpPr/>
          <p:nvPr/>
        </p:nvSpPr>
        <p:spPr>
          <a:xfrm>
            <a:off x="914400" y="3200400"/>
            <a:ext cx="3337560" cy="365760"/>
          </a:xfrm>
          <a:prstGeom prst="rect">
            <a:avLst/>
          </a:prstGeom>
          <a:noFill/>
          <a:ln/>
        </p:spPr>
        <p:txBody>
          <a:bodyPr wrap="square" lIns="0" tIns="0" rIns="0" bIns="0" rtlCol="0" anchor="ctr"/>
          <a:lstStyle/>
          <a:p>
            <a:pPr indent="0" marL="0">
              <a:buNone/>
            </a:pPr>
            <a:r>
              <a:rPr lang="en-US" sz="900" dirty="0">
                <a:solidFill>
                  <a:srgbClr val="475569"/>
                </a:solidFill>
                <a:latin typeface="Calibri Light" pitchFamily="34" charset="0"/>
                <a:ea typeface="Calibri Light" pitchFamily="34" charset="-122"/>
                <a:cs typeface="Calibri Light" pitchFamily="34" charset="-120"/>
              </a:rPr>
              <a:t>Provides context on delivery logistics and operational constraints. Validates that retention interventions are feasible.</a:t>
            </a:r>
            <a:endParaRPr lang="en-US" sz="900" dirty="0"/>
          </a:p>
        </p:txBody>
      </p:sp>
      <p:sp>
        <p:nvSpPr>
          <p:cNvPr id="13" name="Text 11"/>
          <p:cNvSpPr/>
          <p:nvPr/>
        </p:nvSpPr>
        <p:spPr>
          <a:xfrm>
            <a:off x="4709160" y="960120"/>
            <a:ext cx="3703320" cy="320040"/>
          </a:xfrm>
          <a:prstGeom prst="rect">
            <a:avLst/>
          </a:prstGeom>
          <a:noFill/>
          <a:ln/>
        </p:spPr>
        <p:txBody>
          <a:bodyPr wrap="square" lIns="0" tIns="0" rIns="0" bIns="0" rtlCol="0" anchor="ctr"/>
          <a:lstStyle/>
          <a:p>
            <a:pPr indent="0" marL="0">
              <a:buNone/>
            </a:pPr>
            <a:r>
              <a:rPr lang="en-US" sz="1600" b="1" dirty="0">
                <a:solidFill>
                  <a:srgbClr val="0EA5E9"/>
                </a:solidFill>
                <a:latin typeface="Calibri" pitchFamily="34" charset="0"/>
                <a:ea typeface="Calibri" pitchFamily="34" charset="-122"/>
                <a:cs typeface="Calibri" pitchFamily="34" charset="-120"/>
              </a:rPr>
              <a:t>Delivery Side</a:t>
            </a:r>
            <a:endParaRPr lang="en-US" sz="1600" dirty="0"/>
          </a:p>
        </p:txBody>
      </p:sp>
      <p:sp>
        <p:nvSpPr>
          <p:cNvPr id="14" name="Shape 12"/>
          <p:cNvSpPr/>
          <p:nvPr/>
        </p:nvSpPr>
        <p:spPr>
          <a:xfrm>
            <a:off x="4709160" y="1371600"/>
            <a:ext cx="3703320" cy="54864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5" name="Text 13"/>
          <p:cNvSpPr/>
          <p:nvPr/>
        </p:nvSpPr>
        <p:spPr>
          <a:xfrm>
            <a:off x="4892040" y="1408176"/>
            <a:ext cx="3337560" cy="164592"/>
          </a:xfrm>
          <a:prstGeom prst="rect">
            <a:avLst/>
          </a:prstGeom>
          <a:noFill/>
          <a:ln/>
        </p:spPr>
        <p:txBody>
          <a:bodyPr wrap="square" lIns="0" tIns="0" rIns="0" bIns="0" rtlCol="0" anchor="t"/>
          <a:lstStyle/>
          <a:p>
            <a:pPr indent="0" marL="0">
              <a:buNone/>
            </a:pPr>
            <a:r>
              <a:rPr lang="en-US" sz="1100" b="1" dirty="0">
                <a:solidFill>
                  <a:srgbClr val="1E293B"/>
                </a:solidFill>
                <a:latin typeface="Calibri" pitchFamily="34" charset="0"/>
                <a:ea typeface="Calibri" pitchFamily="34" charset="-122"/>
                <a:cs typeface="Calibri" pitchFamily="34" charset="-120"/>
              </a:rPr>
              <a:t>Engagement Manager</a:t>
            </a:r>
            <a:endParaRPr lang="en-US" sz="1100" dirty="0"/>
          </a:p>
        </p:txBody>
      </p:sp>
      <p:sp>
        <p:nvSpPr>
          <p:cNvPr id="16" name="Text 14"/>
          <p:cNvSpPr/>
          <p:nvPr/>
        </p:nvSpPr>
        <p:spPr>
          <a:xfrm>
            <a:off x="4892040" y="1591056"/>
            <a:ext cx="3337560" cy="292608"/>
          </a:xfrm>
          <a:prstGeom prst="rect">
            <a:avLst/>
          </a:prstGeom>
          <a:noFill/>
          <a:ln/>
        </p:spPr>
        <p:txBody>
          <a:bodyPr wrap="square" lIns="0" tIns="0" rIns="0" bIns="0" rtlCol="0" anchor="t"/>
          <a:lstStyle/>
          <a:p>
            <a:pPr indent="0" marL="0">
              <a:buNone/>
            </a:pPr>
            <a:r>
              <a:rPr lang="en-US" sz="850" dirty="0">
                <a:solidFill>
                  <a:srgbClr val="475569"/>
                </a:solidFill>
                <a:latin typeface="Calibri Light" pitchFamily="34" charset="0"/>
                <a:ea typeface="Calibri Light" pitchFamily="34" charset="-122"/>
                <a:cs typeface="Calibri Light" pitchFamily="34" charset="-120"/>
              </a:rPr>
              <a:t>Client relationship, scope governance, stakeholder communication. Translates between technical and non-technical audiences.</a:t>
            </a:r>
            <a:endParaRPr lang="en-US" sz="850" dirty="0"/>
          </a:p>
        </p:txBody>
      </p:sp>
      <p:sp>
        <p:nvSpPr>
          <p:cNvPr id="17" name="Shape 15"/>
          <p:cNvSpPr/>
          <p:nvPr/>
        </p:nvSpPr>
        <p:spPr>
          <a:xfrm>
            <a:off x="4709160" y="1993392"/>
            <a:ext cx="3703320" cy="54864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8" name="Text 16"/>
          <p:cNvSpPr/>
          <p:nvPr/>
        </p:nvSpPr>
        <p:spPr>
          <a:xfrm>
            <a:off x="4892040" y="2029968"/>
            <a:ext cx="3337560" cy="164592"/>
          </a:xfrm>
          <a:prstGeom prst="rect">
            <a:avLst/>
          </a:prstGeom>
          <a:noFill/>
          <a:ln/>
        </p:spPr>
        <p:txBody>
          <a:bodyPr wrap="square" lIns="0" tIns="0" rIns="0" bIns="0" rtlCol="0" anchor="t"/>
          <a:lstStyle/>
          <a:p>
            <a:pPr indent="0" marL="0">
              <a:buNone/>
            </a:pPr>
            <a:r>
              <a:rPr lang="en-US" sz="1100" b="1" dirty="0">
                <a:solidFill>
                  <a:srgbClr val="1E293B"/>
                </a:solidFill>
                <a:latin typeface="Calibri" pitchFamily="34" charset="0"/>
                <a:ea typeface="Calibri" pitchFamily="34" charset="-122"/>
                <a:cs typeface="Calibri" pitchFamily="34" charset="-120"/>
              </a:rPr>
              <a:t>Lead Data Scientist</a:t>
            </a:r>
            <a:endParaRPr lang="en-US" sz="1100" dirty="0"/>
          </a:p>
        </p:txBody>
      </p:sp>
      <p:sp>
        <p:nvSpPr>
          <p:cNvPr id="19" name="Text 17"/>
          <p:cNvSpPr/>
          <p:nvPr/>
        </p:nvSpPr>
        <p:spPr>
          <a:xfrm>
            <a:off x="4892040" y="2212848"/>
            <a:ext cx="3337560" cy="292608"/>
          </a:xfrm>
          <a:prstGeom prst="rect">
            <a:avLst/>
          </a:prstGeom>
          <a:noFill/>
          <a:ln/>
        </p:spPr>
        <p:txBody>
          <a:bodyPr wrap="square" lIns="0" tIns="0" rIns="0" bIns="0" rtlCol="0" anchor="t"/>
          <a:lstStyle/>
          <a:p>
            <a:pPr indent="0" marL="0">
              <a:buNone/>
            </a:pPr>
            <a:r>
              <a:rPr lang="en-US" sz="850" dirty="0">
                <a:solidFill>
                  <a:srgbClr val="475569"/>
                </a:solidFill>
                <a:latin typeface="Calibri Light" pitchFamily="34" charset="0"/>
                <a:ea typeface="Calibri Light" pitchFamily="34" charset="-122"/>
                <a:cs typeface="Calibri Light" pitchFamily="34" charset="-120"/>
              </a:rPr>
              <a:t>Predictive modelling and statistical analysis (e.g. regression, decision trees, feature importance ranking).</a:t>
            </a:r>
            <a:endParaRPr lang="en-US" sz="850" dirty="0"/>
          </a:p>
        </p:txBody>
      </p:sp>
      <p:sp>
        <p:nvSpPr>
          <p:cNvPr id="20" name="Shape 18"/>
          <p:cNvSpPr/>
          <p:nvPr/>
        </p:nvSpPr>
        <p:spPr>
          <a:xfrm>
            <a:off x="4709160" y="2615184"/>
            <a:ext cx="3703320" cy="54864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1" name="Text 19"/>
          <p:cNvSpPr/>
          <p:nvPr/>
        </p:nvSpPr>
        <p:spPr>
          <a:xfrm>
            <a:off x="4892040" y="2651760"/>
            <a:ext cx="3337560" cy="164592"/>
          </a:xfrm>
          <a:prstGeom prst="rect">
            <a:avLst/>
          </a:prstGeom>
          <a:noFill/>
          <a:ln/>
        </p:spPr>
        <p:txBody>
          <a:bodyPr wrap="square" lIns="0" tIns="0" rIns="0" bIns="0" rtlCol="0" anchor="t"/>
          <a:lstStyle/>
          <a:p>
            <a:pPr indent="0" marL="0">
              <a:buNone/>
            </a:pPr>
            <a:r>
              <a:rPr lang="en-US" sz="1100" b="1" dirty="0">
                <a:solidFill>
                  <a:srgbClr val="1E293B"/>
                </a:solidFill>
                <a:latin typeface="Calibri" pitchFamily="34" charset="0"/>
                <a:ea typeface="Calibri" pitchFamily="34" charset="-122"/>
                <a:cs typeface="Calibri" pitchFamily="34" charset="-120"/>
              </a:rPr>
              <a:t>Data Engineer</a:t>
            </a:r>
            <a:endParaRPr lang="en-US" sz="1100" dirty="0"/>
          </a:p>
        </p:txBody>
      </p:sp>
      <p:sp>
        <p:nvSpPr>
          <p:cNvPr id="22" name="Text 20"/>
          <p:cNvSpPr/>
          <p:nvPr/>
        </p:nvSpPr>
        <p:spPr>
          <a:xfrm>
            <a:off x="4892040" y="2834640"/>
            <a:ext cx="3337560" cy="292608"/>
          </a:xfrm>
          <a:prstGeom prst="rect">
            <a:avLst/>
          </a:prstGeom>
          <a:noFill/>
          <a:ln/>
        </p:spPr>
        <p:txBody>
          <a:bodyPr wrap="square" lIns="0" tIns="0" rIns="0" bIns="0" rtlCol="0" anchor="t"/>
          <a:lstStyle/>
          <a:p>
            <a:pPr indent="0" marL="0">
              <a:buNone/>
            </a:pPr>
            <a:r>
              <a:rPr lang="en-US" sz="850" dirty="0">
                <a:solidFill>
                  <a:srgbClr val="475569"/>
                </a:solidFill>
                <a:latin typeface="Calibri Light" pitchFamily="34" charset="0"/>
                <a:ea typeface="Calibri Light" pitchFamily="34" charset="-122"/>
                <a:cs typeface="Calibri Light" pitchFamily="34" charset="-120"/>
              </a:rPr>
              <a:t>Data pipelines, CRM integration, automated scoring refresh and data quality automation.</a:t>
            </a:r>
            <a:endParaRPr lang="en-US" sz="850" dirty="0"/>
          </a:p>
        </p:txBody>
      </p:sp>
      <p:sp>
        <p:nvSpPr>
          <p:cNvPr id="23" name="Shape 21"/>
          <p:cNvSpPr/>
          <p:nvPr/>
        </p:nvSpPr>
        <p:spPr>
          <a:xfrm>
            <a:off x="4709160" y="3236976"/>
            <a:ext cx="3703320" cy="54864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4" name="Text 22"/>
          <p:cNvSpPr/>
          <p:nvPr/>
        </p:nvSpPr>
        <p:spPr>
          <a:xfrm>
            <a:off x="4892040" y="3273552"/>
            <a:ext cx="3337560" cy="164592"/>
          </a:xfrm>
          <a:prstGeom prst="rect">
            <a:avLst/>
          </a:prstGeom>
          <a:noFill/>
          <a:ln/>
        </p:spPr>
        <p:txBody>
          <a:bodyPr wrap="square" lIns="0" tIns="0" rIns="0" bIns="0" rtlCol="0" anchor="t"/>
          <a:lstStyle/>
          <a:p>
            <a:pPr indent="0" marL="0">
              <a:buNone/>
            </a:pPr>
            <a:r>
              <a:rPr lang="en-US" sz="1100" b="1" dirty="0">
                <a:solidFill>
                  <a:srgbClr val="1E293B"/>
                </a:solidFill>
                <a:latin typeface="Calibri" pitchFamily="34" charset="0"/>
                <a:ea typeface="Calibri" pitchFamily="34" charset="-122"/>
                <a:cs typeface="Calibri" pitchFamily="34" charset="-120"/>
              </a:rPr>
              <a:t>Analyst</a:t>
            </a:r>
            <a:endParaRPr lang="en-US" sz="1100" dirty="0"/>
          </a:p>
        </p:txBody>
      </p:sp>
      <p:sp>
        <p:nvSpPr>
          <p:cNvPr id="25" name="Text 23"/>
          <p:cNvSpPr/>
          <p:nvPr/>
        </p:nvSpPr>
        <p:spPr>
          <a:xfrm>
            <a:off x="4892040" y="3456432"/>
            <a:ext cx="3337560" cy="292608"/>
          </a:xfrm>
          <a:prstGeom prst="rect">
            <a:avLst/>
          </a:prstGeom>
          <a:noFill/>
          <a:ln/>
        </p:spPr>
        <p:txBody>
          <a:bodyPr wrap="square" lIns="0" tIns="0" rIns="0" bIns="0" rtlCol="0" anchor="t"/>
          <a:lstStyle/>
          <a:p>
            <a:pPr indent="0" marL="0">
              <a:buNone/>
            </a:pPr>
            <a:r>
              <a:rPr lang="en-US" sz="850" dirty="0">
                <a:solidFill>
                  <a:srgbClr val="475569"/>
                </a:solidFill>
                <a:latin typeface="Calibri Light" pitchFamily="34" charset="0"/>
                <a:ea typeface="Calibri Light" pitchFamily="34" charset="-122"/>
                <a:cs typeface="Calibri Light" pitchFamily="34" charset="-120"/>
              </a:rPr>
              <a:t>Exploratory data analysis, dashboarding, cohort analysis and intervention tracking.</a:t>
            </a:r>
            <a:endParaRPr lang="en-US" sz="850" dirty="0"/>
          </a:p>
        </p:txBody>
      </p:sp>
      <p:sp>
        <p:nvSpPr>
          <p:cNvPr id="26" name="Shape 24"/>
          <p:cNvSpPr/>
          <p:nvPr/>
        </p:nvSpPr>
        <p:spPr>
          <a:xfrm>
            <a:off x="0" y="3977640"/>
            <a:ext cx="9144000" cy="1165860"/>
          </a:xfrm>
          <a:prstGeom prst="rect">
            <a:avLst/>
          </a:prstGeom>
          <a:solidFill>
            <a:srgbClr val="0F1629"/>
          </a:solidFill>
          <a:ln/>
        </p:spPr>
      </p:sp>
      <p:sp>
        <p:nvSpPr>
          <p:cNvPr id="27" name="Text 25"/>
          <p:cNvSpPr/>
          <p:nvPr/>
        </p:nvSpPr>
        <p:spPr>
          <a:xfrm>
            <a:off x="731520" y="4023360"/>
            <a:ext cx="76809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Governance</a:t>
            </a:r>
            <a:endParaRPr lang="en-US" sz="1400" dirty="0"/>
          </a:p>
        </p:txBody>
      </p:sp>
      <p:pic>
        <p:nvPicPr>
          <p:cNvPr id="28" name="Image 0" descr="preencoded.png">    </p:cNvPr>
          <p:cNvPicPr>
            <a:picLocks noChangeAspect="1"/>
          </p:cNvPicPr>
          <p:nvPr/>
        </p:nvPicPr>
        <p:blipFill>
          <a:blip r:embed="rId1"/>
          <a:stretch>
            <a:fillRect/>
          </a:stretch>
        </p:blipFill>
        <p:spPr>
          <a:xfrm>
            <a:off x="731520" y="4343400"/>
            <a:ext cx="274320" cy="274320"/>
          </a:xfrm>
          <a:prstGeom prst="rect">
            <a:avLst/>
          </a:prstGeom>
        </p:spPr>
      </p:pic>
      <p:sp>
        <p:nvSpPr>
          <p:cNvPr id="29" name="Text 26"/>
          <p:cNvSpPr/>
          <p:nvPr/>
        </p:nvSpPr>
        <p:spPr>
          <a:xfrm>
            <a:off x="1097280" y="4315968"/>
            <a:ext cx="219456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Steering Committee</a:t>
            </a:r>
            <a:endParaRPr lang="en-US" sz="1100" dirty="0"/>
          </a:p>
        </p:txBody>
      </p:sp>
      <p:sp>
        <p:nvSpPr>
          <p:cNvPr id="30" name="Text 27"/>
          <p:cNvSpPr/>
          <p:nvPr/>
        </p:nvSpPr>
        <p:spPr>
          <a:xfrm>
            <a:off x="1097280" y="4553712"/>
            <a:ext cx="2194560" cy="457200"/>
          </a:xfrm>
          <a:prstGeom prst="rect">
            <a:avLst/>
          </a:prstGeom>
          <a:noFill/>
          <a:ln/>
        </p:spPr>
        <p:txBody>
          <a:bodyPr wrap="square" lIns="0" tIns="0" rIns="0" bIns="0" rtlCol="0" anchor="ctr"/>
          <a:lstStyle/>
          <a:p>
            <a:pPr indent="0" marL="0">
              <a:buNone/>
            </a:pPr>
            <a:r>
              <a:rPr lang="en-US" sz="900" dirty="0">
                <a:solidFill>
                  <a:srgbClr val="94A3B8"/>
                </a:solidFill>
                <a:latin typeface="Calibri Light" pitchFamily="34" charset="0"/>
                <a:ea typeface="Calibri Light" pitchFamily="34" charset="-122"/>
                <a:cs typeface="Calibri Light" pitchFamily="34" charset="-120"/>
              </a:rPr>
              <a:t>Weekly, 30 min</a:t>
            </a:r>
            <a:endParaRPr lang="en-US" sz="900" dirty="0"/>
          </a:p>
          <a:p>
            <a:pPr indent="0" marL="0">
              <a:buNone/>
            </a:pPr>
            <a:r>
              <a:rPr lang="en-US" sz="900" dirty="0">
                <a:solidFill>
                  <a:srgbClr val="94A3B8"/>
                </a:solidFill>
                <a:latin typeface="Calibri Light" pitchFamily="34" charset="0"/>
                <a:ea typeface="Calibri Light" pitchFamily="34" charset="-122"/>
                <a:cs typeface="Calibri Light" pitchFamily="34" charset="-120"/>
              </a:rPr>
              <a:t>CFO + Engagement Manager</a:t>
            </a:r>
            <a:endParaRPr lang="en-US" sz="900" dirty="0"/>
          </a:p>
        </p:txBody>
      </p:sp>
      <p:pic>
        <p:nvPicPr>
          <p:cNvPr id="31" name="Image 1" descr="preencoded.png">    </p:cNvPr>
          <p:cNvPicPr>
            <a:picLocks noChangeAspect="1"/>
          </p:cNvPicPr>
          <p:nvPr/>
        </p:nvPicPr>
        <p:blipFill>
          <a:blip r:embed="rId2"/>
          <a:stretch>
            <a:fillRect/>
          </a:stretch>
        </p:blipFill>
        <p:spPr>
          <a:xfrm>
            <a:off x="3566160" y="4343400"/>
            <a:ext cx="274320" cy="274320"/>
          </a:xfrm>
          <a:prstGeom prst="rect">
            <a:avLst/>
          </a:prstGeom>
        </p:spPr>
      </p:pic>
      <p:sp>
        <p:nvSpPr>
          <p:cNvPr id="32" name="Text 28"/>
          <p:cNvSpPr/>
          <p:nvPr/>
        </p:nvSpPr>
        <p:spPr>
          <a:xfrm>
            <a:off x="3931920" y="4315968"/>
            <a:ext cx="219456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Sprint Review</a:t>
            </a:r>
            <a:endParaRPr lang="en-US" sz="1100" dirty="0"/>
          </a:p>
        </p:txBody>
      </p:sp>
      <p:sp>
        <p:nvSpPr>
          <p:cNvPr id="33" name="Text 29"/>
          <p:cNvSpPr/>
          <p:nvPr/>
        </p:nvSpPr>
        <p:spPr>
          <a:xfrm>
            <a:off x="3931920" y="4553712"/>
            <a:ext cx="2194560" cy="457200"/>
          </a:xfrm>
          <a:prstGeom prst="rect">
            <a:avLst/>
          </a:prstGeom>
          <a:noFill/>
          <a:ln/>
        </p:spPr>
        <p:txBody>
          <a:bodyPr wrap="square" lIns="0" tIns="0" rIns="0" bIns="0" rtlCol="0" anchor="ctr"/>
          <a:lstStyle/>
          <a:p>
            <a:pPr indent="0" marL="0">
              <a:buNone/>
            </a:pPr>
            <a:r>
              <a:rPr lang="en-US" sz="900" dirty="0">
                <a:solidFill>
                  <a:srgbClr val="94A3B8"/>
                </a:solidFill>
                <a:latin typeface="Calibri Light" pitchFamily="34" charset="0"/>
                <a:ea typeface="Calibri Light" pitchFamily="34" charset="-122"/>
                <a:cs typeface="Calibri Light" pitchFamily="34" charset="-120"/>
              </a:rPr>
              <a:t>Weekly, 60 min</a:t>
            </a:r>
            <a:endParaRPr lang="en-US" sz="900" dirty="0"/>
          </a:p>
          <a:p>
            <a:pPr indent="0" marL="0">
              <a:buNone/>
            </a:pPr>
            <a:r>
              <a:rPr lang="en-US" sz="900" dirty="0">
                <a:solidFill>
                  <a:srgbClr val="94A3B8"/>
                </a:solidFill>
                <a:latin typeface="Calibri Light" pitchFamily="34" charset="0"/>
                <a:ea typeface="Calibri Light" pitchFamily="34" charset="-122"/>
                <a:cs typeface="Calibri Light" pitchFamily="34" charset="-120"/>
              </a:rPr>
              <a:t>Finance Director + delivery team</a:t>
            </a:r>
            <a:endParaRPr lang="en-US" sz="900" dirty="0"/>
          </a:p>
        </p:txBody>
      </p:sp>
      <p:pic>
        <p:nvPicPr>
          <p:cNvPr id="34" name="Image 2" descr="preencoded.png">    </p:cNvPr>
          <p:cNvPicPr>
            <a:picLocks noChangeAspect="1"/>
          </p:cNvPicPr>
          <p:nvPr/>
        </p:nvPicPr>
        <p:blipFill>
          <a:blip r:embed="rId3"/>
          <a:stretch>
            <a:fillRect/>
          </a:stretch>
        </p:blipFill>
        <p:spPr>
          <a:xfrm>
            <a:off x="6400800" y="4343400"/>
            <a:ext cx="274320" cy="274320"/>
          </a:xfrm>
          <a:prstGeom prst="rect">
            <a:avLst/>
          </a:prstGeom>
        </p:spPr>
      </p:pic>
      <p:sp>
        <p:nvSpPr>
          <p:cNvPr id="35" name="Text 30"/>
          <p:cNvSpPr/>
          <p:nvPr/>
        </p:nvSpPr>
        <p:spPr>
          <a:xfrm>
            <a:off x="6766560" y="4315968"/>
            <a:ext cx="219456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Working Sessions</a:t>
            </a:r>
            <a:endParaRPr lang="en-US" sz="1100" dirty="0"/>
          </a:p>
        </p:txBody>
      </p:sp>
      <p:sp>
        <p:nvSpPr>
          <p:cNvPr id="36" name="Text 31"/>
          <p:cNvSpPr/>
          <p:nvPr/>
        </p:nvSpPr>
        <p:spPr>
          <a:xfrm>
            <a:off x="6766560" y="4553712"/>
            <a:ext cx="2194560" cy="457200"/>
          </a:xfrm>
          <a:prstGeom prst="rect">
            <a:avLst/>
          </a:prstGeom>
          <a:noFill/>
          <a:ln/>
        </p:spPr>
        <p:txBody>
          <a:bodyPr wrap="square" lIns="0" tIns="0" rIns="0" bIns="0" rtlCol="0" anchor="ctr"/>
          <a:lstStyle/>
          <a:p>
            <a:pPr indent="0" marL="0">
              <a:buNone/>
            </a:pPr>
            <a:r>
              <a:rPr lang="en-US" sz="900" dirty="0">
                <a:solidFill>
                  <a:srgbClr val="94A3B8"/>
                </a:solidFill>
                <a:latin typeface="Calibri Light" pitchFamily="34" charset="0"/>
                <a:ea typeface="Calibri Light" pitchFamily="34" charset="-122"/>
                <a:cs typeface="Calibri Light" pitchFamily="34" charset="-120"/>
              </a:rPr>
              <a:t>Ad hoc, as needed</a:t>
            </a:r>
            <a:endParaRPr lang="en-US" sz="900" dirty="0"/>
          </a:p>
          <a:p>
            <a:pPr indent="0" marL="0">
              <a:buNone/>
            </a:pPr>
            <a:r>
              <a:rPr lang="en-US" sz="900" dirty="0">
                <a:solidFill>
                  <a:srgbClr val="94A3B8"/>
                </a:solidFill>
                <a:latin typeface="Calibri Light" pitchFamily="34" charset="0"/>
                <a:ea typeface="Calibri Light" pitchFamily="34" charset="-122"/>
                <a:cs typeface="Calibri Light" pitchFamily="34" charset="-120"/>
              </a:rPr>
              <a:t>FD / Ops Lead + technical team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Solution Overview</a:t>
            </a:r>
            <a:endParaRPr lang="en-US" sz="2800" dirty="0"/>
          </a:p>
        </p:txBody>
      </p:sp>
      <p:sp>
        <p:nvSpPr>
          <p:cNvPr id="3" name="Shape 1"/>
          <p:cNvSpPr/>
          <p:nvPr/>
        </p:nvSpPr>
        <p:spPr>
          <a:xfrm>
            <a:off x="731520" y="1005840"/>
            <a:ext cx="1783080" cy="150876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4" name="Shape 2"/>
          <p:cNvSpPr/>
          <p:nvPr/>
        </p:nvSpPr>
        <p:spPr>
          <a:xfrm>
            <a:off x="731520" y="1005840"/>
            <a:ext cx="1783080" cy="54864"/>
          </a:xfrm>
          <a:prstGeom prst="rect">
            <a:avLst/>
          </a:prstGeom>
          <a:solidFill>
            <a:srgbClr val="0EA5E9"/>
          </a:solidFill>
          <a:ln/>
        </p:spPr>
      </p:sp>
      <p:pic>
        <p:nvPicPr>
          <p:cNvPr id="5" name="Image 0" descr="preencoded.png">    </p:cNvPr>
          <p:cNvPicPr>
            <a:picLocks noChangeAspect="1"/>
          </p:cNvPicPr>
          <p:nvPr/>
        </p:nvPicPr>
        <p:blipFill>
          <a:blip r:embed="rId1"/>
          <a:stretch>
            <a:fillRect/>
          </a:stretch>
        </p:blipFill>
        <p:spPr>
          <a:xfrm>
            <a:off x="868680" y="1234440"/>
            <a:ext cx="320040" cy="320040"/>
          </a:xfrm>
          <a:prstGeom prst="rect">
            <a:avLst/>
          </a:prstGeom>
        </p:spPr>
      </p:pic>
      <p:sp>
        <p:nvSpPr>
          <p:cNvPr id="6" name="Text 3"/>
          <p:cNvSpPr/>
          <p:nvPr/>
        </p:nvSpPr>
        <p:spPr>
          <a:xfrm>
            <a:off x="1280160" y="1234440"/>
            <a:ext cx="109728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Map</a:t>
            </a:r>
            <a:endParaRPr lang="en-US" sz="1600" dirty="0"/>
          </a:p>
        </p:txBody>
      </p:sp>
      <p:sp>
        <p:nvSpPr>
          <p:cNvPr id="7" name="Text 4"/>
          <p:cNvSpPr/>
          <p:nvPr/>
        </p:nvSpPr>
        <p:spPr>
          <a:xfrm>
            <a:off x="868680" y="1691640"/>
            <a:ext cx="1508760" cy="731520"/>
          </a:xfrm>
          <a:prstGeom prst="rect">
            <a:avLst/>
          </a:prstGeom>
          <a:noFill/>
          <a:ln/>
        </p:spPr>
        <p:txBody>
          <a:bodyPr wrap="square" lIns="0" tIns="0" rIns="0" bIns="0" rtlCol="0" anchor="ctr"/>
          <a:lstStyle/>
          <a:p>
            <a:pPr indent="0" marL="0">
              <a:buNone/>
            </a:pPr>
            <a:r>
              <a:rPr lang="en-US" sz="1000" dirty="0">
                <a:solidFill>
                  <a:srgbClr val="475569"/>
                </a:solidFill>
                <a:latin typeface="Calibri Light" pitchFamily="34" charset="0"/>
                <a:ea typeface="Calibri Light" pitchFamily="34" charset="-122"/>
                <a:cs typeface="Calibri Light" pitchFamily="34" charset="-120"/>
              </a:rPr>
              <a:t>Understand how FreshBox uses information to make retention decisions</a:t>
            </a:r>
            <a:endParaRPr lang="en-US" sz="1000" dirty="0"/>
          </a:p>
        </p:txBody>
      </p:sp>
      <p:sp>
        <p:nvSpPr>
          <p:cNvPr id="8" name="Text 5"/>
          <p:cNvSpPr/>
          <p:nvPr/>
        </p:nvSpPr>
        <p:spPr>
          <a:xfrm>
            <a:off x="2532888" y="1554480"/>
            <a:ext cx="146304" cy="365760"/>
          </a:xfrm>
          <a:prstGeom prst="rect">
            <a:avLst/>
          </a:prstGeom>
          <a:noFill/>
          <a:ln/>
        </p:spPr>
        <p:txBody>
          <a:bodyPr wrap="square" lIns="0" tIns="0" rIns="0" bIns="0" rtlCol="0" anchor="ctr"/>
          <a:lstStyle/>
          <a:p>
            <a:pPr algn="ctr" indent="0" marL="0">
              <a:buNone/>
            </a:pPr>
            <a:r>
              <a:rPr lang="en-US" sz="1400" dirty="0">
                <a:solidFill>
                  <a:srgbClr val="0EA5E9"/>
                </a:solidFill>
                <a:latin typeface="Calibri" pitchFamily="34" charset="0"/>
                <a:ea typeface="Calibri" pitchFamily="34" charset="-122"/>
                <a:cs typeface="Calibri" pitchFamily="34" charset="-120"/>
              </a:rPr>
              <a:t>▶</a:t>
            </a:r>
            <a:endParaRPr lang="en-US" sz="1400" dirty="0"/>
          </a:p>
        </p:txBody>
      </p:sp>
      <p:sp>
        <p:nvSpPr>
          <p:cNvPr id="9" name="Shape 6"/>
          <p:cNvSpPr/>
          <p:nvPr/>
        </p:nvSpPr>
        <p:spPr>
          <a:xfrm>
            <a:off x="2697480" y="1005840"/>
            <a:ext cx="1783080" cy="150876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0" name="Shape 7"/>
          <p:cNvSpPr/>
          <p:nvPr/>
        </p:nvSpPr>
        <p:spPr>
          <a:xfrm>
            <a:off x="2697480" y="1005840"/>
            <a:ext cx="1783080" cy="54864"/>
          </a:xfrm>
          <a:prstGeom prst="rect">
            <a:avLst/>
          </a:prstGeom>
          <a:solidFill>
            <a:srgbClr val="0EA5E9"/>
          </a:solidFill>
          <a:ln/>
        </p:spPr>
      </p:sp>
      <p:pic>
        <p:nvPicPr>
          <p:cNvPr id="11" name="Image 1" descr="preencoded.png">    </p:cNvPr>
          <p:cNvPicPr>
            <a:picLocks noChangeAspect="1"/>
          </p:cNvPicPr>
          <p:nvPr/>
        </p:nvPicPr>
        <p:blipFill>
          <a:blip r:embed="rId2"/>
          <a:stretch>
            <a:fillRect/>
          </a:stretch>
        </p:blipFill>
        <p:spPr>
          <a:xfrm>
            <a:off x="2834640" y="1234440"/>
            <a:ext cx="320040" cy="320040"/>
          </a:xfrm>
          <a:prstGeom prst="rect">
            <a:avLst/>
          </a:prstGeom>
        </p:spPr>
      </p:pic>
      <p:sp>
        <p:nvSpPr>
          <p:cNvPr id="12" name="Text 8"/>
          <p:cNvSpPr/>
          <p:nvPr/>
        </p:nvSpPr>
        <p:spPr>
          <a:xfrm>
            <a:off x="3246120" y="1234440"/>
            <a:ext cx="109728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Identify</a:t>
            </a:r>
            <a:endParaRPr lang="en-US" sz="1600" dirty="0"/>
          </a:p>
        </p:txBody>
      </p:sp>
      <p:sp>
        <p:nvSpPr>
          <p:cNvPr id="13" name="Text 9"/>
          <p:cNvSpPr/>
          <p:nvPr/>
        </p:nvSpPr>
        <p:spPr>
          <a:xfrm>
            <a:off x="2834640" y="1691640"/>
            <a:ext cx="1508760" cy="731520"/>
          </a:xfrm>
          <a:prstGeom prst="rect">
            <a:avLst/>
          </a:prstGeom>
          <a:noFill/>
          <a:ln/>
        </p:spPr>
        <p:txBody>
          <a:bodyPr wrap="square" lIns="0" tIns="0" rIns="0" bIns="0" rtlCol="0" anchor="ctr"/>
          <a:lstStyle/>
          <a:p>
            <a:pPr indent="0" marL="0">
              <a:buNone/>
            </a:pPr>
            <a:r>
              <a:rPr lang="en-US" sz="1000" dirty="0">
                <a:solidFill>
                  <a:srgbClr val="475569"/>
                </a:solidFill>
                <a:latin typeface="Calibri Light" pitchFamily="34" charset="0"/>
                <a:ea typeface="Calibri Light" pitchFamily="34" charset="-122"/>
                <a:cs typeface="Calibri Light" pitchFamily="34" charset="-120"/>
              </a:rPr>
              <a:t>Validate churn prediction as the right focus and confirm data readiness</a:t>
            </a:r>
            <a:endParaRPr lang="en-US" sz="1000" dirty="0"/>
          </a:p>
        </p:txBody>
      </p:sp>
      <p:sp>
        <p:nvSpPr>
          <p:cNvPr id="14" name="Text 10"/>
          <p:cNvSpPr/>
          <p:nvPr/>
        </p:nvSpPr>
        <p:spPr>
          <a:xfrm>
            <a:off x="4498848" y="1554480"/>
            <a:ext cx="146304" cy="365760"/>
          </a:xfrm>
          <a:prstGeom prst="rect">
            <a:avLst/>
          </a:prstGeom>
          <a:noFill/>
          <a:ln/>
        </p:spPr>
        <p:txBody>
          <a:bodyPr wrap="square" lIns="0" tIns="0" rIns="0" bIns="0" rtlCol="0" anchor="ctr"/>
          <a:lstStyle/>
          <a:p>
            <a:pPr algn="ctr" indent="0" marL="0">
              <a:buNone/>
            </a:pPr>
            <a:r>
              <a:rPr lang="en-US" sz="1400" dirty="0">
                <a:solidFill>
                  <a:srgbClr val="0EA5E9"/>
                </a:solidFill>
                <a:latin typeface="Calibri" pitchFamily="34" charset="0"/>
                <a:ea typeface="Calibri" pitchFamily="34" charset="-122"/>
                <a:cs typeface="Calibri" pitchFamily="34" charset="-120"/>
              </a:rPr>
              <a:t>▶</a:t>
            </a:r>
            <a:endParaRPr lang="en-US" sz="1400" dirty="0"/>
          </a:p>
        </p:txBody>
      </p:sp>
      <p:sp>
        <p:nvSpPr>
          <p:cNvPr id="15" name="Shape 11"/>
          <p:cNvSpPr/>
          <p:nvPr/>
        </p:nvSpPr>
        <p:spPr>
          <a:xfrm>
            <a:off x="4663440" y="1005840"/>
            <a:ext cx="1783080" cy="150876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6" name="Shape 12"/>
          <p:cNvSpPr/>
          <p:nvPr/>
        </p:nvSpPr>
        <p:spPr>
          <a:xfrm>
            <a:off x="4663440" y="1005840"/>
            <a:ext cx="1783080" cy="54864"/>
          </a:xfrm>
          <a:prstGeom prst="rect">
            <a:avLst/>
          </a:prstGeom>
          <a:solidFill>
            <a:srgbClr val="0EA5E9"/>
          </a:solidFill>
          <a:ln/>
        </p:spPr>
      </p:sp>
      <p:pic>
        <p:nvPicPr>
          <p:cNvPr id="17" name="Image 2" descr="preencoded.png">    </p:cNvPr>
          <p:cNvPicPr>
            <a:picLocks noChangeAspect="1"/>
          </p:cNvPicPr>
          <p:nvPr/>
        </p:nvPicPr>
        <p:blipFill>
          <a:blip r:embed="rId3"/>
          <a:stretch>
            <a:fillRect/>
          </a:stretch>
        </p:blipFill>
        <p:spPr>
          <a:xfrm>
            <a:off x="4800600" y="1234440"/>
            <a:ext cx="320040" cy="320040"/>
          </a:xfrm>
          <a:prstGeom prst="rect">
            <a:avLst/>
          </a:prstGeom>
        </p:spPr>
      </p:pic>
      <p:sp>
        <p:nvSpPr>
          <p:cNvPr id="18" name="Text 13"/>
          <p:cNvSpPr/>
          <p:nvPr/>
        </p:nvSpPr>
        <p:spPr>
          <a:xfrm>
            <a:off x="5212080" y="1234440"/>
            <a:ext cx="109728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Build</a:t>
            </a:r>
            <a:endParaRPr lang="en-US" sz="1600" dirty="0"/>
          </a:p>
        </p:txBody>
      </p:sp>
      <p:sp>
        <p:nvSpPr>
          <p:cNvPr id="19" name="Text 14"/>
          <p:cNvSpPr/>
          <p:nvPr/>
        </p:nvSpPr>
        <p:spPr>
          <a:xfrm>
            <a:off x="4800600" y="1691640"/>
            <a:ext cx="1508760" cy="731520"/>
          </a:xfrm>
          <a:prstGeom prst="rect">
            <a:avLst/>
          </a:prstGeom>
          <a:noFill/>
          <a:ln/>
        </p:spPr>
        <p:txBody>
          <a:bodyPr wrap="square" lIns="0" tIns="0" rIns="0" bIns="0" rtlCol="0" anchor="ctr"/>
          <a:lstStyle/>
          <a:p>
            <a:pPr indent="0" marL="0">
              <a:buNone/>
            </a:pPr>
            <a:r>
              <a:rPr lang="en-US" sz="1000" dirty="0">
                <a:solidFill>
                  <a:srgbClr val="475569"/>
                </a:solidFill>
                <a:latin typeface="Calibri Light" pitchFamily="34" charset="0"/>
                <a:ea typeface="Calibri Light" pitchFamily="34" charset="-122"/>
                <a:cs typeface="Calibri Light" pitchFamily="34" charset="-120"/>
              </a:rPr>
              <a:t>Build prototype model, identify churn drivers and create intervention playbook</a:t>
            </a:r>
            <a:endParaRPr lang="en-US" sz="1000" dirty="0"/>
          </a:p>
        </p:txBody>
      </p:sp>
      <p:sp>
        <p:nvSpPr>
          <p:cNvPr id="20" name="Text 15"/>
          <p:cNvSpPr/>
          <p:nvPr/>
        </p:nvSpPr>
        <p:spPr>
          <a:xfrm>
            <a:off x="6464808" y="1554480"/>
            <a:ext cx="146304" cy="365760"/>
          </a:xfrm>
          <a:prstGeom prst="rect">
            <a:avLst/>
          </a:prstGeom>
          <a:noFill/>
          <a:ln/>
        </p:spPr>
        <p:txBody>
          <a:bodyPr wrap="square" lIns="0" tIns="0" rIns="0" bIns="0" rtlCol="0" anchor="ctr"/>
          <a:lstStyle/>
          <a:p>
            <a:pPr algn="ctr" indent="0" marL="0">
              <a:buNone/>
            </a:pPr>
            <a:r>
              <a:rPr lang="en-US" sz="1400" dirty="0">
                <a:solidFill>
                  <a:srgbClr val="0EA5E9"/>
                </a:solidFill>
                <a:latin typeface="Calibri" pitchFamily="34" charset="0"/>
                <a:ea typeface="Calibri" pitchFamily="34" charset="-122"/>
                <a:cs typeface="Calibri" pitchFamily="34" charset="-120"/>
              </a:rPr>
              <a:t>▶</a:t>
            </a:r>
            <a:endParaRPr lang="en-US" sz="1400" dirty="0"/>
          </a:p>
        </p:txBody>
      </p:sp>
      <p:sp>
        <p:nvSpPr>
          <p:cNvPr id="21" name="Shape 16"/>
          <p:cNvSpPr/>
          <p:nvPr/>
        </p:nvSpPr>
        <p:spPr>
          <a:xfrm>
            <a:off x="6629400" y="1005840"/>
            <a:ext cx="1783080" cy="150876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2" name="Shape 17"/>
          <p:cNvSpPr/>
          <p:nvPr/>
        </p:nvSpPr>
        <p:spPr>
          <a:xfrm>
            <a:off x="6629400" y="1005840"/>
            <a:ext cx="1783080" cy="54864"/>
          </a:xfrm>
          <a:prstGeom prst="rect">
            <a:avLst/>
          </a:prstGeom>
          <a:solidFill>
            <a:srgbClr val="0EA5E9"/>
          </a:solidFill>
          <a:ln/>
        </p:spPr>
      </p:sp>
      <p:pic>
        <p:nvPicPr>
          <p:cNvPr id="23" name="Image 3" descr="preencoded.png">    </p:cNvPr>
          <p:cNvPicPr>
            <a:picLocks noChangeAspect="1"/>
          </p:cNvPicPr>
          <p:nvPr/>
        </p:nvPicPr>
        <p:blipFill>
          <a:blip r:embed="rId4"/>
          <a:stretch>
            <a:fillRect/>
          </a:stretch>
        </p:blipFill>
        <p:spPr>
          <a:xfrm>
            <a:off x="6766560" y="1234440"/>
            <a:ext cx="320040" cy="320040"/>
          </a:xfrm>
          <a:prstGeom prst="rect">
            <a:avLst/>
          </a:prstGeom>
        </p:spPr>
      </p:pic>
      <p:sp>
        <p:nvSpPr>
          <p:cNvPr id="24" name="Text 18"/>
          <p:cNvSpPr/>
          <p:nvPr/>
        </p:nvSpPr>
        <p:spPr>
          <a:xfrm>
            <a:off x="7178040" y="1234440"/>
            <a:ext cx="109728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Deploy</a:t>
            </a:r>
            <a:endParaRPr lang="en-US" sz="1600" dirty="0"/>
          </a:p>
        </p:txBody>
      </p:sp>
      <p:sp>
        <p:nvSpPr>
          <p:cNvPr id="25" name="Text 19"/>
          <p:cNvSpPr/>
          <p:nvPr/>
        </p:nvSpPr>
        <p:spPr>
          <a:xfrm>
            <a:off x="6766560" y="1691640"/>
            <a:ext cx="1508760" cy="731520"/>
          </a:xfrm>
          <a:prstGeom prst="rect">
            <a:avLst/>
          </a:prstGeom>
          <a:noFill/>
          <a:ln/>
        </p:spPr>
        <p:txBody>
          <a:bodyPr wrap="square" lIns="0" tIns="0" rIns="0" bIns="0" rtlCol="0" anchor="ctr"/>
          <a:lstStyle/>
          <a:p>
            <a:pPr indent="0" marL="0">
              <a:buNone/>
            </a:pPr>
            <a:r>
              <a:rPr lang="en-US" sz="1000" dirty="0">
                <a:solidFill>
                  <a:srgbClr val="475569"/>
                </a:solidFill>
                <a:latin typeface="Calibri Light" pitchFamily="34" charset="0"/>
                <a:ea typeface="Calibri Light" pitchFamily="34" charset="-122"/>
                <a:cs typeface="Calibri Light" pitchFamily="34" charset="-120"/>
              </a:rPr>
              <a:t>Integrate into systems, train the team, establish measurement framework</a:t>
            </a:r>
            <a:endParaRPr lang="en-US" sz="1000" dirty="0"/>
          </a:p>
        </p:txBody>
      </p:sp>
      <p:sp>
        <p:nvSpPr>
          <p:cNvPr id="26" name="Text 20"/>
          <p:cNvSpPr/>
          <p:nvPr/>
        </p:nvSpPr>
        <p:spPr>
          <a:xfrm>
            <a:off x="731520" y="2743200"/>
            <a:ext cx="370332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Modelling Approach</a:t>
            </a:r>
            <a:endParaRPr lang="en-US" sz="1600" dirty="0"/>
          </a:p>
        </p:txBody>
      </p:sp>
      <p:sp>
        <p:nvSpPr>
          <p:cNvPr id="27" name="Text 21"/>
          <p:cNvSpPr/>
          <p:nvPr/>
        </p:nvSpPr>
        <p:spPr>
          <a:xfrm>
            <a:off x="731520" y="3063240"/>
            <a:ext cx="3703320" cy="14630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Logistic regression baseline for interpretability</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XGBoost for higher predictive accuracy</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Validated on time-based holdout split (not random)</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Output: weekly churn risk score per customer (0-1)</a:t>
            </a:r>
            <a:endParaRPr lang="en-US" sz="1100" dirty="0"/>
          </a:p>
        </p:txBody>
      </p:sp>
      <p:sp>
        <p:nvSpPr>
          <p:cNvPr id="28" name="Text 22"/>
          <p:cNvSpPr/>
          <p:nvPr/>
        </p:nvSpPr>
        <p:spPr>
          <a:xfrm>
            <a:off x="4709160" y="2743200"/>
            <a:ext cx="370332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Analytical Techniques</a:t>
            </a:r>
            <a:endParaRPr lang="en-US" sz="1600" dirty="0"/>
          </a:p>
        </p:txBody>
      </p:sp>
      <p:sp>
        <p:nvSpPr>
          <p:cNvPr id="29" name="Text 23"/>
          <p:cNvSpPr/>
          <p:nvPr/>
        </p:nvSpPr>
        <p:spPr>
          <a:xfrm>
            <a:off x="4709160" y="3063240"/>
            <a:ext cx="3703320" cy="14630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Cohort analysis by acquisition channel and plan type</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Tenure survival curves to map drop-off patterns</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Feature engineering: skip acceleration, engagement decay, discount dependency</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SHAP values for individual-level churn explanations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Delivery Plan</a:t>
            </a:r>
            <a:endParaRPr lang="en-US" sz="2800" dirty="0"/>
          </a:p>
        </p:txBody>
      </p:sp>
      <p:sp>
        <p:nvSpPr>
          <p:cNvPr id="3" name="Text 1"/>
          <p:cNvSpPr/>
          <p:nvPr/>
        </p:nvSpPr>
        <p:spPr>
          <a:xfrm>
            <a:off x="731520" y="777240"/>
            <a:ext cx="768096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Light" pitchFamily="34" charset="0"/>
                <a:ea typeface="Calibri Light" pitchFamily="34" charset="-122"/>
                <a:cs typeface="Calibri Light" pitchFamily="34" charset="-120"/>
              </a:rPr>
              <a:t>6-week engagement | Agile sprints | Weekly demos</a:t>
            </a:r>
            <a:endParaRPr lang="en-US" sz="1200" dirty="0"/>
          </a:p>
        </p:txBody>
      </p:sp>
      <p:sp>
        <p:nvSpPr>
          <p:cNvPr id="4" name="Shape 2"/>
          <p:cNvSpPr/>
          <p:nvPr/>
        </p:nvSpPr>
        <p:spPr>
          <a:xfrm>
            <a:off x="731520" y="1280160"/>
            <a:ext cx="967339" cy="502920"/>
          </a:xfrm>
          <a:prstGeom prst="rect">
            <a:avLst/>
          </a:prstGeom>
          <a:solidFill>
            <a:srgbClr val="0C4A6E"/>
          </a:solidFill>
          <a:ln/>
        </p:spPr>
      </p:sp>
      <p:sp>
        <p:nvSpPr>
          <p:cNvPr id="5" name="Text 3"/>
          <p:cNvSpPr/>
          <p:nvPr/>
        </p:nvSpPr>
        <p:spPr>
          <a:xfrm>
            <a:off x="731520" y="1280160"/>
            <a:ext cx="967339"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Map</a:t>
            </a:r>
            <a:endParaRPr lang="en-US" sz="1300" dirty="0"/>
          </a:p>
        </p:txBody>
      </p:sp>
      <p:sp>
        <p:nvSpPr>
          <p:cNvPr id="6" name="Text 4"/>
          <p:cNvSpPr/>
          <p:nvPr/>
        </p:nvSpPr>
        <p:spPr>
          <a:xfrm>
            <a:off x="731520" y="1554480"/>
            <a:ext cx="967339" cy="201168"/>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Week 1</a:t>
            </a:r>
            <a:endParaRPr lang="en-US" sz="900" dirty="0"/>
          </a:p>
        </p:txBody>
      </p:sp>
      <p:sp>
        <p:nvSpPr>
          <p:cNvPr id="7" name="Text 5"/>
          <p:cNvSpPr/>
          <p:nvPr/>
        </p:nvSpPr>
        <p:spPr>
          <a:xfrm>
            <a:off x="731520" y="1874520"/>
            <a:ext cx="967339" cy="502920"/>
          </a:xfrm>
          <a:prstGeom prst="rect">
            <a:avLst/>
          </a:prstGeom>
          <a:noFill/>
          <a:ln/>
        </p:spPr>
        <p:txBody>
          <a:bodyPr wrap="square" lIns="0" tIns="0" rIns="0" bIns="0" rtlCol="0" anchor="ctr"/>
          <a:lstStyle/>
          <a:p>
            <a:pPr algn="ctr" indent="0" marL="0">
              <a:buNone/>
            </a:pPr>
            <a:r>
              <a:rPr lang="en-US" sz="900" dirty="0">
                <a:solidFill>
                  <a:srgbClr val="475569"/>
                </a:solidFill>
                <a:latin typeface="Calibri Light" pitchFamily="34" charset="0"/>
                <a:ea typeface="Calibri Light" pitchFamily="34" charset="-122"/>
                <a:cs typeface="Calibri Light" pitchFamily="34" charset="-120"/>
              </a:rPr>
              <a:t>Business model</a:t>
            </a:r>
            <a:endParaRPr lang="en-US" sz="900" dirty="0"/>
          </a:p>
          <a:p>
            <a:pPr algn="ctr" indent="0" marL="0">
              <a:buNone/>
            </a:pPr>
            <a:r>
              <a:rPr lang="en-US" sz="900" dirty="0">
                <a:solidFill>
                  <a:srgbClr val="475569"/>
                </a:solidFill>
                <a:latin typeface="Calibri Light" pitchFamily="34" charset="0"/>
                <a:ea typeface="Calibri Light" pitchFamily="34" charset="-122"/>
                <a:cs typeface="Calibri Light" pitchFamily="34" charset="-120"/>
              </a:rPr>
              <a:t>documented</a:t>
            </a:r>
            <a:endParaRPr lang="en-US" sz="900" dirty="0"/>
          </a:p>
        </p:txBody>
      </p:sp>
      <p:sp>
        <p:nvSpPr>
          <p:cNvPr id="8" name="Shape 6"/>
          <p:cNvSpPr/>
          <p:nvPr/>
        </p:nvSpPr>
        <p:spPr>
          <a:xfrm>
            <a:off x="1808587" y="1280160"/>
            <a:ext cx="967339" cy="502920"/>
          </a:xfrm>
          <a:prstGeom prst="rect">
            <a:avLst/>
          </a:prstGeom>
          <a:solidFill>
            <a:srgbClr val="0369A1"/>
          </a:solidFill>
          <a:ln/>
        </p:spPr>
      </p:sp>
      <p:sp>
        <p:nvSpPr>
          <p:cNvPr id="9" name="Text 7"/>
          <p:cNvSpPr/>
          <p:nvPr/>
        </p:nvSpPr>
        <p:spPr>
          <a:xfrm>
            <a:off x="1808587" y="1280160"/>
            <a:ext cx="967339"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Identify</a:t>
            </a:r>
            <a:endParaRPr lang="en-US" sz="1300" dirty="0"/>
          </a:p>
        </p:txBody>
      </p:sp>
      <p:sp>
        <p:nvSpPr>
          <p:cNvPr id="10" name="Text 8"/>
          <p:cNvSpPr/>
          <p:nvPr/>
        </p:nvSpPr>
        <p:spPr>
          <a:xfrm>
            <a:off x="1808587" y="1554480"/>
            <a:ext cx="967339" cy="201168"/>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Week 2</a:t>
            </a:r>
            <a:endParaRPr lang="en-US" sz="900" dirty="0"/>
          </a:p>
        </p:txBody>
      </p:sp>
      <p:sp>
        <p:nvSpPr>
          <p:cNvPr id="11" name="Text 9"/>
          <p:cNvSpPr/>
          <p:nvPr/>
        </p:nvSpPr>
        <p:spPr>
          <a:xfrm>
            <a:off x="1808587" y="1874520"/>
            <a:ext cx="967339" cy="502920"/>
          </a:xfrm>
          <a:prstGeom prst="rect">
            <a:avLst/>
          </a:prstGeom>
          <a:noFill/>
          <a:ln/>
        </p:spPr>
        <p:txBody>
          <a:bodyPr wrap="square" lIns="0" tIns="0" rIns="0" bIns="0" rtlCol="0" anchor="ctr"/>
          <a:lstStyle/>
          <a:p>
            <a:pPr algn="ctr" indent="0" marL="0">
              <a:buNone/>
            </a:pPr>
            <a:r>
              <a:rPr lang="en-US" sz="900" dirty="0">
                <a:solidFill>
                  <a:srgbClr val="475569"/>
                </a:solidFill>
                <a:latin typeface="Calibri Light" pitchFamily="34" charset="0"/>
                <a:ea typeface="Calibri Light" pitchFamily="34" charset="-122"/>
                <a:cs typeface="Calibri Light" pitchFamily="34" charset="-120"/>
              </a:rPr>
              <a:t>Use case confirmed,</a:t>
            </a:r>
            <a:endParaRPr lang="en-US" sz="900" dirty="0"/>
          </a:p>
          <a:p>
            <a:pPr algn="ctr" indent="0" marL="0">
              <a:buNone/>
            </a:pPr>
            <a:r>
              <a:rPr lang="en-US" sz="900" dirty="0">
                <a:solidFill>
                  <a:srgbClr val="475569"/>
                </a:solidFill>
                <a:latin typeface="Calibri Light" pitchFamily="34" charset="0"/>
                <a:ea typeface="Calibri Light" pitchFamily="34" charset="-122"/>
                <a:cs typeface="Calibri Light" pitchFamily="34" charset="-120"/>
              </a:rPr>
              <a:t>data dictionary signed off</a:t>
            </a:r>
            <a:endParaRPr lang="en-US" sz="900" dirty="0"/>
          </a:p>
        </p:txBody>
      </p:sp>
      <p:sp>
        <p:nvSpPr>
          <p:cNvPr id="12" name="Shape 10"/>
          <p:cNvSpPr/>
          <p:nvPr/>
        </p:nvSpPr>
        <p:spPr>
          <a:xfrm>
            <a:off x="2885654" y="1280160"/>
            <a:ext cx="2708549" cy="502920"/>
          </a:xfrm>
          <a:prstGeom prst="rect">
            <a:avLst/>
          </a:prstGeom>
          <a:solidFill>
            <a:srgbClr val="0284C7"/>
          </a:solidFill>
          <a:ln/>
        </p:spPr>
      </p:sp>
      <p:sp>
        <p:nvSpPr>
          <p:cNvPr id="13" name="Text 11"/>
          <p:cNvSpPr/>
          <p:nvPr/>
        </p:nvSpPr>
        <p:spPr>
          <a:xfrm>
            <a:off x="2885654" y="1280160"/>
            <a:ext cx="2708549"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p>
        </p:txBody>
      </p:sp>
      <p:sp>
        <p:nvSpPr>
          <p:cNvPr id="14" name="Text 12"/>
          <p:cNvSpPr/>
          <p:nvPr/>
        </p:nvSpPr>
        <p:spPr>
          <a:xfrm>
            <a:off x="2885654" y="1554480"/>
            <a:ext cx="2708549" cy="201168"/>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Weeks 3-4</a:t>
            </a:r>
            <a:endParaRPr lang="en-US" sz="900" dirty="0"/>
          </a:p>
        </p:txBody>
      </p:sp>
      <p:sp>
        <p:nvSpPr>
          <p:cNvPr id="15" name="Text 13"/>
          <p:cNvSpPr/>
          <p:nvPr/>
        </p:nvSpPr>
        <p:spPr>
          <a:xfrm>
            <a:off x="2885654" y="1874520"/>
            <a:ext cx="2708549" cy="502920"/>
          </a:xfrm>
          <a:prstGeom prst="rect">
            <a:avLst/>
          </a:prstGeom>
          <a:noFill/>
          <a:ln/>
        </p:spPr>
        <p:txBody>
          <a:bodyPr wrap="square" lIns="0" tIns="0" rIns="0" bIns="0" rtlCol="0" anchor="ctr"/>
          <a:lstStyle/>
          <a:p>
            <a:pPr algn="ctr" indent="0" marL="0">
              <a:buNone/>
            </a:pPr>
            <a:r>
              <a:rPr lang="en-US" sz="900" dirty="0">
                <a:solidFill>
                  <a:srgbClr val="475569"/>
                </a:solidFill>
                <a:latin typeface="Calibri Light" pitchFamily="34" charset="0"/>
                <a:ea typeface="Calibri Light" pitchFamily="34" charset="-122"/>
                <a:cs typeface="Calibri Light" pitchFamily="34" charset="-120"/>
              </a:rPr>
              <a:t>Prototype demonstrated</a:t>
            </a:r>
            <a:endParaRPr lang="en-US" sz="900" dirty="0"/>
          </a:p>
          <a:p>
            <a:pPr algn="ctr" indent="0" marL="0">
              <a:buNone/>
            </a:pPr>
            <a:r>
              <a:rPr lang="en-US" sz="900" dirty="0">
                <a:solidFill>
                  <a:srgbClr val="475569"/>
                </a:solidFill>
                <a:latin typeface="Calibri Light" pitchFamily="34" charset="0"/>
                <a:ea typeface="Calibri Light" pitchFamily="34" charset="-122"/>
                <a:cs typeface="Calibri Light" pitchFamily="34" charset="-120"/>
              </a:rPr>
              <a:t>and validated</a:t>
            </a:r>
            <a:endParaRPr lang="en-US" sz="900" dirty="0"/>
          </a:p>
        </p:txBody>
      </p:sp>
      <p:sp>
        <p:nvSpPr>
          <p:cNvPr id="16" name="Shape 14"/>
          <p:cNvSpPr/>
          <p:nvPr/>
        </p:nvSpPr>
        <p:spPr>
          <a:xfrm>
            <a:off x="5703931" y="1280160"/>
            <a:ext cx="2708549" cy="502920"/>
          </a:xfrm>
          <a:prstGeom prst="rect">
            <a:avLst/>
          </a:prstGeom>
          <a:solidFill>
            <a:srgbClr val="0EA5E9"/>
          </a:solidFill>
          <a:ln/>
        </p:spPr>
      </p:sp>
      <p:sp>
        <p:nvSpPr>
          <p:cNvPr id="17" name="Text 15"/>
          <p:cNvSpPr/>
          <p:nvPr/>
        </p:nvSpPr>
        <p:spPr>
          <a:xfrm>
            <a:off x="5703931" y="1280160"/>
            <a:ext cx="2708549"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Deploy</a:t>
            </a:r>
            <a:endParaRPr lang="en-US" sz="1300" dirty="0"/>
          </a:p>
        </p:txBody>
      </p:sp>
      <p:sp>
        <p:nvSpPr>
          <p:cNvPr id="18" name="Text 16"/>
          <p:cNvSpPr/>
          <p:nvPr/>
        </p:nvSpPr>
        <p:spPr>
          <a:xfrm>
            <a:off x="5703931" y="1554480"/>
            <a:ext cx="2708549" cy="201168"/>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Weeks 5-6</a:t>
            </a:r>
            <a:endParaRPr lang="en-US" sz="900" dirty="0"/>
          </a:p>
        </p:txBody>
      </p:sp>
      <p:sp>
        <p:nvSpPr>
          <p:cNvPr id="19" name="Text 17"/>
          <p:cNvSpPr/>
          <p:nvPr/>
        </p:nvSpPr>
        <p:spPr>
          <a:xfrm>
            <a:off x="5703931" y="1874520"/>
            <a:ext cx="2708549" cy="502920"/>
          </a:xfrm>
          <a:prstGeom prst="rect">
            <a:avLst/>
          </a:prstGeom>
          <a:noFill/>
          <a:ln/>
        </p:spPr>
        <p:txBody>
          <a:bodyPr wrap="square" lIns="0" tIns="0" rIns="0" bIns="0" rtlCol="0" anchor="ctr"/>
          <a:lstStyle/>
          <a:p>
            <a:pPr algn="ctr" indent="0" marL="0">
              <a:buNone/>
            </a:pPr>
            <a:r>
              <a:rPr lang="en-US" sz="900" dirty="0">
                <a:solidFill>
                  <a:srgbClr val="475569"/>
                </a:solidFill>
                <a:latin typeface="Calibri Light" pitchFamily="34" charset="0"/>
                <a:ea typeface="Calibri Light" pitchFamily="34" charset="-122"/>
                <a:cs typeface="Calibri Light" pitchFamily="34" charset="-120"/>
              </a:rPr>
              <a:t>Scoring pipeline live,</a:t>
            </a:r>
            <a:endParaRPr lang="en-US" sz="900" dirty="0"/>
          </a:p>
          <a:p>
            <a:pPr algn="ctr" indent="0" marL="0">
              <a:buNone/>
            </a:pPr>
            <a:r>
              <a:rPr lang="en-US" sz="900" dirty="0">
                <a:solidFill>
                  <a:srgbClr val="475569"/>
                </a:solidFill>
                <a:latin typeface="Calibri Light" pitchFamily="34" charset="0"/>
                <a:ea typeface="Calibri Light" pitchFamily="34" charset="-122"/>
                <a:cs typeface="Calibri Light" pitchFamily="34" charset="-120"/>
              </a:rPr>
              <a:t>team trained</a:t>
            </a:r>
            <a:endParaRPr lang="en-US" sz="900" dirty="0"/>
          </a:p>
        </p:txBody>
      </p:sp>
      <p:sp>
        <p:nvSpPr>
          <p:cNvPr id="20" name="Text 18"/>
          <p:cNvSpPr/>
          <p:nvPr/>
        </p:nvSpPr>
        <p:spPr>
          <a:xfrm>
            <a:off x="731520" y="2606040"/>
            <a:ext cx="768096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Delivery Principles</a:t>
            </a:r>
            <a:endParaRPr lang="en-US" sz="1600" dirty="0"/>
          </a:p>
        </p:txBody>
      </p:sp>
      <p:sp>
        <p:nvSpPr>
          <p:cNvPr id="21" name="Shape 19"/>
          <p:cNvSpPr/>
          <p:nvPr/>
        </p:nvSpPr>
        <p:spPr>
          <a:xfrm>
            <a:off x="731520" y="3017520"/>
            <a:ext cx="3703320" cy="82296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2" name="Text 20"/>
          <p:cNvSpPr/>
          <p:nvPr/>
        </p:nvSpPr>
        <p:spPr>
          <a:xfrm>
            <a:off x="868680" y="3090672"/>
            <a:ext cx="3429000" cy="22860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Map before you build</a:t>
            </a:r>
            <a:endParaRPr lang="en-US" sz="1200" dirty="0"/>
          </a:p>
        </p:txBody>
      </p:sp>
      <p:sp>
        <p:nvSpPr>
          <p:cNvPr id="23" name="Text 21"/>
          <p:cNvSpPr/>
          <p:nvPr/>
        </p:nvSpPr>
        <p:spPr>
          <a:xfrm>
            <a:off x="868680" y="3337560"/>
            <a:ext cx="34290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Light" pitchFamily="34" charset="0"/>
                <a:ea typeface="Calibri Light" pitchFamily="34" charset="-122"/>
                <a:cs typeface="Calibri Light" pitchFamily="34" charset="-120"/>
              </a:rPr>
              <a:t>The first two weeks are deliberately non-technical. Understanding how FreshBox uses information ensures we build the right thing.</a:t>
            </a:r>
            <a:endParaRPr lang="en-US" sz="1000" dirty="0"/>
          </a:p>
        </p:txBody>
      </p:sp>
      <p:sp>
        <p:nvSpPr>
          <p:cNvPr id="24" name="Shape 22"/>
          <p:cNvSpPr/>
          <p:nvPr/>
        </p:nvSpPr>
        <p:spPr>
          <a:xfrm>
            <a:off x="4709160" y="3017520"/>
            <a:ext cx="3703320" cy="82296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5" name="Text 23"/>
          <p:cNvSpPr/>
          <p:nvPr/>
        </p:nvSpPr>
        <p:spPr>
          <a:xfrm>
            <a:off x="4846320" y="3090672"/>
            <a:ext cx="3429000" cy="22860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Be specific</a:t>
            </a:r>
            <a:endParaRPr lang="en-US" sz="1200" dirty="0"/>
          </a:p>
        </p:txBody>
      </p:sp>
      <p:sp>
        <p:nvSpPr>
          <p:cNvPr id="26" name="Text 24"/>
          <p:cNvSpPr/>
          <p:nvPr/>
        </p:nvSpPr>
        <p:spPr>
          <a:xfrm>
            <a:off x="4846320" y="3337560"/>
            <a:ext cx="34290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Light" pitchFamily="34" charset="0"/>
                <a:ea typeface="Calibri Light" pitchFamily="34" charset="-122"/>
                <a:cs typeface="Calibri Light" pitchFamily="34" charset="-120"/>
              </a:rPr>
              <a:t>The Build phase focuses on one process (churn prediction for the retention workflow), not a broad analytics platform.</a:t>
            </a:r>
            <a:endParaRPr lang="en-US" sz="1000" dirty="0"/>
          </a:p>
        </p:txBody>
      </p:sp>
      <p:sp>
        <p:nvSpPr>
          <p:cNvPr id="27" name="Shape 25"/>
          <p:cNvSpPr/>
          <p:nvPr/>
        </p:nvSpPr>
        <p:spPr>
          <a:xfrm>
            <a:off x="731520" y="3977640"/>
            <a:ext cx="3703320" cy="82296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8" name="Text 26"/>
          <p:cNvSpPr/>
          <p:nvPr/>
        </p:nvSpPr>
        <p:spPr>
          <a:xfrm>
            <a:off x="868680" y="4050792"/>
            <a:ext cx="3429000" cy="22860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Deploy for adoption</a:t>
            </a:r>
            <a:endParaRPr lang="en-US" sz="1200" dirty="0"/>
          </a:p>
        </p:txBody>
      </p:sp>
      <p:sp>
        <p:nvSpPr>
          <p:cNvPr id="29" name="Text 27"/>
          <p:cNvSpPr/>
          <p:nvPr/>
        </p:nvSpPr>
        <p:spPr>
          <a:xfrm>
            <a:off x="868680" y="4297680"/>
            <a:ext cx="34290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Light" pitchFamily="34" charset="0"/>
                <a:ea typeface="Calibri Light" pitchFamily="34" charset="-122"/>
                <a:cs typeface="Calibri Light" pitchFamily="34" charset="-120"/>
              </a:rPr>
              <a:t>The final phase prioritises whether the retention team will actually use the tool day-to-day, not just whether it works technically.</a:t>
            </a:r>
            <a:endParaRPr lang="en-US" sz="1000" dirty="0"/>
          </a:p>
        </p:txBody>
      </p:sp>
      <p:sp>
        <p:nvSpPr>
          <p:cNvPr id="30" name="Shape 28"/>
          <p:cNvSpPr/>
          <p:nvPr/>
        </p:nvSpPr>
        <p:spPr>
          <a:xfrm>
            <a:off x="4709160" y="3977640"/>
            <a:ext cx="3703320" cy="82296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31" name="Text 29"/>
          <p:cNvSpPr/>
          <p:nvPr/>
        </p:nvSpPr>
        <p:spPr>
          <a:xfrm>
            <a:off x="4846320" y="4050792"/>
            <a:ext cx="3429000" cy="22860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Show, don't tell</a:t>
            </a:r>
            <a:endParaRPr lang="en-US" sz="1200" dirty="0"/>
          </a:p>
        </p:txBody>
      </p:sp>
      <p:sp>
        <p:nvSpPr>
          <p:cNvPr id="32" name="Text 30"/>
          <p:cNvSpPr/>
          <p:nvPr/>
        </p:nvSpPr>
        <p:spPr>
          <a:xfrm>
            <a:off x="4846320" y="4297680"/>
            <a:ext cx="34290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Light" pitchFamily="34" charset="0"/>
                <a:ea typeface="Calibri Light" pitchFamily="34" charset="-122"/>
                <a:cs typeface="Calibri Light" pitchFamily="34" charset="-120"/>
              </a:rPr>
              <a:t>Working outputs demonstrated weekly. No single end-of-project reveal.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Team Structure</a:t>
            </a:r>
            <a:endParaRPr lang="en-US" sz="2800" dirty="0"/>
          </a:p>
        </p:txBody>
      </p:sp>
      <p:sp>
        <p:nvSpPr>
          <p:cNvPr id="3" name="Shape 1"/>
          <p:cNvSpPr/>
          <p:nvPr/>
        </p:nvSpPr>
        <p:spPr>
          <a:xfrm>
            <a:off x="731520" y="1005840"/>
            <a:ext cx="1783080" cy="210312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4" name="Shape 2"/>
          <p:cNvSpPr/>
          <p:nvPr/>
        </p:nvSpPr>
        <p:spPr>
          <a:xfrm>
            <a:off x="1303020" y="1188720"/>
            <a:ext cx="640080" cy="640080"/>
          </a:xfrm>
          <a:prstGeom prst="ellipse">
            <a:avLst/>
          </a:prstGeom>
          <a:solidFill>
            <a:srgbClr val="EFF6FF"/>
          </a:solidFill>
          <a:ln/>
        </p:spPr>
      </p:sp>
      <p:pic>
        <p:nvPicPr>
          <p:cNvPr id="5" name="Image 0" descr="preencoded.png">    </p:cNvPr>
          <p:cNvPicPr>
            <a:picLocks noChangeAspect="1"/>
          </p:cNvPicPr>
          <p:nvPr/>
        </p:nvPicPr>
        <p:blipFill>
          <a:blip r:embed="rId1"/>
          <a:stretch>
            <a:fillRect/>
          </a:stretch>
        </p:blipFill>
        <p:spPr>
          <a:xfrm>
            <a:off x="1440180" y="1325880"/>
            <a:ext cx="365760" cy="365760"/>
          </a:xfrm>
          <a:prstGeom prst="rect">
            <a:avLst/>
          </a:prstGeom>
        </p:spPr>
      </p:pic>
      <p:sp>
        <p:nvSpPr>
          <p:cNvPr id="6" name="Text 3"/>
          <p:cNvSpPr/>
          <p:nvPr/>
        </p:nvSpPr>
        <p:spPr>
          <a:xfrm>
            <a:off x="822960" y="1920240"/>
            <a:ext cx="160020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Engagement</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Manager</a:t>
            </a:r>
            <a:endParaRPr lang="en-US" sz="1300" dirty="0"/>
          </a:p>
        </p:txBody>
      </p:sp>
      <p:sp>
        <p:nvSpPr>
          <p:cNvPr id="7" name="Text 4"/>
          <p:cNvSpPr/>
          <p:nvPr/>
        </p:nvSpPr>
        <p:spPr>
          <a:xfrm>
            <a:off x="822960" y="2423160"/>
            <a:ext cx="1600200" cy="5943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Light" pitchFamily="34" charset="0"/>
                <a:ea typeface="Calibri Light" pitchFamily="34" charset="-122"/>
                <a:cs typeface="Calibri Light" pitchFamily="34" charset="-120"/>
              </a:rPr>
              <a:t>Client management,</a:t>
            </a:r>
            <a:endParaRPr lang="en-US" sz="1000" dirty="0"/>
          </a:p>
          <a:p>
            <a:pPr algn="ctr" indent="0" marL="0">
              <a:buNone/>
            </a:pPr>
            <a:r>
              <a:rPr lang="en-US" sz="1000" dirty="0">
                <a:solidFill>
                  <a:srgbClr val="475569"/>
                </a:solidFill>
                <a:latin typeface="Calibri Light" pitchFamily="34" charset="0"/>
                <a:ea typeface="Calibri Light" pitchFamily="34" charset="-122"/>
                <a:cs typeface="Calibri Light" pitchFamily="34" charset="-120"/>
              </a:rPr>
              <a:t>commercial framing,</a:t>
            </a:r>
            <a:endParaRPr lang="en-US" sz="1000" dirty="0"/>
          </a:p>
          <a:p>
            <a:pPr algn="ctr" indent="0" marL="0">
              <a:buNone/>
            </a:pPr>
            <a:r>
              <a:rPr lang="en-US" sz="1000" dirty="0">
                <a:solidFill>
                  <a:srgbClr val="475569"/>
                </a:solidFill>
                <a:latin typeface="Calibri Light" pitchFamily="34" charset="0"/>
                <a:ea typeface="Calibri Light" pitchFamily="34" charset="-122"/>
                <a:cs typeface="Calibri Light" pitchFamily="34" charset="-120"/>
              </a:rPr>
              <a:t>scope governance</a:t>
            </a:r>
            <a:endParaRPr lang="en-US" sz="1000" dirty="0"/>
          </a:p>
        </p:txBody>
      </p:sp>
      <p:sp>
        <p:nvSpPr>
          <p:cNvPr id="8" name="Shape 5"/>
          <p:cNvSpPr/>
          <p:nvPr/>
        </p:nvSpPr>
        <p:spPr>
          <a:xfrm>
            <a:off x="2697480" y="1005840"/>
            <a:ext cx="1783080" cy="210312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9" name="Shape 6"/>
          <p:cNvSpPr/>
          <p:nvPr/>
        </p:nvSpPr>
        <p:spPr>
          <a:xfrm>
            <a:off x="3268980" y="1188720"/>
            <a:ext cx="640080" cy="640080"/>
          </a:xfrm>
          <a:prstGeom prst="ellipse">
            <a:avLst/>
          </a:prstGeom>
          <a:solidFill>
            <a:srgbClr val="EFF6FF"/>
          </a:solidFill>
          <a:ln/>
        </p:spPr>
      </p:sp>
      <p:pic>
        <p:nvPicPr>
          <p:cNvPr id="10" name="Image 1" descr="preencoded.png">    </p:cNvPr>
          <p:cNvPicPr>
            <a:picLocks noChangeAspect="1"/>
          </p:cNvPicPr>
          <p:nvPr/>
        </p:nvPicPr>
        <p:blipFill>
          <a:blip r:embed="rId2"/>
          <a:stretch>
            <a:fillRect/>
          </a:stretch>
        </p:blipFill>
        <p:spPr>
          <a:xfrm>
            <a:off x="3406140" y="1325880"/>
            <a:ext cx="365760" cy="365760"/>
          </a:xfrm>
          <a:prstGeom prst="rect">
            <a:avLst/>
          </a:prstGeom>
        </p:spPr>
      </p:pic>
      <p:sp>
        <p:nvSpPr>
          <p:cNvPr id="11" name="Text 7"/>
          <p:cNvSpPr/>
          <p:nvPr/>
        </p:nvSpPr>
        <p:spPr>
          <a:xfrm>
            <a:off x="2788920" y="1920240"/>
            <a:ext cx="160020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Lead Data</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Scientist</a:t>
            </a:r>
            <a:endParaRPr lang="en-US" sz="1300" dirty="0"/>
          </a:p>
        </p:txBody>
      </p:sp>
      <p:sp>
        <p:nvSpPr>
          <p:cNvPr id="12" name="Text 8"/>
          <p:cNvSpPr/>
          <p:nvPr/>
        </p:nvSpPr>
        <p:spPr>
          <a:xfrm>
            <a:off x="2788920" y="2423160"/>
            <a:ext cx="1600200" cy="5943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Light" pitchFamily="34" charset="0"/>
                <a:ea typeface="Calibri Light" pitchFamily="34" charset="-122"/>
                <a:cs typeface="Calibri Light" pitchFamily="34" charset="-120"/>
              </a:rPr>
              <a:t>Predictive modelling</a:t>
            </a:r>
            <a:endParaRPr lang="en-US" sz="1000" dirty="0"/>
          </a:p>
          <a:p>
            <a:pPr algn="ctr" indent="0" marL="0">
              <a:buNone/>
            </a:pPr>
            <a:r>
              <a:rPr lang="en-US" sz="1000" dirty="0">
                <a:solidFill>
                  <a:srgbClr val="475569"/>
                </a:solidFill>
                <a:latin typeface="Calibri Light" pitchFamily="34" charset="0"/>
                <a:ea typeface="Calibri Light" pitchFamily="34" charset="-122"/>
                <a:cs typeface="Calibri Light" pitchFamily="34" charset="-120"/>
              </a:rPr>
              <a:t>(regression, decision</a:t>
            </a:r>
            <a:endParaRPr lang="en-US" sz="1000" dirty="0"/>
          </a:p>
          <a:p>
            <a:pPr algn="ctr" indent="0" marL="0">
              <a:buNone/>
            </a:pPr>
            <a:r>
              <a:rPr lang="en-US" sz="1000" dirty="0">
                <a:solidFill>
                  <a:srgbClr val="475569"/>
                </a:solidFill>
                <a:latin typeface="Calibri Light" pitchFamily="34" charset="0"/>
                <a:ea typeface="Calibri Light" pitchFamily="34" charset="-122"/>
                <a:cs typeface="Calibri Light" pitchFamily="34" charset="-120"/>
              </a:rPr>
              <a:t>trees, feature ranking)</a:t>
            </a:r>
            <a:endParaRPr lang="en-US" sz="1000" dirty="0"/>
          </a:p>
        </p:txBody>
      </p:sp>
      <p:sp>
        <p:nvSpPr>
          <p:cNvPr id="13" name="Shape 9"/>
          <p:cNvSpPr/>
          <p:nvPr/>
        </p:nvSpPr>
        <p:spPr>
          <a:xfrm>
            <a:off x="4663440" y="1005840"/>
            <a:ext cx="1783080" cy="210312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4" name="Shape 10"/>
          <p:cNvSpPr/>
          <p:nvPr/>
        </p:nvSpPr>
        <p:spPr>
          <a:xfrm>
            <a:off x="5234940" y="1188720"/>
            <a:ext cx="640080" cy="640080"/>
          </a:xfrm>
          <a:prstGeom prst="ellipse">
            <a:avLst/>
          </a:prstGeom>
          <a:solidFill>
            <a:srgbClr val="EFF6FF"/>
          </a:solidFill>
          <a:ln/>
        </p:spPr>
      </p:sp>
      <p:pic>
        <p:nvPicPr>
          <p:cNvPr id="15" name="Image 2" descr="preencoded.png">    </p:cNvPr>
          <p:cNvPicPr>
            <a:picLocks noChangeAspect="1"/>
          </p:cNvPicPr>
          <p:nvPr/>
        </p:nvPicPr>
        <p:blipFill>
          <a:blip r:embed="rId3"/>
          <a:stretch>
            <a:fillRect/>
          </a:stretch>
        </p:blipFill>
        <p:spPr>
          <a:xfrm>
            <a:off x="5372100" y="1325880"/>
            <a:ext cx="365760" cy="365760"/>
          </a:xfrm>
          <a:prstGeom prst="rect">
            <a:avLst/>
          </a:prstGeom>
        </p:spPr>
      </p:pic>
      <p:sp>
        <p:nvSpPr>
          <p:cNvPr id="16" name="Text 11"/>
          <p:cNvSpPr/>
          <p:nvPr/>
        </p:nvSpPr>
        <p:spPr>
          <a:xfrm>
            <a:off x="4754880" y="1920240"/>
            <a:ext cx="160020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Data</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Engineer</a:t>
            </a:r>
            <a:endParaRPr lang="en-US" sz="1300" dirty="0"/>
          </a:p>
        </p:txBody>
      </p:sp>
      <p:sp>
        <p:nvSpPr>
          <p:cNvPr id="17" name="Text 12"/>
          <p:cNvSpPr/>
          <p:nvPr/>
        </p:nvSpPr>
        <p:spPr>
          <a:xfrm>
            <a:off x="4754880" y="2423160"/>
            <a:ext cx="1600200" cy="5943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Light" pitchFamily="34" charset="0"/>
                <a:ea typeface="Calibri Light" pitchFamily="34" charset="-122"/>
                <a:cs typeface="Calibri Light" pitchFamily="34" charset="-120"/>
              </a:rPr>
              <a:t>Data pipelines,</a:t>
            </a:r>
            <a:endParaRPr lang="en-US" sz="1000" dirty="0"/>
          </a:p>
          <a:p>
            <a:pPr algn="ctr" indent="0" marL="0">
              <a:buNone/>
            </a:pPr>
            <a:r>
              <a:rPr lang="en-US" sz="1000" dirty="0">
                <a:solidFill>
                  <a:srgbClr val="475569"/>
                </a:solidFill>
                <a:latin typeface="Calibri Light" pitchFamily="34" charset="0"/>
                <a:ea typeface="Calibri Light" pitchFamily="34" charset="-122"/>
                <a:cs typeface="Calibri Light" pitchFamily="34" charset="-120"/>
              </a:rPr>
              <a:t>CRM integration,</a:t>
            </a:r>
            <a:endParaRPr lang="en-US" sz="1000" dirty="0"/>
          </a:p>
          <a:p>
            <a:pPr algn="ctr" indent="0" marL="0">
              <a:buNone/>
            </a:pPr>
            <a:r>
              <a:rPr lang="en-US" sz="1000" dirty="0">
                <a:solidFill>
                  <a:srgbClr val="475569"/>
                </a:solidFill>
                <a:latin typeface="Calibri Light" pitchFamily="34" charset="0"/>
                <a:ea typeface="Calibri Light" pitchFamily="34" charset="-122"/>
                <a:cs typeface="Calibri Light" pitchFamily="34" charset="-120"/>
              </a:rPr>
              <a:t>scoring automation</a:t>
            </a:r>
            <a:endParaRPr lang="en-US" sz="1000" dirty="0"/>
          </a:p>
        </p:txBody>
      </p:sp>
      <p:sp>
        <p:nvSpPr>
          <p:cNvPr id="18" name="Shape 13"/>
          <p:cNvSpPr/>
          <p:nvPr/>
        </p:nvSpPr>
        <p:spPr>
          <a:xfrm>
            <a:off x="6629400" y="1005840"/>
            <a:ext cx="1783080" cy="210312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9" name="Shape 14"/>
          <p:cNvSpPr/>
          <p:nvPr/>
        </p:nvSpPr>
        <p:spPr>
          <a:xfrm>
            <a:off x="7200900" y="1188720"/>
            <a:ext cx="640080" cy="640080"/>
          </a:xfrm>
          <a:prstGeom prst="ellipse">
            <a:avLst/>
          </a:prstGeom>
          <a:solidFill>
            <a:srgbClr val="EFF6FF"/>
          </a:solidFill>
          <a:ln/>
        </p:spPr>
      </p:sp>
      <p:pic>
        <p:nvPicPr>
          <p:cNvPr id="20" name="Image 3" descr="preencoded.png">    </p:cNvPr>
          <p:cNvPicPr>
            <a:picLocks noChangeAspect="1"/>
          </p:cNvPicPr>
          <p:nvPr/>
        </p:nvPicPr>
        <p:blipFill>
          <a:blip r:embed="rId4"/>
          <a:stretch>
            <a:fillRect/>
          </a:stretch>
        </p:blipFill>
        <p:spPr>
          <a:xfrm>
            <a:off x="7338060" y="1325880"/>
            <a:ext cx="365760" cy="365760"/>
          </a:xfrm>
          <a:prstGeom prst="rect">
            <a:avLst/>
          </a:prstGeom>
        </p:spPr>
      </p:pic>
      <p:sp>
        <p:nvSpPr>
          <p:cNvPr id="21" name="Text 15"/>
          <p:cNvSpPr/>
          <p:nvPr/>
        </p:nvSpPr>
        <p:spPr>
          <a:xfrm>
            <a:off x="6720840" y="1920240"/>
            <a:ext cx="160020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Analyst</a:t>
            </a:r>
            <a:endParaRPr lang="en-US" sz="1300" dirty="0"/>
          </a:p>
        </p:txBody>
      </p:sp>
      <p:sp>
        <p:nvSpPr>
          <p:cNvPr id="22" name="Text 16"/>
          <p:cNvSpPr/>
          <p:nvPr/>
        </p:nvSpPr>
        <p:spPr>
          <a:xfrm>
            <a:off x="6720840" y="2423160"/>
            <a:ext cx="1600200" cy="5943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Light" pitchFamily="34" charset="0"/>
                <a:ea typeface="Calibri Light" pitchFamily="34" charset="-122"/>
                <a:cs typeface="Calibri Light" pitchFamily="34" charset="-120"/>
              </a:rPr>
              <a:t>Exploratory analysis,</a:t>
            </a:r>
            <a:endParaRPr lang="en-US" sz="1000" dirty="0"/>
          </a:p>
          <a:p>
            <a:pPr algn="ctr" indent="0" marL="0">
              <a:buNone/>
            </a:pPr>
            <a:r>
              <a:rPr lang="en-US" sz="1000" dirty="0">
                <a:solidFill>
                  <a:srgbClr val="475569"/>
                </a:solidFill>
                <a:latin typeface="Calibri Light" pitchFamily="34" charset="0"/>
                <a:ea typeface="Calibri Light" pitchFamily="34" charset="-122"/>
                <a:cs typeface="Calibri Light" pitchFamily="34" charset="-120"/>
              </a:rPr>
              <a:t>dashboarding, cohort</a:t>
            </a:r>
            <a:endParaRPr lang="en-US" sz="1000" dirty="0"/>
          </a:p>
          <a:p>
            <a:pPr algn="ctr" indent="0" marL="0">
              <a:buNone/>
            </a:pPr>
            <a:r>
              <a:rPr lang="en-US" sz="1000" dirty="0">
                <a:solidFill>
                  <a:srgbClr val="475569"/>
                </a:solidFill>
                <a:latin typeface="Calibri Light" pitchFamily="34" charset="0"/>
                <a:ea typeface="Calibri Light" pitchFamily="34" charset="-122"/>
                <a:cs typeface="Calibri Light" pitchFamily="34" charset="-120"/>
              </a:rPr>
              <a:t>analysis, tracking</a:t>
            </a:r>
            <a:endParaRPr lang="en-US" sz="1000" dirty="0"/>
          </a:p>
        </p:txBody>
      </p:sp>
      <p:sp>
        <p:nvSpPr>
          <p:cNvPr id="23" name="Shape 17"/>
          <p:cNvSpPr/>
          <p:nvPr/>
        </p:nvSpPr>
        <p:spPr>
          <a:xfrm>
            <a:off x="731520" y="3337560"/>
            <a:ext cx="7680960" cy="146304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4" name="Text 18"/>
          <p:cNvSpPr/>
          <p:nvPr/>
        </p:nvSpPr>
        <p:spPr>
          <a:xfrm>
            <a:off x="914400" y="3429000"/>
            <a:ext cx="7315200" cy="22860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How the Team Supports Delivery</a:t>
            </a:r>
            <a:endParaRPr lang="en-US" sz="1400" dirty="0"/>
          </a:p>
        </p:txBody>
      </p:sp>
      <p:sp>
        <p:nvSpPr>
          <p:cNvPr id="25" name="Text 19"/>
          <p:cNvSpPr/>
          <p:nvPr/>
        </p:nvSpPr>
        <p:spPr>
          <a:xfrm>
            <a:off x="914400" y="3730752"/>
            <a:ext cx="7315200" cy="978408"/>
          </a:xfrm>
          <a:prstGeom prst="rect">
            <a:avLst/>
          </a:prstGeom>
          <a:noFill/>
          <a:ln/>
        </p:spPr>
        <p:txBody>
          <a:bodyPr wrap="square" lIns="0" tIns="0" rIns="0" bIns="0" rtlCol="0" anchor="ctr"/>
          <a:lstStyle/>
          <a:p>
            <a:pPr indent="0" marL="0">
              <a:buNone/>
            </a:pPr>
            <a:r>
              <a:rPr lang="en-US" sz="1050" dirty="0">
                <a:solidFill>
                  <a:srgbClr val="475569"/>
                </a:solidFill>
                <a:latin typeface="Calibri Light" pitchFamily="34" charset="0"/>
                <a:ea typeface="Calibri Light" pitchFamily="34" charset="-122"/>
                <a:cs typeface="Calibri Light" pitchFamily="34" charset="-120"/>
              </a:rPr>
              <a:t>The structure follows the Map-Identify-Build-Deploy rhythm. During Map and Identify, the Engagement Manager and Data Engineer lead on data access and stakeholder alignment. During Build, the Lead Data Scientist drives technical work with analyst support. During Deploy, the full team converges on integration, training and handover.</a:t>
            </a:r>
            <a:endParaRPr lang="en-US" sz="1050" dirty="0"/>
          </a:p>
          <a:p>
            <a:pPr indent="0" marL="0">
              <a:buNone/>
            </a:pPr>
            <a:endParaRPr lang="en-US" sz="1050" dirty="0"/>
          </a:p>
          <a:p>
            <a:pPr indent="0" marL="0">
              <a:buNone/>
            </a:pPr>
            <a:r>
              <a:rPr lang="en-US" sz="1050" dirty="0">
                <a:solidFill>
                  <a:srgbClr val="475569"/>
                </a:solidFill>
                <a:latin typeface="Calibri Light" pitchFamily="34" charset="0"/>
                <a:ea typeface="Calibri Light" pitchFamily="34" charset="-122"/>
                <a:cs typeface="Calibri Light" pitchFamily="34" charset="-120"/>
              </a:rPr>
              <a:t>The Engagement Manager ensures the Data Scientist builds what the business needs, the dashboard reflects how the retention team works, and the CFO stays informed without being overwhelmed.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629"/>
        </a:solidFill>
      </p:bgPr>
    </p:bg>
    <p:spTree>
      <p:nvGrpSpPr>
        <p:cNvPr id="1" name=""/>
        <p:cNvGrpSpPr/>
        <p:nvPr/>
      </p:nvGrpSpPr>
      <p:grpSpPr>
        <a:xfrm>
          <a:off x="0" y="0"/>
          <a:ext cx="0" cy="0"/>
          <a:chOff x="0" y="0"/>
          <a:chExt cx="0" cy="0"/>
        </a:xfrm>
      </p:grpSpPr>
      <p:sp>
        <p:nvSpPr>
          <p:cNvPr id="2" name="Text 0"/>
          <p:cNvSpPr/>
          <p:nvPr/>
        </p:nvSpPr>
        <p:spPr>
          <a:xfrm>
            <a:off x="731520" y="1828800"/>
            <a:ext cx="7680960" cy="365760"/>
          </a:xfrm>
          <a:prstGeom prst="rect">
            <a:avLst/>
          </a:prstGeom>
          <a:noFill/>
          <a:ln/>
        </p:spPr>
        <p:txBody>
          <a:bodyPr wrap="square" lIns="0" tIns="0" rIns="0" bIns="0" rtlCol="0" anchor="ctr"/>
          <a:lstStyle/>
          <a:p>
            <a:pPr algn="l" indent="0" marL="0">
              <a:buNone/>
            </a:pPr>
            <a:r>
              <a:rPr lang="en-US" sz="1200" spc="400" kern="0" dirty="0">
                <a:solidFill>
                  <a:srgbClr val="0EA5E9"/>
                </a:solidFill>
                <a:latin typeface="Calibri" pitchFamily="34" charset="0"/>
                <a:ea typeface="Calibri" pitchFamily="34" charset="-122"/>
                <a:cs typeface="Calibri" pitchFamily="34" charset="-120"/>
              </a:rPr>
              <a:t>APPENDIX</a:t>
            </a:r>
            <a:endParaRPr lang="en-US" sz="1200" dirty="0"/>
          </a:p>
        </p:txBody>
      </p:sp>
      <p:sp>
        <p:nvSpPr>
          <p:cNvPr id="3" name="Text 1"/>
          <p:cNvSpPr/>
          <p:nvPr/>
        </p:nvSpPr>
        <p:spPr>
          <a:xfrm>
            <a:off x="731520" y="2286000"/>
            <a:ext cx="7680960" cy="91440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Commercial </a:t>
            </a:r>
            <a:pPr algn="l" indent="0" marL="0">
              <a:buNone/>
            </a:pPr>
            <a:r>
              <a:rPr lang="en-US" sz="3600" b="1" dirty="0">
                <a:solidFill>
                  <a:srgbClr val="0EA5E9"/>
                </a:solidFill>
                <a:latin typeface="Calibri" pitchFamily="34" charset="0"/>
                <a:ea typeface="Calibri" pitchFamily="34" charset="-122"/>
                <a:cs typeface="Calibri" pitchFamily="34" charset="-120"/>
              </a:rPr>
              <a:t>Impact</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Commercial Impact</a:t>
            </a:r>
            <a:endParaRPr lang="en-US" sz="2800" dirty="0"/>
          </a:p>
        </p:txBody>
      </p:sp>
      <p:sp>
        <p:nvSpPr>
          <p:cNvPr id="3" name="Text 1"/>
          <p:cNvSpPr/>
          <p:nvPr/>
        </p:nvSpPr>
        <p:spPr>
          <a:xfrm>
            <a:off x="731520" y="777240"/>
            <a:ext cx="768096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Light" pitchFamily="34" charset="0"/>
                <a:ea typeface="Calibri Light" pitchFamily="34" charset="-122"/>
                <a:cs typeface="Calibri Light" pitchFamily="34" charset="-120"/>
              </a:rPr>
              <a:t>Quantified impact of reducing 6-month churn from the current rate of 67.5%</a:t>
            </a:r>
            <a:endParaRPr lang="en-US" sz="1200" dirty="0"/>
          </a:p>
        </p:txBody>
      </p:sp>
      <p:sp>
        <p:nvSpPr>
          <p:cNvPr id="4" name="Shape 2"/>
          <p:cNvSpPr/>
          <p:nvPr/>
        </p:nvSpPr>
        <p:spPr>
          <a:xfrm>
            <a:off x="731520" y="1188720"/>
            <a:ext cx="2404872" cy="77724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5" name="Text 3"/>
          <p:cNvSpPr/>
          <p:nvPr/>
        </p:nvSpPr>
        <p:spPr>
          <a:xfrm>
            <a:off x="868680" y="1252728"/>
            <a:ext cx="2130552" cy="201168"/>
          </a:xfrm>
          <a:prstGeom prst="rect">
            <a:avLst/>
          </a:prstGeom>
          <a:noFill/>
          <a:ln/>
        </p:spPr>
        <p:txBody>
          <a:bodyPr wrap="square" lIns="0" tIns="0" rIns="0" bIns="0"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Avg. Order Value</a:t>
            </a:r>
            <a:endParaRPr lang="en-US" sz="1000" dirty="0"/>
          </a:p>
        </p:txBody>
      </p:sp>
      <p:sp>
        <p:nvSpPr>
          <p:cNvPr id="6" name="Text 4"/>
          <p:cNvSpPr/>
          <p:nvPr/>
        </p:nvSpPr>
        <p:spPr>
          <a:xfrm>
            <a:off x="868680" y="1481328"/>
            <a:ext cx="2130552"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£50 per customer</a:t>
            </a:r>
            <a:endParaRPr lang="en-US" sz="1600" dirty="0"/>
          </a:p>
        </p:txBody>
      </p:sp>
      <p:sp>
        <p:nvSpPr>
          <p:cNvPr id="7" name="Shape 5"/>
          <p:cNvSpPr/>
          <p:nvPr/>
        </p:nvSpPr>
        <p:spPr>
          <a:xfrm>
            <a:off x="3410712" y="1188720"/>
            <a:ext cx="2404872" cy="77724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8" name="Text 6"/>
          <p:cNvSpPr/>
          <p:nvPr/>
        </p:nvSpPr>
        <p:spPr>
          <a:xfrm>
            <a:off x="3547872" y="1252728"/>
            <a:ext cx="2130552" cy="201168"/>
          </a:xfrm>
          <a:prstGeom prst="rect">
            <a:avLst/>
          </a:prstGeom>
          <a:noFill/>
          <a:ln/>
        </p:spPr>
        <p:txBody>
          <a:bodyPr wrap="square" lIns="0" tIns="0" rIns="0" bIns="0"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Contribution Margin</a:t>
            </a:r>
            <a:endParaRPr lang="en-US" sz="1000" dirty="0"/>
          </a:p>
        </p:txBody>
      </p:sp>
      <p:sp>
        <p:nvSpPr>
          <p:cNvPr id="9" name="Text 7"/>
          <p:cNvSpPr/>
          <p:nvPr/>
        </p:nvSpPr>
        <p:spPr>
          <a:xfrm>
            <a:off x="3547872" y="1481328"/>
            <a:ext cx="2130552"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35% per customer</a:t>
            </a:r>
            <a:endParaRPr lang="en-US" sz="1600" dirty="0"/>
          </a:p>
        </p:txBody>
      </p:sp>
      <p:sp>
        <p:nvSpPr>
          <p:cNvPr id="10" name="Shape 8"/>
          <p:cNvSpPr/>
          <p:nvPr/>
        </p:nvSpPr>
        <p:spPr>
          <a:xfrm>
            <a:off x="6089904" y="1188720"/>
            <a:ext cx="2404872" cy="77724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1" name="Text 9"/>
          <p:cNvSpPr/>
          <p:nvPr/>
        </p:nvSpPr>
        <p:spPr>
          <a:xfrm>
            <a:off x="6227064" y="1252728"/>
            <a:ext cx="2130552" cy="201168"/>
          </a:xfrm>
          <a:prstGeom prst="rect">
            <a:avLst/>
          </a:prstGeom>
          <a:noFill/>
          <a:ln/>
        </p:spPr>
        <p:txBody>
          <a:bodyPr wrap="square" lIns="0" tIns="0" rIns="0" bIns="0"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Additional Retention</a:t>
            </a:r>
            <a:endParaRPr lang="en-US" sz="1000" dirty="0"/>
          </a:p>
        </p:txBody>
      </p:sp>
      <p:sp>
        <p:nvSpPr>
          <p:cNvPr id="12" name="Text 10"/>
          <p:cNvSpPr/>
          <p:nvPr/>
        </p:nvSpPr>
        <p:spPr>
          <a:xfrm>
            <a:off x="6227064" y="1481328"/>
            <a:ext cx="2130552"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8 weeks (conservative)</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2240280"/>
          <a:ext cx="7680960" cy="914400"/>
        </p:xfrm>
        <a:graphic>
          <a:graphicData uri="http://schemas.openxmlformats.org/drawingml/2006/table">
            <a:tbl>
              <a:tblPr/>
              <a:tblGrid>
                <a:gridCol w="1536192"/>
                <a:gridCol w="1536192"/>
                <a:gridCol w="1536192"/>
                <a:gridCol w="1536192"/>
                <a:gridCol w="153619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Churn Rate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Improvement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Additional Customers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Incremental Revenue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Contribution Margin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r>
              <a:tr h="0">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65.0%</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2.5pp</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2,000</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£0.8m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£0.3m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62.5%</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5.0pp</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4,000</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£1.6m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£0.6m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60.0%</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7.5pp</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6,000</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£2.4m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£0.8m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57.5%</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10.0pp</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Light" pitchFamily="34" charset="0"/>
                          <a:ea typeface="Calibri Light" pitchFamily="34" charset="-122"/>
                          <a:cs typeface="Calibri Light" pitchFamily="34" charset="-120"/>
                        </a:rPr>
                        <a:t>8,000</a:t>
                      </a:r>
                      <a:endParaRPr lang="en-US" sz="1000" dirty="0">
                        <a:latin typeface="Calibri Light" charset="0"/>
                        <a:ea typeface="Calibri Light" charset="0"/>
                        <a:cs typeface="Calibri Light"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£3.2m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£1.1m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4" name="Shape 11"/>
          <p:cNvSpPr/>
          <p:nvPr/>
        </p:nvSpPr>
        <p:spPr>
          <a:xfrm>
            <a:off x="731520" y="3840480"/>
            <a:ext cx="7680960" cy="640080"/>
          </a:xfrm>
          <a:prstGeom prst="rect">
            <a:avLst/>
          </a:prstGeom>
          <a:solidFill>
            <a:srgbClr val="0F1629"/>
          </a:solidFill>
          <a:ln/>
        </p:spPr>
      </p:sp>
      <p:sp>
        <p:nvSpPr>
          <p:cNvPr id="15" name="Text 12"/>
          <p:cNvSpPr/>
          <p:nvPr/>
        </p:nvSpPr>
        <p:spPr>
          <a:xfrm>
            <a:off x="914400" y="3840480"/>
            <a:ext cx="7315200" cy="640080"/>
          </a:xfrm>
          <a:prstGeom prst="rect">
            <a:avLst/>
          </a:prstGeom>
          <a:noFill/>
          <a:ln/>
        </p:spPr>
        <p:txBody>
          <a:bodyPr wrap="square" lIns="0" tIns="0" rIns="0" bIns="0" rtlCol="0" anchor="ctr"/>
          <a:lstStyle/>
          <a:p>
            <a:pPr indent="0" marL="0">
              <a:buNone/>
            </a:pPr>
            <a:r>
              <a:rPr lang="en-US" sz="1800" b="1" dirty="0">
                <a:solidFill>
                  <a:srgbClr val="0EA5E9"/>
                </a:solidFill>
                <a:latin typeface="Calibri" pitchFamily="34" charset="0"/>
                <a:ea typeface="Calibri" pitchFamily="34" charset="-122"/>
                <a:cs typeface="Calibri" pitchFamily="34" charset="-120"/>
              </a:rPr>
              <a:t>£320k </a:t>
            </a:r>
            <a:pPr indent="0" marL="0">
              <a:buNone/>
            </a:pPr>
            <a:r>
              <a:rPr lang="en-US" sz="1300" dirty="0">
                <a:solidFill>
                  <a:srgbClr val="FFFFFF"/>
                </a:solidFill>
                <a:latin typeface="Calibri Light" pitchFamily="34" charset="0"/>
                <a:ea typeface="Calibri Light" pitchFamily="34" charset="-122"/>
                <a:cs typeface="Calibri Light" pitchFamily="34" charset="-120"/>
              </a:rPr>
              <a:t>incremental revenue  |  </a:t>
            </a:r>
            <a:pPr indent="0" marL="0">
              <a:buNone/>
            </a:pPr>
            <a:r>
              <a:rPr lang="en-US" sz="1800" b="1" dirty="0">
                <a:solidFill>
                  <a:srgbClr val="0EA5E9"/>
                </a:solidFill>
                <a:latin typeface="Calibri" pitchFamily="34" charset="0"/>
                <a:ea typeface="Calibri" pitchFamily="34" charset="-122"/>
                <a:cs typeface="Calibri" pitchFamily="34" charset="-120"/>
              </a:rPr>
              <a:t>£112k </a:t>
            </a:r>
            <a:pPr indent="0" marL="0">
              <a:buNone/>
            </a:pPr>
            <a:r>
              <a:rPr lang="en-US" sz="1300" dirty="0">
                <a:solidFill>
                  <a:srgbClr val="FFFFFF"/>
                </a:solidFill>
                <a:latin typeface="Calibri Light" pitchFamily="34" charset="0"/>
                <a:ea typeface="Calibri Light" pitchFamily="34" charset="-122"/>
                <a:cs typeface="Calibri Light" pitchFamily="34" charset="-120"/>
              </a:rPr>
              <a:t>incremental margin  per 1 ppt churn reduction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629"/>
        </a:solidFill>
      </p:bgPr>
    </p:bg>
    <p:spTree>
      <p:nvGrpSpPr>
        <p:cNvPr id="1" name=""/>
        <p:cNvGrpSpPr/>
        <p:nvPr/>
      </p:nvGrpSpPr>
      <p:grpSpPr>
        <a:xfrm>
          <a:off x="0" y="0"/>
          <a:ext cx="0" cy="0"/>
          <a:chOff x="0" y="0"/>
          <a:chExt cx="0" cy="0"/>
        </a:xfrm>
      </p:grpSpPr>
      <p:sp>
        <p:nvSpPr>
          <p:cNvPr id="2" name="Text 0"/>
          <p:cNvSpPr/>
          <p:nvPr/>
        </p:nvSpPr>
        <p:spPr>
          <a:xfrm>
            <a:off x="731520" y="1371600"/>
            <a:ext cx="7680960"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731520" y="2286000"/>
            <a:ext cx="7680960" cy="457200"/>
          </a:xfrm>
          <a:prstGeom prst="rect">
            <a:avLst/>
          </a:prstGeom>
          <a:noFill/>
          <a:ln/>
        </p:spPr>
        <p:txBody>
          <a:bodyPr wrap="square" lIns="0" tIns="0" rIns="0" bIns="0" rtlCol="0" anchor="ctr"/>
          <a:lstStyle/>
          <a:p>
            <a:pPr algn="ctr" indent="0" marL="0">
              <a:buNone/>
            </a:pPr>
            <a:r>
              <a:rPr lang="en-US" sz="1800" dirty="0">
                <a:solidFill>
                  <a:srgbClr val="94A3B8"/>
                </a:solidFill>
                <a:latin typeface="Calibri Light" pitchFamily="34" charset="0"/>
                <a:ea typeface="Calibri Light" pitchFamily="34" charset="-122"/>
                <a:cs typeface="Calibri Light" pitchFamily="34" charset="-120"/>
              </a:rPr>
              <a:t>Ready to discuss </a:t>
            </a:r>
            <a:pPr algn="ctr" indent="0" marL="0">
              <a:buNone/>
            </a:pPr>
            <a:r>
              <a:rPr lang="en-US" sz="1800" dirty="0">
                <a:solidFill>
                  <a:srgbClr val="0EA5E9"/>
                </a:solidFill>
                <a:latin typeface="Calibri Light" pitchFamily="34" charset="0"/>
                <a:ea typeface="Calibri Light" pitchFamily="34" charset="-122"/>
                <a:cs typeface="Calibri Light" pitchFamily="34" charset="-120"/>
              </a:rPr>
              <a:t>next steps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FreshBox: The Proposal</dc:title>
  <dc:subject>PptxGenJS Presentation</dc:subject>
  <dc:creator>Alex Olsen</dc:creator>
  <cp:lastModifiedBy>Alex Olsen</cp:lastModifiedBy>
  <cp:revision>1</cp:revision>
  <dcterms:created xsi:type="dcterms:W3CDTF">2026-04-26T11:13:08Z</dcterms:created>
  <dcterms:modified xsi:type="dcterms:W3CDTF">2026-04-26T11:13:08Z</dcterms:modified>
</cp:coreProperties>
</file>